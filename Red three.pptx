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0" r:id="rId2"/>
    <p:sldMasterId id="2147483672" r:id="rId3"/>
    <p:sldMasterId id="2147483684" r:id="rId4"/>
    <p:sldMasterId id="2147483648" r:id="rId5"/>
  </p:sldMasterIdLst>
  <p:sldIdLst>
    <p:sldId id="389" r:id="rId6"/>
    <p:sldId id="300" r:id="rId7"/>
    <p:sldId id="339" r:id="rId8"/>
    <p:sldId id="357" r:id="rId9"/>
    <p:sldId id="340" r:id="rId10"/>
    <p:sldId id="341" r:id="rId11"/>
    <p:sldId id="361" r:id="rId12"/>
    <p:sldId id="370" r:id="rId13"/>
    <p:sldId id="388" r:id="rId14"/>
    <p:sldId id="403" r:id="rId15"/>
    <p:sldId id="362" r:id="rId16"/>
    <p:sldId id="372" r:id="rId17"/>
    <p:sldId id="346" r:id="rId18"/>
    <p:sldId id="363" r:id="rId19"/>
    <p:sldId id="347" r:id="rId20"/>
    <p:sldId id="348" r:id="rId21"/>
    <p:sldId id="398" r:id="rId22"/>
    <p:sldId id="383" r:id="rId23"/>
    <p:sldId id="379" r:id="rId24"/>
    <p:sldId id="390" r:id="rId25"/>
    <p:sldId id="355" r:id="rId26"/>
    <p:sldId id="353" r:id="rId27"/>
    <p:sldId id="354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2" dt="2026-10-27T13:33:24.205"/>
    <p1510:client id="{2FBF05F2-87F8-F2FA-8C9E-D71090B79445}" v="96" dt="2026-10-28T16:02:52.502"/>
    <p1510:client id="{6AD30D23-77C0-FC8F-C199-BACB2E5EEBC7}" v="171" dt="2026-10-27T14:40:21.4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2"/>
            <c:invertIfNegative val="1"/>
            <c:bubble3D val="0"/>
            <c:spPr>
              <a:solidFill>
                <a:srgbClr val="C32D4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EB0-4015-B826-A8960104484F}"/>
              </c:ext>
            </c:extLst>
          </c:dPt>
          <c:dLbls>
            <c:numFmt formatCode="0&quot; mg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262626"/>
                    </a:solidFill>
                    <a:latin typeface="Montserra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Canette forte</c:v>
              </c:pt>
              <c:pt idx="1">
                <c:v>Canette standard</c:v>
              </c:pt>
              <c:pt idx="2">
                <c:v>Leafakin (cible)</c:v>
              </c:pt>
            </c:strLit>
          </c:cat>
          <c:val>
            <c:numLit>
              <c:formatCode>General</c:formatCode>
              <c:ptCount val="3"/>
              <c:pt idx="0">
                <c:v>160</c:v>
              </c:pt>
              <c:pt idx="1">
                <c:v>80</c:v>
              </c:pt>
              <c:pt idx="2">
                <c:v>40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7EB0-4015-B826-A896010448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9C9C9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62626"/>
                </a:solidFill>
                <a:latin typeface="Montserrat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2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09600" y="1905000"/>
            <a:ext cx="7620000" cy="2159000"/>
          </a:xfrm>
        </p:spPr>
        <p:txBody>
          <a:bodyPr lIns="0" rIns="0" anchor="b"/>
          <a:lstStyle>
            <a:lvl1pPr algn="l">
              <a:lnSpc>
                <a:spcPct val="90000"/>
              </a:lnSpc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9600" y="4470400"/>
            <a:ext cx="7620000" cy="762000"/>
          </a:xfrm>
        </p:spPr>
        <p:txBody>
          <a:bodyPr lIns="0" rIns="0" anchor="t"/>
          <a:lstStyle>
            <a:lvl1pPr marL="0" indent="0" algn="l">
              <a:buNone/>
              <a:defRPr sz="1600" cap="all" spc="200">
                <a:solidFill>
                  <a:srgbClr val="B38C77"/>
                </a:solidFill>
              </a:defRPr>
            </a:lvl1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91" name="Accent bar"/>
          <p:cNvSpPr/>
          <p:nvPr userDrawn="1"/>
        </p:nvSpPr>
        <p:spPr>
          <a:xfrm>
            <a:off x="609600" y="42418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3" name="Rule"/>
          <p:cNvSpPr/>
          <p:nvPr userDrawn="1"/>
        </p:nvSpPr>
        <p:spPr>
          <a:xfrm>
            <a:off x="7620000" y="3403600"/>
            <a:ext cx="3200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Titre de section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3175000"/>
            <a:ext cx="8890000" cy="1524000"/>
          </a:xfrm>
        </p:spPr>
        <p:txBody>
          <a:bodyPr lIns="0" rIns="0" anchor="t"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3810000" cy="1397000"/>
          </a:xfrm>
        </p:spPr>
        <p:txBody>
          <a:bodyPr lIns="0" rIns="0" anchor="b"/>
          <a:lstStyle>
            <a:lvl1pPr marL="0" indent="0">
              <a:buNone/>
              <a:defRPr sz="7200" b="1">
                <a:solidFill>
                  <a:srgbClr val="B38C77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363200" y="6350000"/>
            <a:ext cx="1219200" cy="254000"/>
          </a:xfrm>
        </p:spPr>
        <p:txBody>
          <a:bodyPr/>
          <a:lstStyle>
            <a:lvl1pPr algn="r">
              <a:defRPr sz="1000" b="1">
                <a:solidFill>
                  <a:srgbClr val="FFFFFF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1" name="Accent bar"/>
          <p:cNvSpPr/>
          <p:nvPr userDrawn="1"/>
        </p:nvSpPr>
        <p:spPr>
          <a:xfrm>
            <a:off x="609600" y="30226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484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09600" y="1905000"/>
            <a:ext cx="7620000" cy="2159000"/>
          </a:xfrm>
        </p:spPr>
        <p:txBody>
          <a:bodyPr lIns="0" rIns="0" anchor="b"/>
          <a:lstStyle>
            <a:lvl1pPr algn="l">
              <a:lnSpc>
                <a:spcPct val="90000"/>
              </a:lnSpc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9600" y="4470400"/>
            <a:ext cx="7620000" cy="762000"/>
          </a:xfrm>
        </p:spPr>
        <p:txBody>
          <a:bodyPr lIns="0" rIns="0" anchor="t"/>
          <a:lstStyle>
            <a:lvl1pPr marL="0" indent="0" algn="l">
              <a:buNone/>
              <a:defRPr sz="1600" cap="all" spc="200">
                <a:solidFill>
                  <a:srgbClr val="B38C77"/>
                </a:solidFill>
              </a:defRPr>
            </a:lvl1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91" name="Accent bar"/>
          <p:cNvSpPr/>
          <p:nvPr userDrawn="1"/>
        </p:nvSpPr>
        <p:spPr>
          <a:xfrm>
            <a:off x="609600" y="42418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3" name="Rule"/>
          <p:cNvSpPr/>
          <p:nvPr userDrawn="1"/>
        </p:nvSpPr>
        <p:spPr>
          <a:xfrm>
            <a:off x="7620000" y="3403600"/>
            <a:ext cx="3200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Titre de section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3175000"/>
            <a:ext cx="8890000" cy="1524000"/>
          </a:xfrm>
        </p:spPr>
        <p:txBody>
          <a:bodyPr lIns="0" rIns="0" anchor="t"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3810000" cy="1397000"/>
          </a:xfrm>
        </p:spPr>
        <p:txBody>
          <a:bodyPr lIns="0" rIns="0" anchor="b"/>
          <a:lstStyle>
            <a:lvl1pPr marL="0" indent="0">
              <a:buNone/>
              <a:defRPr sz="7200" b="1">
                <a:solidFill>
                  <a:srgbClr val="B38C77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363200" y="6350000"/>
            <a:ext cx="1219200" cy="254000"/>
          </a:xfrm>
        </p:spPr>
        <p:txBody>
          <a:bodyPr/>
          <a:lstStyle>
            <a:lvl1pPr algn="r">
              <a:defRPr sz="1000" b="1">
                <a:solidFill>
                  <a:srgbClr val="FFFFFF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1" name="Accent bar"/>
          <p:cNvSpPr/>
          <p:nvPr userDrawn="1"/>
        </p:nvSpPr>
        <p:spPr>
          <a:xfrm>
            <a:off x="609600" y="30226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484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09600" y="1905000"/>
            <a:ext cx="7620000" cy="2159000"/>
          </a:xfrm>
        </p:spPr>
        <p:txBody>
          <a:bodyPr lIns="0" rIns="0" anchor="b"/>
          <a:lstStyle>
            <a:lvl1pPr algn="l">
              <a:lnSpc>
                <a:spcPct val="90000"/>
              </a:lnSpc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9600" y="4470400"/>
            <a:ext cx="7620000" cy="762000"/>
          </a:xfrm>
        </p:spPr>
        <p:txBody>
          <a:bodyPr lIns="0" rIns="0" anchor="t"/>
          <a:lstStyle>
            <a:lvl1pPr marL="0" indent="0" algn="l">
              <a:buNone/>
              <a:defRPr sz="1600" cap="all" spc="200">
                <a:solidFill>
                  <a:srgbClr val="B38C77"/>
                </a:solidFill>
              </a:defRPr>
            </a:lvl1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91" name="Accent bar"/>
          <p:cNvSpPr/>
          <p:nvPr userDrawn="1"/>
        </p:nvSpPr>
        <p:spPr>
          <a:xfrm>
            <a:off x="609600" y="42418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3" name="Rule"/>
          <p:cNvSpPr/>
          <p:nvPr userDrawn="1"/>
        </p:nvSpPr>
        <p:spPr>
          <a:xfrm>
            <a:off x="7620000" y="3403600"/>
            <a:ext cx="3200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Titre de section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3175000"/>
            <a:ext cx="8890000" cy="1524000"/>
          </a:xfrm>
        </p:spPr>
        <p:txBody>
          <a:bodyPr lIns="0" rIns="0" anchor="t"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3810000" cy="1397000"/>
          </a:xfrm>
        </p:spPr>
        <p:txBody>
          <a:bodyPr lIns="0" rIns="0" anchor="b"/>
          <a:lstStyle>
            <a:lvl1pPr marL="0" indent="0">
              <a:buNone/>
              <a:defRPr sz="7200" b="1">
                <a:solidFill>
                  <a:srgbClr val="B38C77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363200" y="6350000"/>
            <a:ext cx="1219200" cy="254000"/>
          </a:xfrm>
        </p:spPr>
        <p:txBody>
          <a:bodyPr/>
          <a:lstStyle>
            <a:lvl1pPr algn="r">
              <a:defRPr sz="1000" b="1">
                <a:solidFill>
                  <a:srgbClr val="FFFFFF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1" name="Accent bar"/>
          <p:cNvSpPr/>
          <p:nvPr userDrawn="1"/>
        </p:nvSpPr>
        <p:spPr>
          <a:xfrm>
            <a:off x="609600" y="30226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484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97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066800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854200"/>
            <a:ext cx="10972800" cy="41402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0000"/>
            <a:ext cx="127000" cy="12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09600" y="6350000"/>
            <a:ext cx="76200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>
                <a:solidFill>
                  <a:srgbClr val="838BA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363200" y="6350000"/>
            <a:ext cx="12192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000" b="1">
                <a:solidFill>
                  <a:srgbClr val="002250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0" name="Accent bar"/>
          <p:cNvSpPr/>
          <p:nvPr userDrawn="1"/>
        </p:nvSpPr>
        <p:spPr>
          <a:xfrm>
            <a:off x="609600" y="1574800"/>
            <a:ext cx="6096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b="1" kern="1200" spc="-2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6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65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938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224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51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79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08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066800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854200"/>
            <a:ext cx="10972800" cy="41402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0000"/>
            <a:ext cx="127000" cy="12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09600" y="6350000"/>
            <a:ext cx="76200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>
                <a:solidFill>
                  <a:srgbClr val="5B6B8C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363200" y="6350000"/>
            <a:ext cx="12192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000" b="1">
                <a:solidFill>
                  <a:srgbClr val="002250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0" name="Accent bar"/>
          <p:cNvSpPr/>
          <p:nvPr userDrawn="1"/>
        </p:nvSpPr>
        <p:spPr>
          <a:xfrm>
            <a:off x="609600" y="1574800"/>
            <a:ext cx="6096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b="1" kern="1200" spc="-2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6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65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938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224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51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79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08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066800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854200"/>
            <a:ext cx="10972800" cy="41402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0000"/>
            <a:ext cx="127000" cy="12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28/10/2026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09600" y="6350000"/>
            <a:ext cx="76200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>
                <a:solidFill>
                  <a:srgbClr val="5B6B8C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363200" y="6350000"/>
            <a:ext cx="12192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000" b="1">
                <a:solidFill>
                  <a:srgbClr val="002250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0" name="Accent bar"/>
          <p:cNvSpPr/>
          <p:nvPr userDrawn="1"/>
        </p:nvSpPr>
        <p:spPr>
          <a:xfrm>
            <a:off x="609600" y="1574800"/>
            <a:ext cx="6096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b="1" kern="1200" spc="-2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6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65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938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224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51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79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08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4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4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4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313823" cy="6858000"/>
          </a:xfrm>
          <a:custGeom>
            <a:avLst/>
            <a:gdLst/>
            <a:ahLst/>
            <a:cxnLst/>
            <a:rect l="l" t="t" r="r" b="b"/>
            <a:pathLst>
              <a:path w="10970734" h="10287000">
                <a:moveTo>
                  <a:pt x="0" y="0"/>
                </a:moveTo>
                <a:lnTo>
                  <a:pt x="10970734" y="0"/>
                </a:lnTo>
                <a:lnTo>
                  <a:pt x="109707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390" r="-39284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4085167" y="1920819"/>
            <a:ext cx="8229895" cy="2618731"/>
            <a:chOff x="0" y="0"/>
            <a:chExt cx="4424113" cy="14077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24113" cy="1407741"/>
            </a:xfrm>
            <a:custGeom>
              <a:avLst/>
              <a:gdLst/>
              <a:ahLst/>
              <a:cxnLst/>
              <a:rect l="l" t="t" r="r" b="b"/>
              <a:pathLst>
                <a:path w="4424113" h="1407741">
                  <a:moveTo>
                    <a:pt x="0" y="0"/>
                  </a:moveTo>
                  <a:lnTo>
                    <a:pt x="4424113" y="0"/>
                  </a:lnTo>
                  <a:lnTo>
                    <a:pt x="4424113" y="1407741"/>
                  </a:lnTo>
                  <a:lnTo>
                    <a:pt x="0" y="1407741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424113" cy="138869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13612" y="2633653"/>
            <a:ext cx="6692589" cy="13587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5600"/>
              </a:lnSpc>
            </a:pPr>
            <a:r>
              <a:rPr lang="fr-FR" sz="5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  <a:p>
            <a:pPr algn="l">
              <a:lnSpc>
                <a:spcPts val="2600"/>
              </a:lnSpc>
            </a:pPr>
            <a:r>
              <a:rPr lang="fr-FR" sz="1800" b="0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Une boisson énergisante bio à base de thé, de chlorophylle et de plantes pour les 16-25 ans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06833" y="5354977"/>
            <a:ext cx="3386667" cy="825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2199"/>
              </a:lnSpc>
            </a:pPr>
            <a:r>
              <a:rPr lang="fr-FR" sz="1466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[Prénom Nom], [formation]</a:t>
            </a:r>
          </a:p>
          <a:p>
            <a:pPr algn="r">
              <a:lnSpc>
                <a:spcPts val="2199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[Nom de l'école]</a:t>
            </a:r>
          </a:p>
          <a:p>
            <a:pPr algn="r">
              <a:lnSpc>
                <a:spcPts val="2199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[prenom.nom@ecole.fr]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06833" y="5071292"/>
            <a:ext cx="3386667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8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PRÉSENTÉ PAR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53863" y="778459"/>
            <a:ext cx="1452337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351"/>
              </a:lnSpc>
            </a:pPr>
            <a:r>
              <a:rPr lang="en-US" sz="2399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[ÉCOLE]</a:t>
            </a:r>
          </a:p>
        </p:txBody>
      </p:sp>
      <p:sp>
        <p:nvSpPr>
          <p:cNvPr id="10" name="Freeform 10"/>
          <p:cNvSpPr/>
          <p:nvPr/>
        </p:nvSpPr>
        <p:spPr>
          <a:xfrm>
            <a:off x="9276866" y="698500"/>
            <a:ext cx="604091" cy="686726"/>
          </a:xfrm>
          <a:custGeom>
            <a:avLst/>
            <a:gdLst/>
            <a:ahLst/>
            <a:cxnLst/>
            <a:rect l="l" t="t" r="r" b="b"/>
            <a:pathLst>
              <a:path w="906136" h="1030089">
                <a:moveTo>
                  <a:pt x="0" y="0"/>
                </a:moveTo>
                <a:lnTo>
                  <a:pt x="906137" y="0"/>
                </a:lnTo>
                <a:lnTo>
                  <a:pt x="906137" y="1030089"/>
                </a:lnTo>
                <a:lnTo>
                  <a:pt x="0" y="1030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1" name="Group 11"/>
          <p:cNvGrpSpPr/>
          <p:nvPr/>
        </p:nvGrpSpPr>
        <p:grpSpPr>
          <a:xfrm>
            <a:off x="0" y="5512692"/>
            <a:ext cx="2915134" cy="646808"/>
            <a:chOff x="0" y="0"/>
            <a:chExt cx="1567077" cy="3477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67077" cy="347702"/>
            </a:xfrm>
            <a:custGeom>
              <a:avLst/>
              <a:gdLst/>
              <a:ahLst/>
              <a:cxnLst/>
              <a:rect l="l" t="t" r="r" b="b"/>
              <a:pathLst>
                <a:path w="1567077" h="347702">
                  <a:moveTo>
                    <a:pt x="0" y="0"/>
                  </a:moveTo>
                  <a:lnTo>
                    <a:pt x="1567077" y="0"/>
                  </a:lnTo>
                  <a:lnTo>
                    <a:pt x="1567077" y="347702"/>
                  </a:lnTo>
                  <a:lnTo>
                    <a:pt x="0" y="347702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1567077" cy="32865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98500" y="5706049"/>
            <a:ext cx="2229334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[DATE] 2026</a:t>
            </a:r>
          </a:p>
        </p:txBody>
      </p:sp>
      <p:sp>
        <p:nvSpPr>
          <p:cNvPr id="980" name="Can Shadow"/>
          <p:cNvSpPr/>
          <p:nvPr/>
        </p:nvSpPr>
        <p:spPr>
          <a:xfrm>
            <a:off x="546100" y="3632200"/>
            <a:ext cx="1701800" cy="203200"/>
          </a:xfrm>
          <a:prstGeom prst="ellipse">
            <a:avLst/>
          </a:prstGeom>
          <a:solidFill>
            <a:srgbClr val="000000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1" name="Can Bottom"/>
          <p:cNvSpPr/>
          <p:nvPr/>
        </p:nvSpPr>
        <p:spPr>
          <a:xfrm>
            <a:off x="698500" y="3403600"/>
            <a:ext cx="1397000" cy="304800"/>
          </a:xfrm>
          <a:prstGeom prst="ellipse">
            <a:avLst/>
          </a:prstGeom>
          <a:solidFill>
            <a:srgbClr val="7E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2" name="Can Body"/>
          <p:cNvSpPr/>
          <p:nvPr/>
        </p:nvSpPr>
        <p:spPr>
          <a:xfrm>
            <a:off x="698500" y="1320800"/>
            <a:ext cx="1397000" cy="2235200"/>
          </a:xfrm>
          <a:prstGeom prst="rect">
            <a:avLst/>
          </a:prstGeom>
          <a:gradFill rotWithShape="1">
            <a:gsLst>
              <a:gs pos="0">
                <a:srgbClr val="F2F2F2"/>
              </a:gs>
              <a:gs pos="35000">
                <a:srgbClr val="FFFFFF"/>
              </a:gs>
              <a:gs pos="100000">
                <a:srgbClr val="D0D0D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3" name="Can Band"/>
          <p:cNvSpPr/>
          <p:nvPr/>
        </p:nvSpPr>
        <p:spPr>
          <a:xfrm>
            <a:off x="698500" y="2743200"/>
            <a:ext cx="1397000" cy="508000"/>
          </a:xfrm>
          <a:prstGeom prst="rect">
            <a:avLst/>
          </a:prstGeom>
          <a:gradFill rotWithShape="1">
            <a:gsLst>
              <a:gs pos="0">
                <a:srgbClr val="9E2139"/>
              </a:gs>
              <a:gs pos="35000">
                <a:srgbClr val="D8465F"/>
              </a:gs>
              <a:gs pos="100000">
                <a:srgbClr val="8E1D33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4" name="Can Shoulder"/>
          <p:cNvSpPr/>
          <p:nvPr/>
        </p:nvSpPr>
        <p:spPr>
          <a:xfrm>
            <a:off x="698500" y="1168400"/>
            <a:ext cx="1397000" cy="3048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5" name="Can Lid"/>
          <p:cNvSpPr/>
          <p:nvPr/>
        </p:nvSpPr>
        <p:spPr>
          <a:xfrm>
            <a:off x="800100" y="1219200"/>
            <a:ext cx="1193800" cy="2032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6" name="Can Tab"/>
          <p:cNvSpPr/>
          <p:nvPr/>
        </p:nvSpPr>
        <p:spPr>
          <a:xfrm>
            <a:off x="1270000" y="1257300"/>
            <a:ext cx="254000" cy="101600"/>
          </a:xfrm>
          <a:prstGeom prst="roundRect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7" name="Can Leaf"/>
          <p:cNvSpPr/>
          <p:nvPr/>
        </p:nvSpPr>
        <p:spPr>
          <a:xfrm rot="18900000">
            <a:off x="1219200" y="1676400"/>
            <a:ext cx="355600" cy="508000"/>
          </a:xfrm>
          <a:prstGeom prst="teardrop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8" name="Can Brand"/>
          <p:cNvSpPr/>
          <p:nvPr/>
        </p:nvSpPr>
        <p:spPr>
          <a:xfrm>
            <a:off x="698500" y="2235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fr-FR" sz="13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sp>
        <p:nvSpPr>
          <p:cNvPr id="989" name="Can Dose"/>
          <p:cNvSpPr/>
          <p:nvPr/>
        </p:nvSpPr>
        <p:spPr>
          <a:xfrm>
            <a:off x="698500" y="2743200"/>
            <a:ext cx="1397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fr-FR" sz="1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40 mg</a:t>
            </a:r>
          </a:p>
        </p:txBody>
      </p:sp>
    </p:spTree>
    <p:extLst>
      <p:ext uri="{BB962C8B-B14F-4D97-AF65-F5344CB8AC3E}">
        <p14:creationId xmlns:p14="http://schemas.microsoft.com/office/powerpoint/2010/main" val="3803283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en-US" sz="2000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2 | 23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6096000" y="2707095"/>
            <a:ext cx="0" cy="256710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7562292" y="4146852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Références et annexes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29451" y="4112975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21</a:t>
            </a:r>
          </a:p>
        </p:txBody>
      </p:sp>
      <p:sp>
        <p:nvSpPr>
          <p:cNvPr id="9" name="AutoShape 9"/>
          <p:cNvSpPr/>
          <p:nvPr/>
        </p:nvSpPr>
        <p:spPr>
          <a:xfrm>
            <a:off x="6729451" y="3952545"/>
            <a:ext cx="476404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7562292" y="3459787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Conclusions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29451" y="3425910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19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729451" y="3265479"/>
            <a:ext cx="476404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7562292" y="2772722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Marché et lancement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29451" y="2738845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31341" y="4833917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Les preuves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8500" y="4800040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98500" y="4639610"/>
            <a:ext cx="476404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Box 18"/>
          <p:cNvSpPr txBox="1"/>
          <p:nvPr/>
        </p:nvSpPr>
        <p:spPr>
          <a:xfrm>
            <a:off x="1531341" y="4146852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 produit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8500" y="4112975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07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98500" y="3952545"/>
            <a:ext cx="476404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Box 21"/>
          <p:cNvSpPr txBox="1"/>
          <p:nvPr/>
        </p:nvSpPr>
        <p:spPr>
          <a:xfrm>
            <a:off x="1531341" y="3459787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 constat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8500" y="3425910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98500" y="3265479"/>
            <a:ext cx="476404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Box 24"/>
          <p:cNvSpPr txBox="1"/>
          <p:nvPr/>
        </p:nvSpPr>
        <p:spPr>
          <a:xfrm>
            <a:off x="1531341" y="2772722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Question de recherche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8500" y="2738845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204729" y="994703"/>
            <a:ext cx="1987271" cy="822508"/>
            <a:chOff x="0" y="0"/>
            <a:chExt cx="600913" cy="24871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00913" cy="248711"/>
            </a:xfrm>
            <a:custGeom>
              <a:avLst/>
              <a:gdLst/>
              <a:ahLst/>
              <a:cxnLst/>
              <a:rect l="l" t="t" r="r" b="b"/>
              <a:pathLst>
                <a:path w="600913" h="248711">
                  <a:moveTo>
                    <a:pt x="0" y="0"/>
                  </a:moveTo>
                  <a:lnTo>
                    <a:pt x="600913" y="0"/>
                  </a:lnTo>
                  <a:lnTo>
                    <a:pt x="600913" y="248711"/>
                  </a:lnTo>
                  <a:lnTo>
                    <a:pt x="0" y="248711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19050"/>
              <a:ext cx="600913" cy="22966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987272" y="939800"/>
            <a:ext cx="8217458" cy="1138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8534"/>
              </a:lnSpc>
            </a:pPr>
            <a:r>
              <a:rPr lang="en-US" sz="9482" b="1" u="none" strike="noStrike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SOMMAIRE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" y="994703"/>
            <a:ext cx="1987271" cy="822508"/>
            <a:chOff x="0" y="0"/>
            <a:chExt cx="600913" cy="24871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00913" cy="248711"/>
            </a:xfrm>
            <a:custGeom>
              <a:avLst/>
              <a:gdLst/>
              <a:ahLst/>
              <a:cxnLst/>
              <a:rect l="l" t="t" r="r" b="b"/>
              <a:pathLst>
                <a:path w="600913" h="248711">
                  <a:moveTo>
                    <a:pt x="0" y="0"/>
                  </a:moveTo>
                  <a:lnTo>
                    <a:pt x="600913" y="0"/>
                  </a:lnTo>
                  <a:lnTo>
                    <a:pt x="600913" y="248711"/>
                  </a:lnTo>
                  <a:lnTo>
                    <a:pt x="0" y="248711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19050"/>
              <a:ext cx="600913" cy="22966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</p:spTree>
    <p:extLst>
      <p:ext uri="{BB962C8B-B14F-4D97-AF65-F5344CB8AC3E}">
        <p14:creationId xmlns:p14="http://schemas.microsoft.com/office/powerpoint/2010/main" val="853914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54750" y="0"/>
            <a:ext cx="5937250" cy="6858000"/>
          </a:xfrm>
          <a:custGeom>
            <a:avLst/>
            <a:gdLst/>
            <a:ahLst/>
            <a:cxnLst/>
            <a:rect l="l" t="t" r="r" b="b"/>
            <a:pathLst>
              <a:path w="8905875" h="10287000">
                <a:moveTo>
                  <a:pt x="0" y="0"/>
                </a:moveTo>
                <a:lnTo>
                  <a:pt x="8905875" y="0"/>
                </a:lnTo>
                <a:lnTo>
                  <a:pt x="89058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en-US" sz="2000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3 | 23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5920339"/>
            <a:ext cx="5238750" cy="227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67"/>
              </a:lnSpc>
            </a:pPr>
            <a:r>
              <a:rPr lang="fr-FR" sz="1333" b="1" i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[PRÉNOM NOM], [FORMATION]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8500" y="4254500"/>
            <a:ext cx="5238750" cy="958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Question de recherche :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une boisson bio dosée à 40 mg de caféine par canette peut-elle soutenir l'attention des 16-25 ans tout en respectant la limite de l'EFSA et le droit des allégations santé 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8500" y="2819400"/>
            <a:ext cx="5238750" cy="12017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Les boissons énergisantes promettent forme et concentration, mais reposent sur la caféine et le sucre. </a:t>
            </a: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Leafakin part de l'hypothèse inverse : une énergie modérée issue du thé vert, complétée par la chlorophylle, des plantes et la vitamine C.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8500" y="1628522"/>
            <a:ext cx="523875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600"/>
              </a:lnSpc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DE L'ÉNERGIE SANS EXCÈS DE CAFÉINE ?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0" y="1697493"/>
            <a:ext cx="553557" cy="294657"/>
            <a:chOff x="0" y="0"/>
            <a:chExt cx="297574" cy="15839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4" name="AutoShape 14"/>
          <p:cNvSpPr/>
          <p:nvPr/>
        </p:nvSpPr>
        <p:spPr>
          <a:xfrm>
            <a:off x="698500" y="1048539"/>
            <a:ext cx="523875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pic>
        <p:nvPicPr>
          <p:cNvPr id="16" name="Graphic 16" descr="Feuille, symbole de Leafaki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89900" y="2286000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062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7404387" h="9201921">
                <a:moveTo>
                  <a:pt x="0" y="0"/>
                </a:moveTo>
                <a:lnTo>
                  <a:pt x="17404388" y="0"/>
                </a:lnTo>
                <a:lnTo>
                  <a:pt x="17404388" y="9201922"/>
                </a:lnTo>
                <a:lnTo>
                  <a:pt x="0" y="9201922"/>
                </a:lnTo>
                <a:lnTo>
                  <a:pt x="0" y="0"/>
                </a:lnTo>
                <a:close/>
              </a:path>
            </a:pathLst>
          </a:custGeom>
          <a:solidFill>
            <a:srgbClr val="C32D4B"/>
          </a:solidFill>
        </p:spPr>
        <p:txBody>
          <a:bodyPr/>
          <a:lstStyle/>
          <a:p>
            <a:endParaRPr lang="fr-FR"/>
          </a:p>
        </p:txBody>
      </p:sp>
      <p:sp>
        <p:nvSpPr>
          <p:cNvPr id="901" name="Deco Circle Big"/>
          <p:cNvSpPr/>
          <p:nvPr/>
        </p:nvSpPr>
        <p:spPr>
          <a:xfrm>
            <a:off x="7112000" y="-1524000"/>
            <a:ext cx="7112000" cy="71120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Deco Triangle"/>
          <p:cNvSpPr/>
          <p:nvPr/>
        </p:nvSpPr>
        <p:spPr>
          <a:xfrm>
            <a:off x="0" y="5080000"/>
            <a:ext cx="5334000" cy="1778000"/>
          </a:xfrm>
          <a:prstGeom prst="rtTriangle">
            <a:avLst/>
          </a:prstGeom>
          <a:solidFill>
            <a:srgbClr val="9E213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Icon Disc"/>
          <p:cNvSpPr/>
          <p:nvPr/>
        </p:nvSpPr>
        <p:spPr>
          <a:xfrm>
            <a:off x="7874000" y="1397000"/>
            <a:ext cx="3683000" cy="3683000"/>
          </a:xfrm>
          <a:prstGeom prst="ellipse">
            <a:avLst/>
          </a:prstGeom>
          <a:solidFill>
            <a:srgbClr val="9E213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 | 23</a:t>
            </a:r>
          </a:p>
        </p:txBody>
      </p:sp>
      <p:sp>
        <p:nvSpPr>
          <p:cNvPr id="904" name="Section Number"/>
          <p:cNvSpPr txBox="1"/>
          <p:nvPr/>
        </p:nvSpPr>
        <p:spPr>
          <a:xfrm>
            <a:off x="609600" y="762000"/>
            <a:ext cx="6096000" cy="2667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80000"/>
              </a:lnSpc>
            </a:pPr>
            <a:r>
              <a:rPr lang="fr-FR" sz="20000" b="1" dirty="0">
                <a:solidFill>
                  <a:srgbClr val="FFFFFF">
                    <a:alpha val="35000"/>
                  </a:srgbClr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905" name="Section Title"/>
          <p:cNvSpPr txBox="1"/>
          <p:nvPr/>
        </p:nvSpPr>
        <p:spPr>
          <a:xfrm>
            <a:off x="698500" y="3619500"/>
            <a:ext cx="6604000" cy="215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fr-FR" sz="4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LE CONSTAT</a:t>
            </a:r>
          </a:p>
          <a:p>
            <a:pPr algn="l">
              <a:spcBef>
                <a:spcPts val="1400"/>
              </a:spcBef>
            </a:pPr>
            <a:r>
              <a:rPr lang="fr-FR" sz="2000" dirty="0">
                <a:solidFill>
                  <a:srgbClr val="FFE4EA"/>
                </a:solidFill>
                <a:latin typeface="Montserrat"/>
                <a:ea typeface="Montserrat"/>
                <a:cs typeface="Montserrat"/>
              </a:rPr>
              <a:t>Une seule canette apporte déjà les 2/3 de la caféine tolérée par un adolescent.</a:t>
            </a:r>
          </a:p>
        </p:txBody>
      </p:sp>
      <p:pic>
        <p:nvPicPr>
          <p:cNvPr id="906" name="Graphic 906" descr="Éclai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3000" y="22860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148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330826"/>
            <a:ext cx="12192000" cy="4527174"/>
          </a:xfrm>
          <a:custGeom>
            <a:avLst/>
            <a:gdLst/>
            <a:ahLst/>
            <a:cxnLst/>
            <a:rect l="l" t="t" r="r" b="b"/>
            <a:pathLst>
              <a:path w="18288000" h="6790761">
                <a:moveTo>
                  <a:pt x="0" y="0"/>
                </a:moveTo>
                <a:lnTo>
                  <a:pt x="18288000" y="0"/>
                </a:lnTo>
                <a:lnTo>
                  <a:pt x="18288000" y="6790761"/>
                </a:lnTo>
                <a:lnTo>
                  <a:pt x="0" y="6790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8194" b="-28260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8009145" y="3560264"/>
            <a:ext cx="3484355" cy="2037089"/>
            <a:chOff x="0" y="0"/>
            <a:chExt cx="1441841" cy="8429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41841" cy="842955"/>
            </a:xfrm>
            <a:custGeom>
              <a:avLst/>
              <a:gdLst/>
              <a:ahLst/>
              <a:cxnLst/>
              <a:rect l="l" t="t" r="r" b="b"/>
              <a:pathLst>
                <a:path w="1441841" h="842955">
                  <a:moveTo>
                    <a:pt x="0" y="0"/>
                  </a:moveTo>
                  <a:lnTo>
                    <a:pt x="1441841" y="0"/>
                  </a:lnTo>
                  <a:lnTo>
                    <a:pt x="1441841" y="842955"/>
                  </a:lnTo>
                  <a:lnTo>
                    <a:pt x="0" y="84295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1441841" cy="8239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095782" y="4806307"/>
            <a:ext cx="3308589" cy="520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âge minimum de vente proposé</a:t>
            </a:r>
          </a:p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par deux députés (oct. 2026)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95782" y="3899523"/>
            <a:ext cx="3308589" cy="754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5760"/>
              </a:lnSpc>
              <a:spcBef>
                <a:spcPct val="0"/>
              </a:spcBef>
            </a:pPr>
            <a:r>
              <a:rPr lang="fr-FR" sz="5334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16 ans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353823" y="3560264"/>
            <a:ext cx="3484355" cy="2037089"/>
            <a:chOff x="0" y="0"/>
            <a:chExt cx="1441841" cy="8429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1841" cy="842955"/>
            </a:xfrm>
            <a:custGeom>
              <a:avLst/>
              <a:gdLst/>
              <a:ahLst/>
              <a:cxnLst/>
              <a:rect l="l" t="t" r="r" b="b"/>
              <a:pathLst>
                <a:path w="1441841" h="842955">
                  <a:moveTo>
                    <a:pt x="0" y="0"/>
                  </a:moveTo>
                  <a:lnTo>
                    <a:pt x="1441841" y="0"/>
                  </a:lnTo>
                  <a:lnTo>
                    <a:pt x="1441841" y="842955"/>
                  </a:lnTo>
                  <a:lnTo>
                    <a:pt x="0" y="84295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1441841" cy="8239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440460" y="4806307"/>
            <a:ext cx="3308589" cy="520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des boissons énergisantes</a:t>
            </a:r>
          </a:p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contiennent de la caféine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40460" y="3899523"/>
            <a:ext cx="3308589" cy="754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5760"/>
              </a:lnSpc>
              <a:spcBef>
                <a:spcPct val="0"/>
              </a:spcBef>
            </a:pPr>
            <a:r>
              <a:rPr lang="fr-FR" sz="5334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96 %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009145" y="1323604"/>
            <a:ext cx="3484355" cy="2037089"/>
            <a:chOff x="0" y="0"/>
            <a:chExt cx="1441841" cy="84295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41841" cy="842955"/>
            </a:xfrm>
            <a:custGeom>
              <a:avLst/>
              <a:gdLst/>
              <a:ahLst/>
              <a:cxnLst/>
              <a:rect l="l" t="t" r="r" b="b"/>
              <a:pathLst>
                <a:path w="1441841" h="842955">
                  <a:moveTo>
                    <a:pt x="0" y="0"/>
                  </a:moveTo>
                  <a:lnTo>
                    <a:pt x="1441841" y="0"/>
                  </a:lnTo>
                  <a:lnTo>
                    <a:pt x="1441841" y="842955"/>
                  </a:lnTo>
                  <a:lnTo>
                    <a:pt x="0" y="84295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19050"/>
              <a:ext cx="1441841" cy="8239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095782" y="2567968"/>
            <a:ext cx="3308589" cy="520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expressos de caféine dans</a:t>
            </a:r>
          </a:p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une canette de 250 ml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95782" y="1661184"/>
            <a:ext cx="3308589" cy="754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5760"/>
              </a:lnSpc>
              <a:spcBef>
                <a:spcPct val="0"/>
              </a:spcBef>
            </a:pPr>
            <a:r>
              <a:rPr lang="fr-FR" sz="5334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353823" y="1323604"/>
            <a:ext cx="3484355" cy="2037089"/>
            <a:chOff x="0" y="0"/>
            <a:chExt cx="1441841" cy="84295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41841" cy="842955"/>
            </a:xfrm>
            <a:custGeom>
              <a:avLst/>
              <a:gdLst/>
              <a:ahLst/>
              <a:cxnLst/>
              <a:rect l="l" t="t" r="r" b="b"/>
              <a:pathLst>
                <a:path w="1441841" h="842955">
                  <a:moveTo>
                    <a:pt x="0" y="0"/>
                  </a:moveTo>
                  <a:lnTo>
                    <a:pt x="1441841" y="0"/>
                  </a:lnTo>
                  <a:lnTo>
                    <a:pt x="1441841" y="842955"/>
                  </a:lnTo>
                  <a:lnTo>
                    <a:pt x="0" y="84295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1441841" cy="8239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440460" y="2567968"/>
            <a:ext cx="3308589" cy="520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des ados consommateurs en</a:t>
            </a:r>
          </a:p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boivent environ 7 litres par mois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40460" y="1661184"/>
            <a:ext cx="3308589" cy="754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5760"/>
              </a:lnSpc>
              <a:spcBef>
                <a:spcPct val="0"/>
              </a:spcBef>
            </a:pPr>
            <a:r>
              <a:rPr lang="fr-FR" sz="5334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12 %</a:t>
            </a:r>
          </a:p>
        </p:txBody>
      </p:sp>
      <p:sp>
        <p:nvSpPr>
          <p:cNvPr id="23" name="AutoShape 23"/>
          <p:cNvSpPr/>
          <p:nvPr/>
        </p:nvSpPr>
        <p:spPr>
          <a:xfrm flipV="1">
            <a:off x="5765849" y="2409218"/>
            <a:ext cx="660303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AutoShape 24"/>
          <p:cNvSpPr/>
          <p:nvPr/>
        </p:nvSpPr>
        <p:spPr>
          <a:xfrm flipV="1">
            <a:off x="5765849" y="4653907"/>
            <a:ext cx="660303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" name="AutoShape 25"/>
          <p:cNvSpPr/>
          <p:nvPr/>
        </p:nvSpPr>
        <p:spPr>
          <a:xfrm flipV="1">
            <a:off x="9419926" y="4653907"/>
            <a:ext cx="660303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6" name="AutoShape 26"/>
          <p:cNvSpPr/>
          <p:nvPr/>
        </p:nvSpPr>
        <p:spPr>
          <a:xfrm flipV="1">
            <a:off x="9421171" y="2409218"/>
            <a:ext cx="660303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27" name="Group 27"/>
          <p:cNvGrpSpPr/>
          <p:nvPr/>
        </p:nvGrpSpPr>
        <p:grpSpPr>
          <a:xfrm>
            <a:off x="698501" y="1312282"/>
            <a:ext cx="3471655" cy="2037089"/>
            <a:chOff x="0" y="0"/>
            <a:chExt cx="6943311" cy="4074177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6943311" cy="4074177"/>
              <a:chOff x="0" y="0"/>
              <a:chExt cx="1436585" cy="84295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36585" cy="842955"/>
              </a:xfrm>
              <a:custGeom>
                <a:avLst/>
                <a:gdLst/>
                <a:ahLst/>
                <a:cxnLst/>
                <a:rect l="l" t="t" r="r" b="b"/>
                <a:pathLst>
                  <a:path w="1436585" h="842955">
                    <a:moveTo>
                      <a:pt x="0" y="0"/>
                    </a:moveTo>
                    <a:lnTo>
                      <a:pt x="1436585" y="0"/>
                    </a:lnTo>
                    <a:lnTo>
                      <a:pt x="1436585" y="842955"/>
                    </a:lnTo>
                    <a:lnTo>
                      <a:pt x="0" y="84295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32D4B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19050"/>
                <a:ext cx="1436585" cy="82390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ctr">
                  <a:lnSpc>
                    <a:spcPts val="809"/>
                  </a:lnSpc>
                  <a:spcBef>
                    <a:spcPct val="0"/>
                  </a:spcBef>
                </a:pPr>
                <a:endParaRPr sz="800"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72644" y="2498673"/>
              <a:ext cx="6598023" cy="1035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053"/>
                </a:lnSpc>
              </a:pPr>
              <a:r>
                <a:rPr lang="fr-FR" sz="1466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</a:rPr>
                <a:t>des 10-18 ans européens</a:t>
              </a:r>
            </a:p>
            <a:p>
              <a:pPr algn="ctr">
                <a:lnSpc>
                  <a:spcPts val="2053"/>
                </a:lnSpc>
              </a:pPr>
              <a:r>
                <a:rPr lang="fr-FR" sz="1466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</a:rPr>
                <a:t>boivent des boissons énergisantes</a:t>
              </a:r>
            </a:p>
          </p:txBody>
        </p:sp>
        <p:sp>
          <p:nvSpPr>
            <p:cNvPr id="32" name="AutoShape 32"/>
            <p:cNvSpPr/>
            <p:nvPr/>
          </p:nvSpPr>
          <p:spPr>
            <a:xfrm flipV="1">
              <a:off x="2811353" y="2193873"/>
              <a:ext cx="1320606" cy="0"/>
            </a:xfrm>
            <a:prstGeom prst="line">
              <a:avLst/>
            </a:prstGeom>
            <a:ln w="25400" cap="flat">
              <a:solidFill>
                <a:srgbClr val="C32D4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72644" y="643828"/>
              <a:ext cx="6598023" cy="1537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5760"/>
                </a:lnSpc>
                <a:spcBef>
                  <a:spcPct val="0"/>
                </a:spcBef>
              </a:pPr>
              <a:r>
                <a:rPr lang="fr-FR" sz="5334" b="1" u="none" strike="noStrike" dirty="0">
                  <a:solidFill>
                    <a:srgbClr val="C32D4B"/>
                  </a:solidFill>
                  <a:latin typeface="Montserrat"/>
                  <a:ea typeface="Montserrat"/>
                  <a:cs typeface="Montserrat"/>
                </a:rPr>
                <a:t>68 %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98501" y="3560264"/>
            <a:ext cx="3471655" cy="2037089"/>
            <a:chOff x="0" y="0"/>
            <a:chExt cx="6943311" cy="4074177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6943311" cy="4074177"/>
              <a:chOff x="0" y="0"/>
              <a:chExt cx="1436585" cy="84295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436585" cy="842955"/>
              </a:xfrm>
              <a:custGeom>
                <a:avLst/>
                <a:gdLst/>
                <a:ahLst/>
                <a:cxnLst/>
                <a:rect l="l" t="t" r="r" b="b"/>
                <a:pathLst>
                  <a:path w="1436585" h="842955">
                    <a:moveTo>
                      <a:pt x="0" y="0"/>
                    </a:moveTo>
                    <a:lnTo>
                      <a:pt x="1436585" y="0"/>
                    </a:lnTo>
                    <a:lnTo>
                      <a:pt x="1436585" y="842955"/>
                    </a:lnTo>
                    <a:lnTo>
                      <a:pt x="0" y="84295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32D4B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19050"/>
                <a:ext cx="1436585" cy="82390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ctr">
                  <a:lnSpc>
                    <a:spcPts val="809"/>
                  </a:lnSpc>
                  <a:spcBef>
                    <a:spcPct val="0"/>
                  </a:spcBef>
                </a:pPr>
                <a:endParaRPr sz="800"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72644" y="2498673"/>
              <a:ext cx="6598023" cy="10354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053"/>
                </a:lnSpc>
              </a:pPr>
              <a:r>
                <a:rPr lang="fr-FR" sz="1466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</a:rPr>
                <a:t>effets indésirables signalés</a:t>
              </a:r>
            </a:p>
            <a:p>
              <a:pPr algn="ctr">
                <a:lnSpc>
                  <a:spcPts val="2053"/>
                </a:lnSpc>
              </a:pPr>
              <a:r>
                <a:rPr lang="fr-FR" sz="1466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</a:rPr>
                <a:t>à la nutrivigilance de l'ANSES</a:t>
              </a:r>
            </a:p>
          </p:txBody>
        </p:sp>
        <p:sp>
          <p:nvSpPr>
            <p:cNvPr id="39" name="AutoShape 39"/>
            <p:cNvSpPr/>
            <p:nvPr/>
          </p:nvSpPr>
          <p:spPr>
            <a:xfrm flipV="1">
              <a:off x="2811353" y="2193873"/>
              <a:ext cx="1320606" cy="0"/>
            </a:xfrm>
            <a:prstGeom prst="line">
              <a:avLst/>
            </a:prstGeom>
            <a:ln w="25400" cap="flat">
              <a:solidFill>
                <a:srgbClr val="C32D4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72644" y="643828"/>
              <a:ext cx="6598023" cy="1537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5760"/>
                </a:lnSpc>
                <a:spcBef>
                  <a:spcPct val="0"/>
                </a:spcBef>
              </a:pPr>
              <a:r>
                <a:rPr lang="fr-FR" sz="5334" b="1" dirty="0">
                  <a:solidFill>
                    <a:srgbClr val="C32D4B"/>
                  </a:solidFill>
                  <a:latin typeface="Montserrat"/>
                  <a:ea typeface="Montserrat"/>
                  <a:cs typeface="Montserrat"/>
                </a:rPr>
                <a:t>257</a:t>
              </a:r>
            </a:p>
          </p:txBody>
        </p:sp>
      </p:grpSp>
      <p:sp>
        <p:nvSpPr>
          <p:cNvPr id="41" name="AutoShape 41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Box 42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 constat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 | 23</a:t>
            </a:r>
          </a:p>
        </p:txBody>
      </p:sp>
      <p:sp>
        <p:nvSpPr>
          <p:cNvPr id="48" name="Source">
            <a:extLst>
              <a:ext uri="{FF2B5EF4-FFF2-40B4-BE49-F238E27FC236}">
                <a16:creationId xmlns:a16="http://schemas.microsoft.com/office/drawing/2014/main" id="{49B97E6A-B10D-45DA-93F9-8B6921970F6A}"/>
              </a:ext>
            </a:extLst>
          </p:cNvPr>
          <p:cNvSpPr txBox="1"/>
          <p:nvPr/>
        </p:nvSpPr>
        <p:spPr>
          <a:xfrm>
            <a:off x="698500" y="5943600"/>
            <a:ext cx="81280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FFFFFF"/>
                </a:solidFill>
                <a:latin typeface="Montserrat"/>
              </a:rPr>
              <a:t>Sources : Zucconi et al. pour l'EFSA (2013), 16 pays, 52 000 participants ; ANSES (2013) ; Assemblée nationale (2026).</a:t>
            </a:r>
          </a:p>
        </p:txBody>
      </p:sp>
    </p:spTree>
    <p:extLst>
      <p:ext uri="{BB962C8B-B14F-4D97-AF65-F5344CB8AC3E}">
        <p14:creationId xmlns:p14="http://schemas.microsoft.com/office/powerpoint/2010/main" val="4130427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6 | 23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254750" y="3625569"/>
            <a:ext cx="6065229" cy="1858275"/>
            <a:chOff x="0" y="0"/>
            <a:chExt cx="1283246" cy="3931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3246" cy="393163"/>
            </a:xfrm>
            <a:custGeom>
              <a:avLst/>
              <a:gdLst/>
              <a:ahLst/>
              <a:cxnLst/>
              <a:rect l="l" t="t" r="r" b="b"/>
              <a:pathLst>
                <a:path w="1283246" h="393163">
                  <a:moveTo>
                    <a:pt x="0" y="0"/>
                  </a:moveTo>
                  <a:lnTo>
                    <a:pt x="1283246" y="0"/>
                  </a:lnTo>
                  <a:lnTo>
                    <a:pt x="1283246" y="393163"/>
                  </a:lnTo>
                  <a:lnTo>
                    <a:pt x="0" y="393163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1283246" cy="374113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609984" y="3713321"/>
            <a:ext cx="4883516" cy="15081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spcBef>
                <a:spcPct val="0"/>
              </a:spcBef>
            </a:pPr>
            <a:r>
              <a:rPr lang="fr-FR" sz="66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 litre</a:t>
            </a:r>
          </a:p>
          <a:p>
            <a:pPr marL="0" lvl="0" indent="0" algn="l">
              <a:spcBef>
                <a:spcPct val="0"/>
              </a:spcBef>
            </a:pPr>
            <a:r>
              <a:rPr lang="fr-FR" sz="1600" b="0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en une prise pour 12 % des ados consommateurs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254750" y="1555659"/>
            <a:ext cx="5937250" cy="1858275"/>
            <a:chOff x="0" y="0"/>
            <a:chExt cx="1256169" cy="3931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6169" cy="393163"/>
            </a:xfrm>
            <a:custGeom>
              <a:avLst/>
              <a:gdLst/>
              <a:ahLst/>
              <a:cxnLst/>
              <a:rect l="l" t="t" r="r" b="b"/>
              <a:pathLst>
                <a:path w="1256169" h="393163">
                  <a:moveTo>
                    <a:pt x="0" y="0"/>
                  </a:moveTo>
                  <a:lnTo>
                    <a:pt x="1256169" y="0"/>
                  </a:lnTo>
                  <a:lnTo>
                    <a:pt x="1256169" y="393163"/>
                  </a:lnTo>
                  <a:lnTo>
                    <a:pt x="0" y="393163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1256169" cy="374113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609984" y="1643411"/>
            <a:ext cx="488351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spcBef>
                <a:spcPct val="0"/>
              </a:spcBef>
            </a:pPr>
            <a:r>
              <a:rPr lang="fr-FR" sz="8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2/3</a:t>
            </a:r>
          </a:p>
          <a:p>
            <a:pPr marL="0" lvl="0" indent="0" algn="l">
              <a:spcBef>
                <a:spcPct val="0"/>
              </a:spcBef>
            </a:pPr>
            <a:r>
              <a:rPr lang="fr-FR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de la dose journalière d'un ado de 40 kg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8500" y="4993328"/>
            <a:ext cx="5238750" cy="470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884" lvl="1" indent="-143943" algn="l">
              <a:lnSpc>
                <a:spcPts val="1867"/>
              </a:lnSpc>
              <a:buFont typeface="Arial"/>
              <a:buChar char="•"/>
            </a:pPr>
            <a:r>
              <a:rPr lang="fr-FR" sz="14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Des effets signalés. </a:t>
            </a: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Tachycardie, nervosité et anxiété reviennent dans les 257 cas déclarés à l'ANSES.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3720012"/>
            <a:ext cx="5238750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884" lvl="1" indent="-143943" algn="l">
              <a:lnSpc>
                <a:spcPts val="1867"/>
              </a:lnSpc>
              <a:buFont typeface="Arial"/>
              <a:buChar char="•"/>
            </a:pPr>
            <a:r>
              <a:rPr lang="fr-FR" sz="14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Des prises massives. </a:t>
            </a: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12 % des adolescents consommateurs boivent au moins 1 litre en une seule occasion.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8500" y="2446697"/>
            <a:ext cx="5238750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884" lvl="1" indent="-143943" algn="l">
              <a:lnSpc>
                <a:spcPts val="1867"/>
              </a:lnSpc>
              <a:buFont typeface="Arial"/>
              <a:buChar char="•"/>
            </a:pPr>
            <a:r>
              <a:rPr lang="fr-FR" sz="14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Trop de caféine. </a:t>
            </a: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80 mg par canette standard, pour une limite EFSA de 3 mg/kg/jour, soit 120 mg pour un adolescent de 40 kg.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8500" y="1410728"/>
            <a:ext cx="5238750" cy="948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UNE CANETTE, 2/3 DE LA CAFÉINE TOLÉRÉE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21" name="AutoShape 21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Box 22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 constat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sp>
        <p:nvSpPr>
          <p:cNvPr id="24" name="Source">
            <a:extLst>
              <a:ext uri="{FF2B5EF4-FFF2-40B4-BE49-F238E27FC236}">
                <a16:creationId xmlns:a16="http://schemas.microsoft.com/office/drawing/2014/main" id="{F8DEC636-E15D-48BC-A4B0-15EBA4F785AA}"/>
              </a:ext>
            </a:extLst>
          </p:cNvPr>
          <p:cNvSpPr txBox="1"/>
          <p:nvPr/>
        </p:nvSpPr>
        <p:spPr>
          <a:xfrm>
            <a:off x="698500" y="5943600"/>
            <a:ext cx="81280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5E5E5E"/>
                </a:solidFill>
                <a:latin typeface="Montserrat"/>
              </a:rPr>
              <a:t>Sources : EFSA (2015), avis sur la sécurité de la caféine ; Zucconi et al. pour l'EFSA (2013) ; ANSES (2013).</a:t>
            </a:r>
          </a:p>
        </p:txBody>
      </p:sp>
    </p:spTree>
    <p:extLst>
      <p:ext uri="{BB962C8B-B14F-4D97-AF65-F5344CB8AC3E}">
        <p14:creationId xmlns:p14="http://schemas.microsoft.com/office/powerpoint/2010/main" val="1426263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7404387" h="9201921">
                <a:moveTo>
                  <a:pt x="0" y="0"/>
                </a:moveTo>
                <a:lnTo>
                  <a:pt x="17404388" y="0"/>
                </a:lnTo>
                <a:lnTo>
                  <a:pt x="17404388" y="9201922"/>
                </a:lnTo>
                <a:lnTo>
                  <a:pt x="0" y="9201922"/>
                </a:lnTo>
                <a:lnTo>
                  <a:pt x="0" y="0"/>
                </a:lnTo>
                <a:close/>
              </a:path>
            </a:pathLst>
          </a:custGeom>
          <a:solidFill>
            <a:srgbClr val="C32D4B"/>
          </a:solidFill>
        </p:spPr>
        <p:txBody>
          <a:bodyPr/>
          <a:lstStyle/>
          <a:p>
            <a:endParaRPr lang="fr-FR"/>
          </a:p>
        </p:txBody>
      </p:sp>
      <p:sp>
        <p:nvSpPr>
          <p:cNvPr id="901" name="Deco Circle Big"/>
          <p:cNvSpPr/>
          <p:nvPr/>
        </p:nvSpPr>
        <p:spPr>
          <a:xfrm>
            <a:off x="7112000" y="-1524000"/>
            <a:ext cx="7112000" cy="71120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Deco Triangle"/>
          <p:cNvSpPr/>
          <p:nvPr/>
        </p:nvSpPr>
        <p:spPr>
          <a:xfrm>
            <a:off x="0" y="5080000"/>
            <a:ext cx="5334000" cy="1778000"/>
          </a:xfrm>
          <a:prstGeom prst="rtTriangle">
            <a:avLst/>
          </a:prstGeom>
          <a:solidFill>
            <a:srgbClr val="9E213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Icon Disc"/>
          <p:cNvSpPr/>
          <p:nvPr/>
        </p:nvSpPr>
        <p:spPr>
          <a:xfrm>
            <a:off x="7874000" y="1397000"/>
            <a:ext cx="3683000" cy="3683000"/>
          </a:xfrm>
          <a:prstGeom prst="ellipse">
            <a:avLst/>
          </a:prstGeom>
          <a:solidFill>
            <a:srgbClr val="9E213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7 | 23</a:t>
            </a:r>
          </a:p>
        </p:txBody>
      </p:sp>
      <p:sp>
        <p:nvSpPr>
          <p:cNvPr id="904" name="Section Number"/>
          <p:cNvSpPr txBox="1"/>
          <p:nvPr/>
        </p:nvSpPr>
        <p:spPr>
          <a:xfrm>
            <a:off x="609600" y="762000"/>
            <a:ext cx="6096000" cy="2667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80000"/>
              </a:lnSpc>
            </a:pPr>
            <a:r>
              <a:rPr lang="fr-FR" sz="20000" b="1" dirty="0">
                <a:solidFill>
                  <a:srgbClr val="FFFFFF">
                    <a:alpha val="35000"/>
                  </a:srgbClr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05" name="Section Title"/>
          <p:cNvSpPr txBox="1"/>
          <p:nvPr/>
        </p:nvSpPr>
        <p:spPr>
          <a:xfrm>
            <a:off x="698500" y="3619500"/>
            <a:ext cx="6604000" cy="215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fr-FR" sz="4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LE PRODUIT</a:t>
            </a:r>
          </a:p>
          <a:p>
            <a:pPr algn="l">
              <a:spcBef>
                <a:spcPts val="1400"/>
              </a:spcBef>
            </a:pPr>
            <a:r>
              <a:rPr lang="fr-FR" sz="2000" dirty="0">
                <a:solidFill>
                  <a:srgbClr val="FFE4EA"/>
                </a:solidFill>
                <a:latin typeface="Montserrat"/>
                <a:ea typeface="Montserrat"/>
                <a:cs typeface="Montserrat"/>
              </a:rPr>
              <a:t>Quatre ingrédients bio et 40 mg de caféine, deux fois moins qu'une canette standard.</a:t>
            </a:r>
          </a:p>
        </p:txBody>
      </p:sp>
      <p:pic>
        <p:nvPicPr>
          <p:cNvPr id="906" name="Graphic 906" descr="Thé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3000" y="22860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14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8 | 23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5800" y="2438400"/>
            <a:ext cx="10795000" cy="508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Chaque ingrédient a un rôle unique dans la formule. </a:t>
            </a: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La caféine vient seulement du thé, la vitamine C seulement de l'acérola : aucun additif de synthèse.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8500" y="1410728"/>
            <a:ext cx="523875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QUATRE INGRÉDIENTS, UNE SEULE CANETTE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7" name="AutoShape 17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Box 18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 produit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sp>
        <p:nvSpPr>
          <p:cNvPr id="700" name="Can Shadow"/>
          <p:cNvSpPr/>
          <p:nvPr/>
        </p:nvSpPr>
        <p:spPr>
          <a:xfrm>
            <a:off x="5143500" y="5511800"/>
            <a:ext cx="1905000" cy="228600"/>
          </a:xfrm>
          <a:prstGeom prst="ellipse">
            <a:avLst/>
          </a:prstGeom>
          <a:solidFill>
            <a:srgbClr val="000000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1" name="Can Bottom"/>
          <p:cNvSpPr/>
          <p:nvPr/>
        </p:nvSpPr>
        <p:spPr>
          <a:xfrm>
            <a:off x="5397500" y="5257800"/>
            <a:ext cx="1397000" cy="304800"/>
          </a:xfrm>
          <a:prstGeom prst="ellipse">
            <a:avLst/>
          </a:prstGeom>
          <a:solidFill>
            <a:srgbClr val="7E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2" name="Can Body"/>
          <p:cNvSpPr/>
          <p:nvPr/>
        </p:nvSpPr>
        <p:spPr>
          <a:xfrm>
            <a:off x="5397500" y="3200400"/>
            <a:ext cx="1397000" cy="2209800"/>
          </a:xfrm>
          <a:prstGeom prst="rect">
            <a:avLst/>
          </a:prstGeom>
          <a:gradFill rotWithShape="1">
            <a:gsLst>
              <a:gs pos="0">
                <a:srgbClr val="9E2139"/>
              </a:gs>
              <a:gs pos="35000">
                <a:srgbClr val="D8465F"/>
              </a:gs>
              <a:gs pos="100000">
                <a:srgbClr val="8E1D33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3" name="Can Shoulder"/>
          <p:cNvSpPr/>
          <p:nvPr/>
        </p:nvSpPr>
        <p:spPr>
          <a:xfrm>
            <a:off x="5397500" y="3073400"/>
            <a:ext cx="1397000" cy="2794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4" name="Can Lid"/>
          <p:cNvSpPr/>
          <p:nvPr/>
        </p:nvSpPr>
        <p:spPr>
          <a:xfrm>
            <a:off x="5499100" y="3111500"/>
            <a:ext cx="1193800" cy="1905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5" name="Can Tab"/>
          <p:cNvSpPr/>
          <p:nvPr/>
        </p:nvSpPr>
        <p:spPr>
          <a:xfrm>
            <a:off x="5969000" y="3149600"/>
            <a:ext cx="254000" cy="101600"/>
          </a:xfrm>
          <a:prstGeom prst="roundRect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6" name="Can Brand"/>
          <p:cNvSpPr/>
          <p:nvPr/>
        </p:nvSpPr>
        <p:spPr>
          <a:xfrm>
            <a:off x="5473700" y="3479800"/>
            <a:ext cx="558800" cy="1752600"/>
          </a:xfrm>
          <a:prstGeom prst="rect">
            <a:avLst/>
          </a:prstGeom>
          <a:noFill/>
          <a:ln>
            <a:noFill/>
          </a:ln>
        </p:spPr>
        <p:txBody>
          <a:bodyPr vert="vert270" wrap="square" lIns="0" tIns="0" rIns="0" bIns="0" anchor="ctr">
            <a:noAutofit/>
          </a:bodyPr>
          <a:lstStyle/>
          <a:p>
            <a:pPr algn="ctr"/>
            <a:r>
              <a:rPr lang="fr-FR" sz="18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sp>
        <p:nvSpPr>
          <p:cNvPr id="707" name="Can Dose"/>
          <p:cNvSpPr/>
          <p:nvPr/>
        </p:nvSpPr>
        <p:spPr>
          <a:xfrm>
            <a:off x="6108700" y="4597400"/>
            <a:ext cx="63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fr-FR" sz="1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40 mg</a:t>
            </a:r>
          </a:p>
          <a:p>
            <a:pPr algn="ctr"/>
            <a:r>
              <a:rPr lang="fr-FR" sz="1000" b="0" dirty="0">
                <a:solidFill>
                  <a:srgbClr val="FFE4EA"/>
                </a:solidFill>
                <a:latin typeface="Montserrat"/>
                <a:ea typeface="Montserrat"/>
                <a:cs typeface="Montserrat"/>
              </a:rPr>
              <a:t>caféine</a:t>
            </a:r>
          </a:p>
        </p:txBody>
      </p:sp>
      <p:sp>
        <p:nvSpPr>
          <p:cNvPr id="708" name="Card Thé matcha"/>
          <p:cNvSpPr/>
          <p:nvPr/>
        </p:nvSpPr>
        <p:spPr>
          <a:xfrm>
            <a:off x="698500" y="3098800"/>
            <a:ext cx="4064000" cy="104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9" name="Card Bar Thé matcha"/>
          <p:cNvSpPr/>
          <p:nvPr/>
        </p:nvSpPr>
        <p:spPr>
          <a:xfrm>
            <a:off x="698500" y="3098800"/>
            <a:ext cx="76200" cy="1041400"/>
          </a:xfrm>
          <a:prstGeom prst="rect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0" name="Icon Disc Thé matcha"/>
          <p:cNvSpPr/>
          <p:nvPr/>
        </p:nvSpPr>
        <p:spPr>
          <a:xfrm>
            <a:off x="927100" y="3314700"/>
            <a:ext cx="609600" cy="609600"/>
          </a:xfrm>
          <a:prstGeom prst="ellipse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1" name="Card Text Thé matcha"/>
          <p:cNvSpPr/>
          <p:nvPr/>
        </p:nvSpPr>
        <p:spPr>
          <a:xfrm>
            <a:off x="1714500" y="3225800"/>
            <a:ext cx="2895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16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Thé matcha</a:t>
            </a:r>
          </a:p>
          <a:p>
            <a:pPr algn="l">
              <a:spcBef>
                <a:spcPts val="200"/>
              </a:spcBef>
            </a:pPr>
            <a:r>
              <a:rPr lang="fr-FR" sz="13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Caféine naturelle et L-théanine</a:t>
            </a:r>
          </a:p>
        </p:txBody>
      </p:sp>
      <p:sp>
        <p:nvSpPr>
          <p:cNvPr id="712" name="Card Chlorophylle"/>
          <p:cNvSpPr/>
          <p:nvPr/>
        </p:nvSpPr>
        <p:spPr>
          <a:xfrm>
            <a:off x="698500" y="4368800"/>
            <a:ext cx="4064000" cy="104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3" name="Card Bar Chlorophylle"/>
          <p:cNvSpPr/>
          <p:nvPr/>
        </p:nvSpPr>
        <p:spPr>
          <a:xfrm>
            <a:off x="698500" y="4368800"/>
            <a:ext cx="76200" cy="1041400"/>
          </a:xfrm>
          <a:prstGeom prst="rect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4" name="Icon Disc Chlorophylle"/>
          <p:cNvSpPr/>
          <p:nvPr/>
        </p:nvSpPr>
        <p:spPr>
          <a:xfrm>
            <a:off x="927100" y="4584700"/>
            <a:ext cx="609600" cy="609600"/>
          </a:xfrm>
          <a:prstGeom prst="ellipse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5" name="Card Text Chlorophylle"/>
          <p:cNvSpPr/>
          <p:nvPr/>
        </p:nvSpPr>
        <p:spPr>
          <a:xfrm>
            <a:off x="1714500" y="4495800"/>
            <a:ext cx="2895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16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Chlorophylle</a:t>
            </a:r>
          </a:p>
          <a:p>
            <a:pPr algn="l">
              <a:spcBef>
                <a:spcPts val="200"/>
              </a:spcBef>
            </a:pPr>
            <a:r>
              <a:rPr lang="fr-FR" sz="13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Extraite de feuilles de luzerne et d'ortie</a:t>
            </a:r>
          </a:p>
        </p:txBody>
      </p:sp>
      <p:sp>
        <p:nvSpPr>
          <p:cNvPr id="716" name="Card Plantes"/>
          <p:cNvSpPr/>
          <p:nvPr/>
        </p:nvSpPr>
        <p:spPr>
          <a:xfrm>
            <a:off x="7429500" y="3098800"/>
            <a:ext cx="4064000" cy="104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7" name="Card Bar Plantes"/>
          <p:cNvSpPr/>
          <p:nvPr/>
        </p:nvSpPr>
        <p:spPr>
          <a:xfrm>
            <a:off x="7429500" y="3098800"/>
            <a:ext cx="76200" cy="1041400"/>
          </a:xfrm>
          <a:prstGeom prst="rect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8" name="Icon Disc Plantes"/>
          <p:cNvSpPr/>
          <p:nvPr/>
        </p:nvSpPr>
        <p:spPr>
          <a:xfrm>
            <a:off x="7658100" y="3314700"/>
            <a:ext cx="609600" cy="609600"/>
          </a:xfrm>
          <a:prstGeom prst="ellipse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9" name="Card Text Plantes"/>
          <p:cNvSpPr/>
          <p:nvPr/>
        </p:nvSpPr>
        <p:spPr>
          <a:xfrm>
            <a:off x="8445500" y="3225800"/>
            <a:ext cx="2895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16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Plantes</a:t>
            </a:r>
          </a:p>
          <a:p>
            <a:pPr algn="l">
              <a:spcBef>
                <a:spcPts val="200"/>
              </a:spcBef>
            </a:pPr>
            <a:r>
              <a:rPr lang="fr-FR" sz="13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Gingembre, menthe et hibiscus pour le goût</a:t>
            </a:r>
          </a:p>
        </p:txBody>
      </p:sp>
      <p:sp>
        <p:nvSpPr>
          <p:cNvPr id="720" name="Card Acérola"/>
          <p:cNvSpPr/>
          <p:nvPr/>
        </p:nvSpPr>
        <p:spPr>
          <a:xfrm>
            <a:off x="7429500" y="4368800"/>
            <a:ext cx="4064000" cy="104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1" name="Card Bar Acérola"/>
          <p:cNvSpPr/>
          <p:nvPr/>
        </p:nvSpPr>
        <p:spPr>
          <a:xfrm>
            <a:off x="7429500" y="4368800"/>
            <a:ext cx="76200" cy="1041400"/>
          </a:xfrm>
          <a:prstGeom prst="rect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2" name="Icon Disc Acérola"/>
          <p:cNvSpPr/>
          <p:nvPr/>
        </p:nvSpPr>
        <p:spPr>
          <a:xfrm>
            <a:off x="7658100" y="4584700"/>
            <a:ext cx="609600" cy="609600"/>
          </a:xfrm>
          <a:prstGeom prst="ellipse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3" name="Card Text Acérola"/>
          <p:cNvSpPr/>
          <p:nvPr/>
        </p:nvSpPr>
        <p:spPr>
          <a:xfrm>
            <a:off x="8445500" y="4495800"/>
            <a:ext cx="28956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16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Acérola</a:t>
            </a:r>
          </a:p>
          <a:p>
            <a:pPr algn="l">
              <a:spcBef>
                <a:spcPts val="200"/>
              </a:spcBef>
            </a:pPr>
            <a:r>
              <a:rPr lang="fr-FR" sz="13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Source naturelle de vitamine C</a:t>
            </a:r>
          </a:p>
        </p:txBody>
      </p:sp>
      <p:cxnSp>
        <p:nvCxnSpPr>
          <p:cNvPr id="724" name="Connector"/>
          <p:cNvCxnSpPr/>
          <p:nvPr/>
        </p:nvCxnSpPr>
        <p:spPr>
          <a:xfrm>
            <a:off x="4762500" y="3619500"/>
            <a:ext cx="584200" cy="215900"/>
          </a:xfrm>
          <a:prstGeom prst="line">
            <a:avLst/>
          </a:prstGeom>
          <a:ln w="15875">
            <a:solidFill>
              <a:srgbClr val="C32D4B"/>
            </a:solidFill>
            <a:prstDash val="dash"/>
            <a:tailEnd type="oval" w="sm" len="sm"/>
          </a:ln>
        </p:spPr>
      </p:cxnSp>
      <p:cxnSp>
        <p:nvCxnSpPr>
          <p:cNvPr id="725" name="Connector"/>
          <p:cNvCxnSpPr/>
          <p:nvPr/>
        </p:nvCxnSpPr>
        <p:spPr>
          <a:xfrm flipV="1">
            <a:off x="4762500" y="4724400"/>
            <a:ext cx="584200" cy="165100"/>
          </a:xfrm>
          <a:prstGeom prst="line">
            <a:avLst/>
          </a:prstGeom>
          <a:ln w="15875">
            <a:solidFill>
              <a:srgbClr val="C32D4B"/>
            </a:solidFill>
            <a:prstDash val="dash"/>
            <a:tailEnd type="oval" w="sm" len="sm"/>
          </a:ln>
        </p:spPr>
      </p:cxnSp>
      <p:cxnSp>
        <p:nvCxnSpPr>
          <p:cNvPr id="726" name="Connector"/>
          <p:cNvCxnSpPr/>
          <p:nvPr/>
        </p:nvCxnSpPr>
        <p:spPr>
          <a:xfrm flipH="1">
            <a:off x="6845300" y="3619500"/>
            <a:ext cx="584200" cy="215900"/>
          </a:xfrm>
          <a:prstGeom prst="line">
            <a:avLst/>
          </a:prstGeom>
          <a:ln w="15875">
            <a:solidFill>
              <a:srgbClr val="C32D4B"/>
            </a:solidFill>
            <a:prstDash val="dash"/>
            <a:tailEnd type="oval" w="sm" len="sm"/>
          </a:ln>
        </p:spPr>
      </p:cxnSp>
      <p:cxnSp>
        <p:nvCxnSpPr>
          <p:cNvPr id="727" name="Connector"/>
          <p:cNvCxnSpPr/>
          <p:nvPr/>
        </p:nvCxnSpPr>
        <p:spPr>
          <a:xfrm flipH="1" flipV="1">
            <a:off x="6845300" y="4724400"/>
            <a:ext cx="584200" cy="165100"/>
          </a:xfrm>
          <a:prstGeom prst="line">
            <a:avLst/>
          </a:prstGeom>
          <a:ln w="15875">
            <a:solidFill>
              <a:srgbClr val="C32D4B"/>
            </a:solidFill>
            <a:prstDash val="dash"/>
            <a:tailEnd type="oval" w="sm" len="sm"/>
          </a:ln>
        </p:spPr>
      </p:cxnSp>
      <p:sp>
        <p:nvSpPr>
          <p:cNvPr id="728" name="Spec Label"/>
          <p:cNvSpPr/>
          <p:nvPr/>
        </p:nvSpPr>
        <p:spPr>
          <a:xfrm>
            <a:off x="698500" y="5537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fr-FR" sz="12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Cible par canette de 250 ml</a:t>
            </a:r>
          </a:p>
        </p:txBody>
      </p:sp>
      <p:sp>
        <p:nvSpPr>
          <p:cNvPr id="729" name="Chip"/>
          <p:cNvSpPr/>
          <p:nvPr/>
        </p:nvSpPr>
        <p:spPr>
          <a:xfrm>
            <a:off x="698500" y="5816600"/>
            <a:ext cx="16256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2D4B"/>
            </a:solidFill>
          </a:ln>
        </p:spPr>
        <p:txBody>
          <a:bodyPr wrap="square" lIns="50800" tIns="0" rIns="50800" bIns="0" anchor="ctr">
            <a:noAutofit/>
          </a:bodyPr>
          <a:lstStyle/>
          <a:p>
            <a:pPr algn="ctr"/>
            <a:r>
              <a:rPr lang="fr-FR" sz="12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40 mg de caféine</a:t>
            </a:r>
          </a:p>
        </p:txBody>
      </p:sp>
      <p:sp>
        <p:nvSpPr>
          <p:cNvPr id="730" name="Chip"/>
          <p:cNvSpPr/>
          <p:nvPr/>
        </p:nvSpPr>
        <p:spPr>
          <a:xfrm>
            <a:off x="2425700" y="5816600"/>
            <a:ext cx="19304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2D4B"/>
            </a:solidFill>
          </a:ln>
        </p:spPr>
        <p:txBody>
          <a:bodyPr wrap="square" lIns="50800" tIns="0" rIns="50800" bIns="0" anchor="ctr">
            <a:noAutofit/>
          </a:bodyPr>
          <a:lstStyle/>
          <a:p>
            <a:pPr algn="ctr"/>
            <a:r>
              <a:rPr lang="fr-FR" sz="12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80 mg de vitamine C</a:t>
            </a:r>
          </a:p>
        </p:txBody>
      </p:sp>
      <p:sp>
        <p:nvSpPr>
          <p:cNvPr id="731" name="Chip"/>
          <p:cNvSpPr/>
          <p:nvPr/>
        </p:nvSpPr>
        <p:spPr>
          <a:xfrm>
            <a:off x="4457700" y="5816600"/>
            <a:ext cx="25146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2D4B"/>
            </a:solidFill>
          </a:ln>
        </p:spPr>
        <p:txBody>
          <a:bodyPr wrap="square" lIns="50800" tIns="0" rIns="50800" bIns="0" anchor="ctr">
            <a:noAutofit/>
          </a:bodyPr>
          <a:lstStyle/>
          <a:p>
            <a:pPr algn="ctr"/>
            <a:r>
              <a:rPr lang="fr-FR" sz="12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&lt; 2,5 g de sucres / 100 ml</a:t>
            </a:r>
          </a:p>
        </p:txBody>
      </p:sp>
      <p:sp>
        <p:nvSpPr>
          <p:cNvPr id="732" name="Chip"/>
          <p:cNvSpPr/>
          <p:nvPr/>
        </p:nvSpPr>
        <p:spPr>
          <a:xfrm>
            <a:off x="7073900" y="5816600"/>
            <a:ext cx="23114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2D4B"/>
            </a:solidFill>
          </a:ln>
        </p:spPr>
        <p:txBody>
          <a:bodyPr wrap="square" lIns="50800" tIns="0" rIns="50800" bIns="0" anchor="ctr">
            <a:noAutofit/>
          </a:bodyPr>
          <a:lstStyle/>
          <a:p>
            <a:pPr algn="ctr"/>
            <a:r>
              <a:rPr lang="fr-FR" sz="12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Ingrédients certifiés bio</a:t>
            </a:r>
          </a:p>
        </p:txBody>
      </p:sp>
      <p:pic>
        <p:nvPicPr>
          <p:cNvPr id="733" name="Graphic 733" descr="Thé match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4100" y="3441700"/>
            <a:ext cx="355600" cy="355600"/>
          </a:xfrm>
          <a:prstGeom prst="rect">
            <a:avLst/>
          </a:prstGeom>
        </p:spPr>
      </p:pic>
      <p:pic>
        <p:nvPicPr>
          <p:cNvPr id="734" name="Graphic 734" descr="Chlorophyl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100" y="4711700"/>
            <a:ext cx="355600" cy="355600"/>
          </a:xfrm>
          <a:prstGeom prst="rect">
            <a:avLst/>
          </a:prstGeom>
        </p:spPr>
      </p:pic>
      <p:pic>
        <p:nvPicPr>
          <p:cNvPr id="735" name="Graphic 735" descr="Plant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5100" y="3441700"/>
            <a:ext cx="355600" cy="355600"/>
          </a:xfrm>
          <a:prstGeom prst="rect">
            <a:avLst/>
          </a:prstGeom>
        </p:spPr>
      </p:pic>
      <p:pic>
        <p:nvPicPr>
          <p:cNvPr id="736" name="Graphic 736" descr="Acérola, vitamine C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85100" y="47117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793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60216" y="4688371"/>
            <a:ext cx="13112432" cy="2169629"/>
            <a:chOff x="0" y="0"/>
            <a:chExt cx="7048800" cy="11663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48800" cy="1166319"/>
            </a:xfrm>
            <a:custGeom>
              <a:avLst/>
              <a:gdLst/>
              <a:ahLst/>
              <a:cxnLst/>
              <a:rect l="l" t="t" r="r" b="b"/>
              <a:pathLst>
                <a:path w="7048800" h="1166319">
                  <a:moveTo>
                    <a:pt x="0" y="0"/>
                  </a:moveTo>
                  <a:lnTo>
                    <a:pt x="7048800" y="0"/>
                  </a:lnTo>
                  <a:lnTo>
                    <a:pt x="7048800" y="1166319"/>
                  </a:lnTo>
                  <a:lnTo>
                    <a:pt x="0" y="1166319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7048800" cy="11472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140700" y="3262857"/>
            <a:ext cx="3365500" cy="2483664"/>
            <a:chOff x="0" y="0"/>
            <a:chExt cx="1329580" cy="9812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29580" cy="981201"/>
            </a:xfrm>
            <a:custGeom>
              <a:avLst/>
              <a:gdLst/>
              <a:ahLst/>
              <a:cxnLst/>
              <a:rect l="l" t="t" r="r" b="b"/>
              <a:pathLst>
                <a:path w="1329580" h="981201">
                  <a:moveTo>
                    <a:pt x="0" y="0"/>
                  </a:moveTo>
                  <a:lnTo>
                    <a:pt x="1329580" y="0"/>
                  </a:lnTo>
                  <a:lnTo>
                    <a:pt x="1329580" y="981201"/>
                  </a:lnTo>
                  <a:lnTo>
                    <a:pt x="0" y="98120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329580" cy="96215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553450" y="4644813"/>
            <a:ext cx="2540000" cy="643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fr-FR" sz="1400" i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Ingrédients certifiés bio et moins de 2,5 g de sucres pour 100 ml.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9285829" y="4490580"/>
            <a:ext cx="107867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8553450" y="4020679"/>
            <a:ext cx="2540000" cy="691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fr-FR" sz="1999" b="1" spc="99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NATUREL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413250" y="3262857"/>
            <a:ext cx="3365500" cy="2483664"/>
            <a:chOff x="0" y="0"/>
            <a:chExt cx="1329580" cy="9812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29580" cy="981201"/>
            </a:xfrm>
            <a:custGeom>
              <a:avLst/>
              <a:gdLst/>
              <a:ahLst/>
              <a:cxnLst/>
              <a:rect l="l" t="t" r="r" b="b"/>
              <a:pathLst>
                <a:path w="1329580" h="981201">
                  <a:moveTo>
                    <a:pt x="0" y="0"/>
                  </a:moveTo>
                  <a:lnTo>
                    <a:pt x="1329580" y="0"/>
                  </a:lnTo>
                  <a:lnTo>
                    <a:pt x="1329580" y="981201"/>
                  </a:lnTo>
                  <a:lnTo>
                    <a:pt x="0" y="98120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1329580" cy="96215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26000" y="4644813"/>
            <a:ext cx="2540000" cy="8619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fr-FR" sz="1400" i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Sur l'immunité, seule la vitamine C porte une allégation autorisée par l'UE.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5556661" y="4490580"/>
            <a:ext cx="107867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Box 16"/>
          <p:cNvSpPr txBox="1"/>
          <p:nvPr/>
        </p:nvSpPr>
        <p:spPr>
          <a:xfrm>
            <a:off x="4826000" y="4020679"/>
            <a:ext cx="2540000" cy="691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fr-FR" sz="1999" b="1" spc="99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PREUVE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85800" y="3262857"/>
            <a:ext cx="3365500" cy="2483664"/>
            <a:chOff x="0" y="0"/>
            <a:chExt cx="1329580" cy="98120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29580" cy="981201"/>
            </a:xfrm>
            <a:custGeom>
              <a:avLst/>
              <a:gdLst/>
              <a:ahLst/>
              <a:cxnLst/>
              <a:rect l="l" t="t" r="r" b="b"/>
              <a:pathLst>
                <a:path w="1329580" h="981201">
                  <a:moveTo>
                    <a:pt x="0" y="0"/>
                  </a:moveTo>
                  <a:lnTo>
                    <a:pt x="1329580" y="0"/>
                  </a:lnTo>
                  <a:lnTo>
                    <a:pt x="1329580" y="981201"/>
                  </a:lnTo>
                  <a:lnTo>
                    <a:pt x="0" y="98120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1329580" cy="96215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98550" y="4644813"/>
            <a:ext cx="2540000" cy="643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fr-FR" sz="1400" i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40 mg de caféine au plus par canette, associés à la L-théanine du thé.</a:t>
            </a:r>
          </a:p>
        </p:txBody>
      </p:sp>
      <p:sp>
        <p:nvSpPr>
          <p:cNvPr id="21" name="AutoShape 21"/>
          <p:cNvSpPr/>
          <p:nvPr/>
        </p:nvSpPr>
        <p:spPr>
          <a:xfrm flipV="1">
            <a:off x="1829211" y="4490580"/>
            <a:ext cx="107867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Box 22"/>
          <p:cNvSpPr txBox="1"/>
          <p:nvPr/>
        </p:nvSpPr>
        <p:spPr>
          <a:xfrm>
            <a:off x="1098550" y="4020679"/>
            <a:ext cx="2540000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fr-FR" sz="1999" b="1" u="none" strike="noStrike" spc="99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ÉNERGIE DOUCE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5800" y="1980009"/>
            <a:ext cx="5251450" cy="958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Les 16-25 ans cherchent un coup de fouet pour réviser ou faire du sport. </a:t>
            </a: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Leafakin vise la même occasion de consommation, avec une dose de caféine divisée par deux.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54750" y="1980009"/>
            <a:ext cx="5251450" cy="715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Chaque ingrédient doit passer les trois règles, de la recette à l'étiquette. </a:t>
            </a: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 ingrédient sans preuve ou sans allégation autorisée est écarté.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Box 26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 produit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8500" y="1410728"/>
            <a:ext cx="10795000" cy="480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TROIS RÈGLES DE FORMULATION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9 | 23</a:t>
            </a:r>
          </a:p>
        </p:txBody>
      </p:sp>
      <p:sp>
        <p:nvSpPr>
          <p:cNvPr id="950" name="Rule Disc 1"/>
          <p:cNvSpPr/>
          <p:nvPr/>
        </p:nvSpPr>
        <p:spPr>
          <a:xfrm>
            <a:off x="2089150" y="3454400"/>
            <a:ext cx="558800" cy="558800"/>
          </a:xfrm>
          <a:prstGeom prst="ellipse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1" name="Rule Disc 2"/>
          <p:cNvSpPr/>
          <p:nvPr/>
        </p:nvSpPr>
        <p:spPr>
          <a:xfrm>
            <a:off x="5822950" y="3454400"/>
            <a:ext cx="558800" cy="558800"/>
          </a:xfrm>
          <a:prstGeom prst="ellipse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2" name="Rule Disc 3"/>
          <p:cNvSpPr/>
          <p:nvPr/>
        </p:nvSpPr>
        <p:spPr>
          <a:xfrm>
            <a:off x="9544050" y="3454400"/>
            <a:ext cx="558800" cy="558800"/>
          </a:xfrm>
          <a:prstGeom prst="ellipse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53" name="Graphic 953" descr="Énergie dou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3450" y="3568700"/>
            <a:ext cx="330200" cy="330200"/>
          </a:xfrm>
          <a:prstGeom prst="rect">
            <a:avLst/>
          </a:prstGeom>
        </p:spPr>
      </p:pic>
      <p:pic>
        <p:nvPicPr>
          <p:cNvPr id="954" name="Graphic 954" descr="Preuv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7250" y="3568700"/>
            <a:ext cx="330200" cy="330200"/>
          </a:xfrm>
          <a:prstGeom prst="rect">
            <a:avLst/>
          </a:prstGeom>
        </p:spPr>
      </p:pic>
      <p:pic>
        <p:nvPicPr>
          <p:cNvPr id="955" name="Graphic 955" descr="Nature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8350" y="3568700"/>
            <a:ext cx="3302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61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10 | 23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3454400"/>
            <a:ext cx="5251450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Dose inspirée de Giesbrecht et al. (2010) : 40 mg de caféine et 97 mg de L-théanine ont amélioré l'attention de 44 jeunes adultes.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2540000"/>
            <a:ext cx="5251450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Une canette standard apporte 80 mg de caféine, certaines marques jusqu'à 160 mg. </a:t>
            </a: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Leafakin vise 40 mg, soit un tiers de la limite EFSA pour un adolescent de 40 kg.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8500" y="1410728"/>
            <a:ext cx="5238750" cy="948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DEUX FOIS MOINS DE CAFÉINE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3" name="AutoShape 13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 produit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sp>
        <p:nvSpPr>
          <p:cNvPr id="70" name="Danger band"/>
          <p:cNvSpPr/>
          <p:nvPr/>
        </p:nvSpPr>
        <p:spPr>
          <a:xfrm>
            <a:off x="6451600" y="2540000"/>
            <a:ext cx="4914900" cy="972820"/>
          </a:xfrm>
          <a:prstGeom prst="rect">
            <a:avLst/>
          </a:prstGeom>
          <a:solidFill>
            <a:srgbClr val="FBEA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" name="Chart"/>
          <p:cNvGraphicFramePr/>
          <p:nvPr/>
        </p:nvGraphicFramePr>
        <p:xfrm>
          <a:off x="6350000" y="1651000"/>
          <a:ext cx="51435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Chart label">
            <a:extLst>
              <a:ext uri="{FF2B5EF4-FFF2-40B4-BE49-F238E27FC236}">
                <a16:creationId xmlns:a16="http://schemas.microsoft.com/office/drawing/2014/main" id="{8807D032-D2B1-45E1-ABE0-6969C543EFA7}"/>
              </a:ext>
            </a:extLst>
          </p:cNvPr>
          <p:cNvSpPr txBox="1"/>
          <p:nvPr/>
        </p:nvSpPr>
        <p:spPr>
          <a:xfrm>
            <a:off x="6350000" y="2159000"/>
            <a:ext cx="5143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b="1">
                <a:solidFill>
                  <a:srgbClr val="1A1A1A"/>
                </a:solidFill>
                <a:latin typeface="Montserrat"/>
              </a:rPr>
              <a:t>Caféine par canette de 250 ml</a:t>
            </a:r>
          </a:p>
        </p:txBody>
      </p:sp>
      <p:sp>
        <p:nvSpPr>
          <p:cNvPr id="22" name="Source">
            <a:extLst>
              <a:ext uri="{FF2B5EF4-FFF2-40B4-BE49-F238E27FC236}">
                <a16:creationId xmlns:a16="http://schemas.microsoft.com/office/drawing/2014/main" id="{058BA39F-E53F-4983-9343-1D7DC5D7E34B}"/>
              </a:ext>
            </a:extLst>
          </p:cNvPr>
          <p:cNvSpPr txBox="1"/>
          <p:nvPr/>
        </p:nvSpPr>
        <p:spPr>
          <a:xfrm>
            <a:off x="698500" y="59436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100">
                <a:solidFill>
                  <a:srgbClr val="595959"/>
                </a:solidFill>
                <a:latin typeface="Montserrat"/>
              </a:rPr>
              <a:t>Sources : ANSES (2013) ; EFSA (2015) ; Giesbrecht et al. (2010). Valeur Leafakin : cible de formulation.</a:t>
            </a:r>
          </a:p>
        </p:txBody>
      </p:sp>
      <p:cxnSp>
        <p:nvCxnSpPr>
          <p:cNvPr id="61" name="EFSA limit line"/>
          <p:cNvCxnSpPr/>
          <p:nvPr/>
        </p:nvCxnSpPr>
        <p:spPr>
          <a:xfrm>
            <a:off x="6451600" y="3512820"/>
            <a:ext cx="4914900" cy="0"/>
          </a:xfrm>
          <a:prstGeom prst="line">
            <a:avLst/>
          </a:prstGeom>
          <a:ln w="25400">
            <a:solidFill>
              <a:srgbClr val="9E2139"/>
            </a:solidFill>
          </a:ln>
        </p:spPr>
      </p:cxnSp>
      <p:sp>
        <p:nvSpPr>
          <p:cNvPr id="62" name="EFSA limit label"/>
          <p:cNvSpPr txBox="1"/>
          <p:nvPr/>
        </p:nvSpPr>
        <p:spPr>
          <a:xfrm>
            <a:off x="7620000" y="3238500"/>
            <a:ext cx="3708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r"/>
            <a:r>
              <a:rPr lang="fr-FR" sz="1200" b="1" dirty="0">
                <a:solidFill>
                  <a:srgbClr val="9E2139"/>
                </a:solidFill>
                <a:latin typeface="Montserrat"/>
                <a:ea typeface="Montserrat"/>
                <a:cs typeface="Montserrat"/>
              </a:rPr>
              <a:t>Limite EFSA, ado de 40 kg : 120 mg</a:t>
            </a:r>
          </a:p>
        </p:txBody>
      </p:sp>
      <p:sp>
        <p:nvSpPr>
          <p:cNvPr id="63" name="Stat tile"/>
          <p:cNvSpPr/>
          <p:nvPr/>
        </p:nvSpPr>
        <p:spPr>
          <a:xfrm>
            <a:off x="685800" y="4343400"/>
            <a:ext cx="2540000" cy="1320800"/>
          </a:xfrm>
          <a:prstGeom prst="rect">
            <a:avLst/>
          </a:prstGeom>
          <a:solidFill>
            <a:srgbClr val="C32D4B"/>
          </a:solidFill>
          <a:ln>
            <a:noFill/>
          </a:ln>
        </p:spPr>
        <p:txBody>
          <a:bodyPr wrap="square" lIns="177800" tIns="0" rIns="177800" bIns="0" anchor="ctr">
            <a:noAutofit/>
          </a:bodyPr>
          <a:lstStyle/>
          <a:p>
            <a:r>
              <a:rPr lang="fr-FR" sz="3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40 mg</a:t>
            </a:r>
          </a:p>
          <a:p>
            <a:r>
              <a:rPr lang="fr-FR" sz="130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par canette : moitié moins qu'une canette standard</a:t>
            </a:r>
          </a:p>
        </p:txBody>
      </p:sp>
      <p:sp>
        <p:nvSpPr>
          <p:cNvPr id="64" name="Stat tile"/>
          <p:cNvSpPr/>
          <p:nvPr/>
        </p:nvSpPr>
        <p:spPr>
          <a:xfrm>
            <a:off x="3403600" y="4343400"/>
            <a:ext cx="2540000" cy="1320800"/>
          </a:xfrm>
          <a:prstGeom prst="rect">
            <a:avLst/>
          </a:prstGeom>
          <a:solidFill>
            <a:srgbClr val="FBEAED"/>
          </a:solidFill>
          <a:ln>
            <a:noFill/>
          </a:ln>
        </p:spPr>
        <p:txBody>
          <a:bodyPr wrap="square" lIns="177800" tIns="0" rIns="177800" bIns="0" anchor="ctr">
            <a:noAutofit/>
          </a:bodyPr>
          <a:lstStyle/>
          <a:p>
            <a:r>
              <a:rPr lang="fr-FR" sz="32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97 mg</a:t>
            </a:r>
          </a:p>
          <a:p>
            <a:r>
              <a:rPr lang="fr-FR" sz="1300" dirty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de L-théanine, dose testée en 2010</a:t>
            </a:r>
          </a:p>
        </p:txBody>
      </p:sp>
      <p:sp>
        <p:nvSpPr>
          <p:cNvPr id="71" name="Danger band label"/>
          <p:cNvSpPr txBox="1"/>
          <p:nvPr/>
        </p:nvSpPr>
        <p:spPr>
          <a:xfrm>
            <a:off x="8001000" y="2616200"/>
            <a:ext cx="3327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fr-FR" sz="1200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Trop de caféine pour un ado</a:t>
            </a:r>
          </a:p>
        </p:txBody>
      </p:sp>
    </p:spTree>
    <p:extLst>
      <p:ext uri="{BB962C8B-B14F-4D97-AF65-F5344CB8AC3E}">
        <p14:creationId xmlns:p14="http://schemas.microsoft.com/office/powerpoint/2010/main" val="3942314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7327547" h="9201921">
                <a:moveTo>
                  <a:pt x="17327548" y="0"/>
                </a:moveTo>
                <a:lnTo>
                  <a:pt x="0" y="0"/>
                </a:lnTo>
                <a:lnTo>
                  <a:pt x="0" y="9201922"/>
                </a:lnTo>
                <a:lnTo>
                  <a:pt x="17327548" y="9201922"/>
                </a:lnTo>
                <a:lnTo>
                  <a:pt x="17327548" y="0"/>
                </a:lnTo>
                <a:close/>
              </a:path>
            </a:pathLst>
          </a:custGeom>
          <a:solidFill>
            <a:srgbClr val="C32D4B"/>
          </a:solidFill>
        </p:spPr>
        <p:txBody>
          <a:bodyPr/>
          <a:lstStyle/>
          <a:p>
            <a:endParaRPr lang="fr-FR"/>
          </a:p>
        </p:txBody>
      </p:sp>
      <p:sp>
        <p:nvSpPr>
          <p:cNvPr id="901" name="Deco Circle Big"/>
          <p:cNvSpPr/>
          <p:nvPr/>
        </p:nvSpPr>
        <p:spPr>
          <a:xfrm>
            <a:off x="7112000" y="-1524000"/>
            <a:ext cx="7112000" cy="71120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Deco Triangle"/>
          <p:cNvSpPr/>
          <p:nvPr/>
        </p:nvSpPr>
        <p:spPr>
          <a:xfrm>
            <a:off x="0" y="5080000"/>
            <a:ext cx="5334000" cy="1778000"/>
          </a:xfrm>
          <a:prstGeom prst="rtTriangle">
            <a:avLst/>
          </a:prstGeom>
          <a:solidFill>
            <a:srgbClr val="9E213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Icon Disc"/>
          <p:cNvSpPr/>
          <p:nvPr/>
        </p:nvSpPr>
        <p:spPr>
          <a:xfrm>
            <a:off x="7874000" y="1397000"/>
            <a:ext cx="3683000" cy="3683000"/>
          </a:xfrm>
          <a:prstGeom prst="ellipse">
            <a:avLst/>
          </a:prstGeom>
          <a:solidFill>
            <a:srgbClr val="9E213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11 | 23</a:t>
            </a:r>
          </a:p>
        </p:txBody>
      </p:sp>
      <p:sp>
        <p:nvSpPr>
          <p:cNvPr id="904" name="Section Number"/>
          <p:cNvSpPr txBox="1"/>
          <p:nvPr/>
        </p:nvSpPr>
        <p:spPr>
          <a:xfrm>
            <a:off x="609600" y="762000"/>
            <a:ext cx="6096000" cy="2667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80000"/>
              </a:lnSpc>
            </a:pPr>
            <a:r>
              <a:rPr lang="fr-FR" sz="20000" b="1" dirty="0">
                <a:solidFill>
                  <a:srgbClr val="FFFFFF">
                    <a:alpha val="35000"/>
                  </a:srgbClr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905" name="Section Title"/>
          <p:cNvSpPr txBox="1"/>
          <p:nvPr/>
        </p:nvSpPr>
        <p:spPr>
          <a:xfrm>
            <a:off x="698500" y="3619500"/>
            <a:ext cx="6604000" cy="215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fr-FR" sz="4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LES PREUVES</a:t>
            </a:r>
          </a:p>
          <a:p>
            <a:pPr algn="l">
              <a:spcBef>
                <a:spcPts val="1400"/>
              </a:spcBef>
            </a:pPr>
            <a:r>
              <a:rPr lang="fr-FR" sz="2000" dirty="0">
                <a:solidFill>
                  <a:srgbClr val="FFE4EA"/>
                </a:solidFill>
                <a:latin typeface="Montserrat"/>
                <a:ea typeface="Montserrat"/>
                <a:cs typeface="Montserrat"/>
              </a:rPr>
              <a:t>Ce que la science confirme, et ce qu'elle ne dit pas encore.</a:t>
            </a:r>
          </a:p>
        </p:txBody>
      </p:sp>
      <p:pic>
        <p:nvPicPr>
          <p:cNvPr id="906" name="Graphic 906" descr="Microscop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3000" y="22860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856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Row 1"/>
          <p:cNvSpPr/>
          <p:nvPr/>
        </p:nvSpPr>
        <p:spPr>
          <a:xfrm>
            <a:off x="698500" y="2032000"/>
            <a:ext cx="10795000" cy="635000"/>
          </a:xfrm>
          <a:prstGeom prst="rect">
            <a:avLst/>
          </a:prstGeom>
          <a:solidFill>
            <a:srgbClr val="FBEA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1" name="Row Bar 1"/>
          <p:cNvSpPr/>
          <p:nvPr/>
        </p:nvSpPr>
        <p:spPr>
          <a:xfrm>
            <a:off x="698500" y="2032000"/>
            <a:ext cx="76200" cy="635000"/>
          </a:xfrm>
          <a:prstGeom prst="rect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3" name="Row 2"/>
          <p:cNvSpPr/>
          <p:nvPr/>
        </p:nvSpPr>
        <p:spPr>
          <a:xfrm>
            <a:off x="698500" y="2768600"/>
            <a:ext cx="10795000" cy="635000"/>
          </a:xfrm>
          <a:prstGeom prst="rect">
            <a:avLst/>
          </a:prstGeom>
          <a:solidFill>
            <a:srgbClr val="FBEAE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4" name="Row Bar 2"/>
          <p:cNvSpPr/>
          <p:nvPr/>
        </p:nvSpPr>
        <p:spPr>
          <a:xfrm>
            <a:off x="698500" y="2768600"/>
            <a:ext cx="76200" cy="635000"/>
          </a:xfrm>
          <a:prstGeom prst="rect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6" name="Row 3"/>
          <p:cNvSpPr/>
          <p:nvPr/>
        </p:nvSpPr>
        <p:spPr>
          <a:xfrm>
            <a:off x="698500" y="3505200"/>
            <a:ext cx="10795000" cy="63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7" name="Row Bar 3"/>
          <p:cNvSpPr/>
          <p:nvPr/>
        </p:nvSpPr>
        <p:spPr>
          <a:xfrm>
            <a:off x="698500" y="3505200"/>
            <a:ext cx="76200" cy="635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9" name="Row 4"/>
          <p:cNvSpPr/>
          <p:nvPr/>
        </p:nvSpPr>
        <p:spPr>
          <a:xfrm>
            <a:off x="698500" y="4241800"/>
            <a:ext cx="10795000" cy="63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0" name="Row Bar 4"/>
          <p:cNvSpPr/>
          <p:nvPr/>
        </p:nvSpPr>
        <p:spPr>
          <a:xfrm>
            <a:off x="698500" y="4241800"/>
            <a:ext cx="76200" cy="635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2" name="Row 5"/>
          <p:cNvSpPr/>
          <p:nvPr/>
        </p:nvSpPr>
        <p:spPr>
          <a:xfrm>
            <a:off x="698500" y="4978400"/>
            <a:ext cx="10795000" cy="63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3" name="Row Bar 5"/>
          <p:cNvSpPr/>
          <p:nvPr/>
        </p:nvSpPr>
        <p:spPr>
          <a:xfrm>
            <a:off x="698500" y="4978400"/>
            <a:ext cx="76200" cy="635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12 | 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05000" y="4978400"/>
            <a:ext cx="7112000" cy="635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Bio.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Garantit le mode de production, pas un effet santé : c'est un argument de choix, pas une preuve clinique.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4978400"/>
            <a:ext cx="914400" cy="635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spcBef>
                <a:spcPct val="0"/>
              </a:spcBef>
            </a:pPr>
            <a:r>
              <a:rPr lang="en-US" sz="3200" b="1">
                <a:solidFill>
                  <a:srgbClr val="A6A6A6"/>
                </a:solidFill>
                <a:latin typeface="Montserrat"/>
                <a:ea typeface="Montserrat"/>
                <a:cs typeface="Montserrat"/>
              </a:rPr>
              <a:t>05.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05000" y="4241800"/>
            <a:ext cx="7112000" cy="635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Échinacée.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Aucun effet préventif significatif sur le rhume dans 24 essais (Cochrane, 2014) : écartée de la formule.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4241800"/>
            <a:ext cx="914400" cy="635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spcBef>
                <a:spcPct val="0"/>
              </a:spcBef>
            </a:pPr>
            <a:r>
              <a:rPr lang="en-US" sz="3200" b="1">
                <a:solidFill>
                  <a:srgbClr val="A6A6A6"/>
                </a:solidFill>
                <a:latin typeface="Montserrat"/>
                <a:ea typeface="Montserrat"/>
                <a:cs typeface="Montserrat"/>
              </a:rPr>
              <a:t>04.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05000" y="3505200"/>
            <a:ext cx="7112000" cy="635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Chlorophylle.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Antioxydante en laboratoire, sans toxicité connue, mais peu d'essais chez l'humain (Linus Pauling Institute, 2022).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3505200"/>
            <a:ext cx="914400" cy="635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spcBef>
                <a:spcPct val="0"/>
              </a:spcBef>
            </a:pPr>
            <a:r>
              <a:rPr lang="en-US" sz="3200" b="1">
                <a:solidFill>
                  <a:srgbClr val="A6A6A6"/>
                </a:solidFill>
                <a:latin typeface="Montserrat"/>
                <a:ea typeface="Montserrat"/>
                <a:cs typeface="Montserrat"/>
              </a:rPr>
              <a:t>03.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05000" y="2768600"/>
            <a:ext cx="7112000" cy="635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Vitamine C.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« Contribue au fonctionnement normal du système immunitaire » : allégation autorisée (Règl. UE 432/2012).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2768600"/>
            <a:ext cx="914400" cy="635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spcBef>
                <a:spcPct val="0"/>
              </a:spcBef>
            </a:pPr>
            <a:r>
              <a:rPr lang="en-US" sz="3200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02.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05000" y="2032000"/>
            <a:ext cx="7112000" cy="635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Thé et L-théanine.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40 mg de caféine et 97 mg de L-théanine améliorent l'attention (Giesbrecht et al., 2010 ; n = 44).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" y="2032000"/>
            <a:ext cx="914400" cy="63500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spcBef>
                <a:spcPct val="0"/>
              </a:spcBef>
            </a:pPr>
            <a:r>
              <a:rPr lang="en-US" sz="3200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01.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8500" y="1410728"/>
            <a:ext cx="10795000" cy="480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DEUX EFFETS PROUVÉS, TROIS À CONFIRMER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20" name="AutoShape 20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Box 21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Les preuves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sp>
        <p:nvSpPr>
          <p:cNvPr id="802" name="Status 1"/>
          <p:cNvSpPr/>
          <p:nvPr/>
        </p:nvSpPr>
        <p:spPr>
          <a:xfrm>
            <a:off x="9169400" y="2171700"/>
            <a:ext cx="2159000" cy="355600"/>
          </a:xfrm>
          <a:prstGeom prst="roundRect">
            <a:avLst>
              <a:gd name="adj" fmla="val 50000"/>
            </a:avLst>
          </a:prstGeom>
          <a:solidFill>
            <a:srgbClr val="C32D4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fr-FR" sz="1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PROUVÉ</a:t>
            </a:r>
          </a:p>
        </p:txBody>
      </p:sp>
      <p:sp>
        <p:nvSpPr>
          <p:cNvPr id="805" name="Status 2"/>
          <p:cNvSpPr/>
          <p:nvPr/>
        </p:nvSpPr>
        <p:spPr>
          <a:xfrm>
            <a:off x="9169400" y="2908300"/>
            <a:ext cx="2159000" cy="355600"/>
          </a:xfrm>
          <a:prstGeom prst="roundRect">
            <a:avLst>
              <a:gd name="adj" fmla="val 50000"/>
            </a:avLst>
          </a:prstGeom>
          <a:solidFill>
            <a:srgbClr val="C32D4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fr-FR" sz="1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PROUVÉ</a:t>
            </a:r>
          </a:p>
        </p:txBody>
      </p:sp>
      <p:sp>
        <p:nvSpPr>
          <p:cNvPr id="808" name="Status 3"/>
          <p:cNvSpPr/>
          <p:nvPr/>
        </p:nvSpPr>
        <p:spPr>
          <a:xfrm>
            <a:off x="9169400" y="3644900"/>
            <a:ext cx="2159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32D4B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fr-FR" sz="12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À CONFIRMER</a:t>
            </a:r>
          </a:p>
        </p:txBody>
      </p:sp>
      <p:sp>
        <p:nvSpPr>
          <p:cNvPr id="811" name="Status 4"/>
          <p:cNvSpPr/>
          <p:nvPr/>
        </p:nvSpPr>
        <p:spPr>
          <a:xfrm>
            <a:off x="9169400" y="4381500"/>
            <a:ext cx="2159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F7F7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fr-FR" sz="12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</a:rPr>
              <a:t>ÉCARTÉ</a:t>
            </a:r>
          </a:p>
        </p:txBody>
      </p:sp>
      <p:sp>
        <p:nvSpPr>
          <p:cNvPr id="814" name="Status 5"/>
          <p:cNvSpPr/>
          <p:nvPr/>
        </p:nvSpPr>
        <p:spPr>
          <a:xfrm>
            <a:off x="9169400" y="5118100"/>
            <a:ext cx="2159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7F7F7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fr-FR" sz="1200" b="1" dirty="0">
                <a:solidFill>
                  <a:srgbClr val="595959"/>
                </a:solidFill>
                <a:latin typeface="Montserrat"/>
                <a:ea typeface="Montserrat"/>
                <a:cs typeface="Montserrat"/>
              </a:rPr>
              <a:t>ARGUMENT DE CHOIX</a:t>
            </a:r>
          </a:p>
        </p:txBody>
      </p:sp>
    </p:spTree>
    <p:extLst>
      <p:ext uri="{BB962C8B-B14F-4D97-AF65-F5344CB8AC3E}">
        <p14:creationId xmlns:p14="http://schemas.microsoft.com/office/powerpoint/2010/main" val="744402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13 | 23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254750" y="3625569"/>
            <a:ext cx="6065229" cy="1858275"/>
            <a:chOff x="0" y="0"/>
            <a:chExt cx="1283246" cy="3931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3246" cy="393163"/>
            </a:xfrm>
            <a:custGeom>
              <a:avLst/>
              <a:gdLst/>
              <a:ahLst/>
              <a:cxnLst/>
              <a:rect l="l" t="t" r="r" b="b"/>
              <a:pathLst>
                <a:path w="1283246" h="393163">
                  <a:moveTo>
                    <a:pt x="0" y="0"/>
                  </a:moveTo>
                  <a:lnTo>
                    <a:pt x="1283246" y="0"/>
                  </a:lnTo>
                  <a:lnTo>
                    <a:pt x="1283246" y="393163"/>
                  </a:lnTo>
                  <a:lnTo>
                    <a:pt x="0" y="393163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1283246" cy="374113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609984" y="3713321"/>
            <a:ext cx="4883516" cy="15081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spcBef>
                <a:spcPct val="0"/>
              </a:spcBef>
            </a:pPr>
            <a:r>
              <a:rPr lang="fr-FR" sz="66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« Booste »</a:t>
            </a:r>
          </a:p>
          <a:p>
            <a:pPr marL="0" lvl="0" indent="0" algn="l">
              <a:spcBef>
                <a:spcPct val="0"/>
              </a:spcBef>
            </a:pPr>
            <a:r>
              <a:rPr lang="fr-FR" sz="1600" b="0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l'immunité : formule non autorisée sur l'étiquette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254750" y="1555659"/>
            <a:ext cx="5937250" cy="1858275"/>
            <a:chOff x="0" y="0"/>
            <a:chExt cx="1256169" cy="3931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6169" cy="393163"/>
            </a:xfrm>
            <a:custGeom>
              <a:avLst/>
              <a:gdLst/>
              <a:ahLst/>
              <a:cxnLst/>
              <a:rect l="l" t="t" r="r" b="b"/>
              <a:pathLst>
                <a:path w="1256169" h="393163">
                  <a:moveTo>
                    <a:pt x="0" y="0"/>
                  </a:moveTo>
                  <a:lnTo>
                    <a:pt x="1256169" y="0"/>
                  </a:lnTo>
                  <a:lnTo>
                    <a:pt x="1256169" y="393163"/>
                  </a:lnTo>
                  <a:lnTo>
                    <a:pt x="0" y="393163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1256169" cy="374113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609984" y="1643411"/>
            <a:ext cx="488351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spcBef>
                <a:spcPct val="0"/>
              </a:spcBef>
            </a:pPr>
            <a:r>
              <a:rPr lang="fr-FR" sz="8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 sur 89</a:t>
            </a:r>
          </a:p>
          <a:p>
            <a:pPr marL="0" lvl="0" indent="0" algn="l">
              <a:spcBef>
                <a:spcPct val="0"/>
              </a:spcBef>
            </a:pPr>
            <a:r>
              <a:rPr lang="fr-FR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dossiers d'allégations spécifiques acceptés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8500" y="4993328"/>
            <a:ext cx="5238750" cy="470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884" lvl="1" indent="-143943" algn="l">
              <a:lnSpc>
                <a:spcPts val="1867"/>
              </a:lnSpc>
              <a:buFont typeface="Arial"/>
              <a:buChar char="•"/>
            </a:pPr>
            <a:r>
              <a:rPr lang="fr-FR" sz="14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Aucune promesse médicale. </a:t>
            </a: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« Guérit », « traite » ou « prévient une maladie » sont interdits sur un aliment.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3720012"/>
            <a:ext cx="5238750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884" lvl="1" indent="-143943" algn="l">
              <a:lnSpc>
                <a:spcPts val="1867"/>
              </a:lnSpc>
              <a:buFont typeface="Arial"/>
              <a:buChar char="•"/>
            </a:pPr>
            <a:r>
              <a:rPr lang="fr-FR" sz="14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Plantes en attente. </a:t>
            </a: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Les allégations sur les plantes attendent toujours leur évaluation par l'EFSA, d'où un risque juridique.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8500" y="2446697"/>
            <a:ext cx="5238750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884" lvl="1" indent="-143943" algn="l">
              <a:lnSpc>
                <a:spcPts val="1867"/>
              </a:lnSpc>
              <a:buFont typeface="Arial"/>
              <a:buChar char="•"/>
            </a:pPr>
            <a:r>
              <a:rPr lang="fr-FR" sz="14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Liste fermée. </a:t>
            </a: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Une allégation santé n'est permise que si elle figure sur la liste de l'UE (Règl. 1924/2006 et 432/2012).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8500" y="1410728"/>
            <a:ext cx="5238750" cy="948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SEULE LA VITAMINE C PARLE D'IMMUNITÉ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21" name="AutoShape 21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Box 22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Les preuves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sp>
        <p:nvSpPr>
          <p:cNvPr id="24" name="Source">
            <a:extLst>
              <a:ext uri="{FF2B5EF4-FFF2-40B4-BE49-F238E27FC236}">
                <a16:creationId xmlns:a16="http://schemas.microsoft.com/office/drawing/2014/main" id="{F8DEC636-E15D-48BC-A4B0-15EBA4F785AA}"/>
              </a:ext>
            </a:extLst>
          </p:cNvPr>
          <p:cNvSpPr txBox="1"/>
          <p:nvPr/>
        </p:nvSpPr>
        <p:spPr>
          <a:xfrm>
            <a:off x="698500" y="5943600"/>
            <a:ext cx="91440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5E5E5E"/>
                </a:solidFill>
                <a:latin typeface="Montserrat"/>
              </a:rPr>
              <a:t>Sources : Règlements (CE) 1924/2006 et (UE) 432/2012 ; Assemblée nationale, réponse ministérielle (dossiers évalués).</a:t>
            </a:r>
          </a:p>
        </p:txBody>
      </p:sp>
    </p:spTree>
    <p:extLst>
      <p:ext uri="{BB962C8B-B14F-4D97-AF65-F5344CB8AC3E}">
        <p14:creationId xmlns:p14="http://schemas.microsoft.com/office/powerpoint/2010/main" val="4000593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7365967" h="9201921">
                <a:moveTo>
                  <a:pt x="0" y="0"/>
                </a:moveTo>
                <a:lnTo>
                  <a:pt x="17365968" y="0"/>
                </a:lnTo>
                <a:lnTo>
                  <a:pt x="17365968" y="9201922"/>
                </a:lnTo>
                <a:lnTo>
                  <a:pt x="0" y="9201922"/>
                </a:lnTo>
                <a:lnTo>
                  <a:pt x="0" y="0"/>
                </a:lnTo>
                <a:close/>
              </a:path>
            </a:pathLst>
          </a:custGeom>
          <a:solidFill>
            <a:srgbClr val="C32D4B"/>
          </a:solidFill>
        </p:spPr>
        <p:txBody>
          <a:bodyPr/>
          <a:lstStyle/>
          <a:p>
            <a:endParaRPr lang="fr-FR"/>
          </a:p>
        </p:txBody>
      </p:sp>
      <p:sp>
        <p:nvSpPr>
          <p:cNvPr id="901" name="Deco Circle Big"/>
          <p:cNvSpPr/>
          <p:nvPr/>
        </p:nvSpPr>
        <p:spPr>
          <a:xfrm>
            <a:off x="7112000" y="-1524000"/>
            <a:ext cx="7112000" cy="71120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Deco Triangle"/>
          <p:cNvSpPr/>
          <p:nvPr/>
        </p:nvSpPr>
        <p:spPr>
          <a:xfrm>
            <a:off x="0" y="5080000"/>
            <a:ext cx="5334000" cy="1778000"/>
          </a:xfrm>
          <a:prstGeom prst="rtTriangle">
            <a:avLst/>
          </a:prstGeom>
          <a:solidFill>
            <a:srgbClr val="9E213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Icon Disc"/>
          <p:cNvSpPr/>
          <p:nvPr/>
        </p:nvSpPr>
        <p:spPr>
          <a:xfrm>
            <a:off x="7874000" y="1397000"/>
            <a:ext cx="3683000" cy="3683000"/>
          </a:xfrm>
          <a:prstGeom prst="ellipse">
            <a:avLst/>
          </a:prstGeom>
          <a:solidFill>
            <a:srgbClr val="9E213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14 | 23</a:t>
            </a:r>
          </a:p>
        </p:txBody>
      </p:sp>
      <p:sp>
        <p:nvSpPr>
          <p:cNvPr id="904" name="Section Number"/>
          <p:cNvSpPr txBox="1"/>
          <p:nvPr/>
        </p:nvSpPr>
        <p:spPr>
          <a:xfrm>
            <a:off x="609600" y="762000"/>
            <a:ext cx="6096000" cy="2667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80000"/>
              </a:lnSpc>
            </a:pPr>
            <a:r>
              <a:rPr lang="fr-FR" sz="20000" b="1" dirty="0">
                <a:solidFill>
                  <a:srgbClr val="FFFFFF">
                    <a:alpha val="35000"/>
                  </a:srgbClr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905" name="Section Title"/>
          <p:cNvSpPr txBox="1"/>
          <p:nvPr/>
        </p:nvSpPr>
        <p:spPr>
          <a:xfrm>
            <a:off x="698500" y="3619500"/>
            <a:ext cx="6604000" cy="215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fr-FR" sz="4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MARCHÉ ET LANCEMENT</a:t>
            </a:r>
          </a:p>
          <a:p>
            <a:pPr algn="l">
              <a:spcBef>
                <a:spcPts val="1400"/>
              </a:spcBef>
            </a:pPr>
            <a:r>
              <a:rPr lang="fr-FR" sz="2000" dirty="0">
                <a:solidFill>
                  <a:srgbClr val="FFE4EA"/>
                </a:solidFill>
                <a:latin typeface="Montserrat"/>
                <a:ea typeface="Montserrat"/>
                <a:cs typeface="Montserrat"/>
              </a:rPr>
              <a:t>Un marché bio en reprise et une vente pilote dans 10 magasins en 2027.</a:t>
            </a:r>
          </a:p>
        </p:txBody>
      </p:sp>
      <p:pic>
        <p:nvPicPr>
          <p:cNvPr id="906" name="Graphic 906" descr="Fusé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3000" y="2286000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771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640509"/>
            <a:ext cx="12192000" cy="3217491"/>
            <a:chOff x="0" y="0"/>
            <a:chExt cx="2579512" cy="6807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79512" cy="680738"/>
            </a:xfrm>
            <a:custGeom>
              <a:avLst/>
              <a:gdLst/>
              <a:ahLst/>
              <a:cxnLst/>
              <a:rect l="l" t="t" r="r" b="b"/>
              <a:pathLst>
                <a:path w="2579512" h="680738">
                  <a:moveTo>
                    <a:pt x="0" y="0"/>
                  </a:moveTo>
                  <a:lnTo>
                    <a:pt x="2579512" y="0"/>
                  </a:lnTo>
                  <a:lnTo>
                    <a:pt x="2579512" y="680738"/>
                  </a:lnTo>
                  <a:lnTo>
                    <a:pt x="0" y="680738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579512" cy="661688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15 | 23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12274" y="2990466"/>
            <a:ext cx="2993926" cy="1536753"/>
            <a:chOff x="0" y="0"/>
            <a:chExt cx="633437" cy="3251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3437" cy="325137"/>
            </a:xfrm>
            <a:custGeom>
              <a:avLst/>
              <a:gdLst/>
              <a:ahLst/>
              <a:cxnLst/>
              <a:rect l="l" t="t" r="r" b="b"/>
              <a:pathLst>
                <a:path w="633437" h="325137">
                  <a:moveTo>
                    <a:pt x="0" y="0"/>
                  </a:moveTo>
                  <a:lnTo>
                    <a:pt x="633437" y="0"/>
                  </a:lnTo>
                  <a:lnTo>
                    <a:pt x="633437" y="325137"/>
                  </a:lnTo>
                  <a:lnTo>
                    <a:pt x="0" y="325137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633437" cy="306087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8724045" y="1664928"/>
            <a:ext cx="2570384" cy="2651075"/>
          </a:xfrm>
          <a:custGeom>
            <a:avLst/>
            <a:gdLst/>
            <a:ahLst/>
            <a:cxnLst/>
            <a:rect l="l" t="t" r="r" b="b"/>
            <a:pathLst>
              <a:path w="3855576" h="3976612">
                <a:moveTo>
                  <a:pt x="0" y="0"/>
                </a:moveTo>
                <a:lnTo>
                  <a:pt x="3855577" y="0"/>
                </a:lnTo>
                <a:lnTo>
                  <a:pt x="3855577" y="3976612"/>
                </a:lnTo>
                <a:lnTo>
                  <a:pt x="0" y="3976612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8524974" y="5082784"/>
            <a:ext cx="2968526" cy="519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ventes des magasins bio</a:t>
            </a:r>
          </a:p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en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2274" y="4754761"/>
            <a:ext cx="2993926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2B0A09"/>
                </a:solidFill>
                <a:latin typeface="Montserrat"/>
                <a:ea typeface="Montserrat"/>
                <a:cs typeface="Montserrat"/>
              </a:rPr>
              <a:t>+8,5 %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605388" y="2990466"/>
            <a:ext cx="2993926" cy="1536753"/>
            <a:chOff x="0" y="0"/>
            <a:chExt cx="633437" cy="3251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3437" cy="325137"/>
            </a:xfrm>
            <a:custGeom>
              <a:avLst/>
              <a:gdLst/>
              <a:ahLst/>
              <a:cxnLst/>
              <a:rect l="l" t="t" r="r" b="b"/>
              <a:pathLst>
                <a:path w="633437" h="325137">
                  <a:moveTo>
                    <a:pt x="0" y="0"/>
                  </a:moveTo>
                  <a:lnTo>
                    <a:pt x="633437" y="0"/>
                  </a:lnTo>
                  <a:lnTo>
                    <a:pt x="633437" y="325137"/>
                  </a:lnTo>
                  <a:lnTo>
                    <a:pt x="0" y="325137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19050"/>
              <a:ext cx="633437" cy="306087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8" name="Freeform 18"/>
          <p:cNvSpPr/>
          <p:nvPr/>
        </p:nvSpPr>
        <p:spPr>
          <a:xfrm>
            <a:off x="4816652" y="1664928"/>
            <a:ext cx="2571397" cy="2651075"/>
          </a:xfrm>
          <a:custGeom>
            <a:avLst/>
            <a:gdLst/>
            <a:ahLst/>
            <a:cxnLst/>
            <a:rect l="l" t="t" r="r" b="b"/>
            <a:pathLst>
              <a:path w="3857096" h="3976612">
                <a:moveTo>
                  <a:pt x="0" y="0"/>
                </a:moveTo>
                <a:lnTo>
                  <a:pt x="3857096" y="0"/>
                </a:lnTo>
                <a:lnTo>
                  <a:pt x="3857096" y="3976612"/>
                </a:lnTo>
                <a:lnTo>
                  <a:pt x="0" y="3976612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4605388" y="5082784"/>
            <a:ext cx="2993926" cy="519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des Français consomment bio</a:t>
            </a:r>
          </a:p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chaque mois, +5 points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05426" y="4754761"/>
            <a:ext cx="2993850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2B0A09"/>
                </a:solidFill>
                <a:latin typeface="Montserrat"/>
                <a:ea typeface="Montserrat"/>
                <a:cs typeface="Montserrat"/>
              </a:rPr>
              <a:t>59 %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98500" y="2990466"/>
            <a:ext cx="2993926" cy="1536753"/>
            <a:chOff x="0" y="0"/>
            <a:chExt cx="633437" cy="32513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3437" cy="325137"/>
            </a:xfrm>
            <a:custGeom>
              <a:avLst/>
              <a:gdLst/>
              <a:ahLst/>
              <a:cxnLst/>
              <a:rect l="l" t="t" r="r" b="b"/>
              <a:pathLst>
                <a:path w="633437" h="325137">
                  <a:moveTo>
                    <a:pt x="0" y="0"/>
                  </a:moveTo>
                  <a:lnTo>
                    <a:pt x="633437" y="0"/>
                  </a:lnTo>
                  <a:lnTo>
                    <a:pt x="633437" y="325137"/>
                  </a:lnTo>
                  <a:lnTo>
                    <a:pt x="0" y="325137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19050"/>
              <a:ext cx="633437" cy="306087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911352" y="1664928"/>
            <a:ext cx="2568222" cy="2651075"/>
          </a:xfrm>
          <a:custGeom>
            <a:avLst/>
            <a:gdLst/>
            <a:ahLst/>
            <a:cxnLst/>
            <a:rect l="l" t="t" r="r" b="b"/>
            <a:pathLst>
              <a:path w="3852333" h="3976612">
                <a:moveTo>
                  <a:pt x="0" y="0"/>
                </a:moveTo>
                <a:lnTo>
                  <a:pt x="3852333" y="0"/>
                </a:lnTo>
                <a:lnTo>
                  <a:pt x="3852333" y="3976612"/>
                </a:lnTo>
                <a:lnTo>
                  <a:pt x="0" y="3976612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Box 25"/>
          <p:cNvSpPr txBox="1"/>
          <p:nvPr/>
        </p:nvSpPr>
        <p:spPr>
          <a:xfrm>
            <a:off x="698500" y="5082784"/>
            <a:ext cx="2993926" cy="519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marché bio français en 2025</a:t>
            </a:r>
          </a:p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+3,6 % en un an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8500" y="4754761"/>
            <a:ext cx="2993926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2B0A09"/>
                </a:solidFill>
                <a:latin typeface="Montserrat"/>
                <a:ea typeface="Montserrat"/>
                <a:cs typeface="Montserrat"/>
              </a:rPr>
              <a:t>12,6 Md€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Marché · trois signaux favorables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pic>
        <p:nvPicPr>
          <p:cNvPr id="30" name="Graphic 30" descr="Croissance du marché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5600" y="2413000"/>
            <a:ext cx="1143000" cy="1143000"/>
          </a:xfrm>
          <a:prstGeom prst="rect">
            <a:avLst/>
          </a:prstGeom>
        </p:spPr>
      </p:pic>
      <p:pic>
        <p:nvPicPr>
          <p:cNvPr id="31" name="Graphic 31" descr="Consommateurs bi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500" y="2413000"/>
            <a:ext cx="1143000" cy="1143000"/>
          </a:xfrm>
          <a:prstGeom prst="rect">
            <a:avLst/>
          </a:prstGeom>
        </p:spPr>
      </p:pic>
      <p:pic>
        <p:nvPicPr>
          <p:cNvPr id="32" name="Graphic 32" descr="Magasins bi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6100" y="2413000"/>
            <a:ext cx="1143000" cy="1143000"/>
          </a:xfrm>
          <a:prstGeom prst="rect">
            <a:avLst/>
          </a:prstGeom>
        </p:spPr>
      </p:pic>
      <p:sp>
        <p:nvSpPr>
          <p:cNvPr id="33" name="Source">
            <a:extLst>
              <a:ext uri="{FF2B5EF4-FFF2-40B4-BE49-F238E27FC236}">
                <a16:creationId xmlns:a16="http://schemas.microsoft.com/office/drawing/2014/main" id="{81C72334-9335-4D1B-8BCB-AB5339A8D589}"/>
              </a:ext>
            </a:extLst>
          </p:cNvPr>
          <p:cNvSpPr txBox="1"/>
          <p:nvPr/>
        </p:nvSpPr>
        <p:spPr>
          <a:xfrm>
            <a:off x="698500" y="59436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100">
                <a:solidFill>
                  <a:srgbClr val="5E5E5E"/>
                </a:solidFill>
                <a:latin typeface="Montserrat"/>
              </a:rPr>
              <a:t>Source : Agence Bio, chiffres du marché 2025 (juin 2026) et Baromètre de consommation 2026.</a:t>
            </a:r>
          </a:p>
        </p:txBody>
      </p:sp>
    </p:spTree>
    <p:extLst>
      <p:ext uri="{BB962C8B-B14F-4D97-AF65-F5344CB8AC3E}">
        <p14:creationId xmlns:p14="http://schemas.microsoft.com/office/powerpoint/2010/main" val="1422403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640509"/>
            <a:ext cx="12192000" cy="3217491"/>
            <a:chOff x="0" y="0"/>
            <a:chExt cx="2579512" cy="6807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79512" cy="680738"/>
            </a:xfrm>
            <a:custGeom>
              <a:avLst/>
              <a:gdLst/>
              <a:ahLst/>
              <a:cxnLst/>
              <a:rect l="l" t="t" r="r" b="b"/>
              <a:pathLst>
                <a:path w="2579512" h="680738">
                  <a:moveTo>
                    <a:pt x="0" y="0"/>
                  </a:moveTo>
                  <a:lnTo>
                    <a:pt x="2579512" y="0"/>
                  </a:lnTo>
                  <a:lnTo>
                    <a:pt x="2579512" y="680738"/>
                  </a:lnTo>
                  <a:lnTo>
                    <a:pt x="0" y="680738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579512" cy="661688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16 | 23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12274" y="2990466"/>
            <a:ext cx="2993926" cy="1536753"/>
            <a:chOff x="0" y="0"/>
            <a:chExt cx="633437" cy="3251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3437" cy="325137"/>
            </a:xfrm>
            <a:custGeom>
              <a:avLst/>
              <a:gdLst/>
              <a:ahLst/>
              <a:cxnLst/>
              <a:rect l="l" t="t" r="r" b="b"/>
              <a:pathLst>
                <a:path w="633437" h="325137">
                  <a:moveTo>
                    <a:pt x="0" y="0"/>
                  </a:moveTo>
                  <a:lnTo>
                    <a:pt x="633437" y="0"/>
                  </a:lnTo>
                  <a:lnTo>
                    <a:pt x="633437" y="325137"/>
                  </a:lnTo>
                  <a:lnTo>
                    <a:pt x="0" y="325137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633437" cy="306087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8735963" y="1664928"/>
            <a:ext cx="2558466" cy="2651075"/>
          </a:xfrm>
          <a:custGeom>
            <a:avLst/>
            <a:gdLst/>
            <a:ahLst/>
            <a:cxnLst/>
            <a:rect l="l" t="t" r="r" b="b"/>
            <a:pathLst>
              <a:path w="3837699" h="3976612">
                <a:moveTo>
                  <a:pt x="0" y="0"/>
                </a:moveTo>
                <a:lnTo>
                  <a:pt x="3837700" y="0"/>
                </a:lnTo>
                <a:lnTo>
                  <a:pt x="3837700" y="3976612"/>
                </a:lnTo>
                <a:lnTo>
                  <a:pt x="0" y="3976612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8524974" y="5082784"/>
            <a:ext cx="2968526" cy="519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Marketing</a:t>
            </a:r>
          </a:p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Marque et lancement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2274" y="4754761"/>
            <a:ext cx="2993926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2B0A09"/>
                </a:solidFill>
                <a:latin typeface="Montserrat"/>
                <a:ea typeface="Montserrat"/>
                <a:cs typeface="Montserrat"/>
              </a:rPr>
              <a:t>[Prénom Nom]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605388" y="2990466"/>
            <a:ext cx="2993926" cy="1536753"/>
            <a:chOff x="0" y="0"/>
            <a:chExt cx="633437" cy="3251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3437" cy="325137"/>
            </a:xfrm>
            <a:custGeom>
              <a:avLst/>
              <a:gdLst/>
              <a:ahLst/>
              <a:cxnLst/>
              <a:rect l="l" t="t" r="r" b="b"/>
              <a:pathLst>
                <a:path w="633437" h="325137">
                  <a:moveTo>
                    <a:pt x="0" y="0"/>
                  </a:moveTo>
                  <a:lnTo>
                    <a:pt x="633437" y="0"/>
                  </a:lnTo>
                  <a:lnTo>
                    <a:pt x="633437" y="325137"/>
                  </a:lnTo>
                  <a:lnTo>
                    <a:pt x="0" y="325137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19050"/>
              <a:ext cx="633437" cy="306087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8" name="Freeform 18"/>
          <p:cNvSpPr/>
          <p:nvPr/>
        </p:nvSpPr>
        <p:spPr>
          <a:xfrm>
            <a:off x="4816652" y="1664928"/>
            <a:ext cx="2571397" cy="2651075"/>
          </a:xfrm>
          <a:custGeom>
            <a:avLst/>
            <a:gdLst/>
            <a:ahLst/>
            <a:cxnLst/>
            <a:rect l="l" t="t" r="r" b="b"/>
            <a:pathLst>
              <a:path w="3857096" h="3976612">
                <a:moveTo>
                  <a:pt x="0" y="0"/>
                </a:moveTo>
                <a:lnTo>
                  <a:pt x="3857096" y="0"/>
                </a:lnTo>
                <a:lnTo>
                  <a:pt x="3857096" y="3976612"/>
                </a:lnTo>
                <a:lnTo>
                  <a:pt x="0" y="3976612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4605388" y="5082784"/>
            <a:ext cx="2993926" cy="519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Affaires réglementaires</a:t>
            </a:r>
          </a:p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Étiquetage et allégations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05426" y="4754761"/>
            <a:ext cx="2993850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2B0A09"/>
                </a:solidFill>
                <a:latin typeface="Montserrat"/>
                <a:ea typeface="Montserrat"/>
                <a:cs typeface="Montserrat"/>
              </a:rPr>
              <a:t>[Prénom Nom]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98500" y="2990466"/>
            <a:ext cx="2993926" cy="1536753"/>
            <a:chOff x="0" y="0"/>
            <a:chExt cx="633437" cy="32513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3437" cy="325137"/>
            </a:xfrm>
            <a:custGeom>
              <a:avLst/>
              <a:gdLst/>
              <a:ahLst/>
              <a:cxnLst/>
              <a:rect l="l" t="t" r="r" b="b"/>
              <a:pathLst>
                <a:path w="633437" h="325137">
                  <a:moveTo>
                    <a:pt x="0" y="0"/>
                  </a:moveTo>
                  <a:lnTo>
                    <a:pt x="633437" y="0"/>
                  </a:lnTo>
                  <a:lnTo>
                    <a:pt x="633437" y="325137"/>
                  </a:lnTo>
                  <a:lnTo>
                    <a:pt x="0" y="325137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19050"/>
              <a:ext cx="633437" cy="306087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911352" y="1664928"/>
            <a:ext cx="2557385" cy="2651075"/>
          </a:xfrm>
          <a:custGeom>
            <a:avLst/>
            <a:gdLst/>
            <a:ahLst/>
            <a:cxnLst/>
            <a:rect l="l" t="t" r="r" b="b"/>
            <a:pathLst>
              <a:path w="3836078" h="3976612">
                <a:moveTo>
                  <a:pt x="0" y="0"/>
                </a:moveTo>
                <a:lnTo>
                  <a:pt x="3836078" y="0"/>
                </a:lnTo>
                <a:lnTo>
                  <a:pt x="3836078" y="3976612"/>
                </a:lnTo>
                <a:lnTo>
                  <a:pt x="0" y="3976612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Box 25"/>
          <p:cNvSpPr txBox="1"/>
          <p:nvPr/>
        </p:nvSpPr>
        <p:spPr>
          <a:xfrm>
            <a:off x="698500" y="5082784"/>
            <a:ext cx="2993926" cy="519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Formulation et R&amp;D</a:t>
            </a:r>
          </a:p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Recette et tests sensoriels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8500" y="4754761"/>
            <a:ext cx="2993926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2B0A09"/>
                </a:solidFill>
                <a:latin typeface="Montserrat"/>
                <a:ea typeface="Montserrat"/>
                <a:cs typeface="Montserrat"/>
              </a:rPr>
              <a:t>[Prénom Nom]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L'équipe projet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pic>
        <p:nvPicPr>
          <p:cNvPr id="30" name="Graphic 30" descr="Formul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5600" y="2413000"/>
            <a:ext cx="1143000" cy="1143000"/>
          </a:xfrm>
          <a:prstGeom prst="rect">
            <a:avLst/>
          </a:prstGeom>
        </p:spPr>
      </p:pic>
      <p:pic>
        <p:nvPicPr>
          <p:cNvPr id="31" name="Graphic 31" descr="Réglement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500" y="2413000"/>
            <a:ext cx="1143000" cy="1143000"/>
          </a:xfrm>
          <a:prstGeom prst="rect">
            <a:avLst/>
          </a:prstGeom>
        </p:spPr>
      </p:pic>
      <p:pic>
        <p:nvPicPr>
          <p:cNvPr id="32" name="Graphic 32" descr="Market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6100" y="241300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416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17 | 23</a:t>
            </a:r>
          </a:p>
        </p:txBody>
      </p:sp>
      <p:sp>
        <p:nvSpPr>
          <p:cNvPr id="50" name="AutoShape 50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Box 51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Planning de lancement 2027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sp>
        <p:nvSpPr>
          <p:cNvPr id="1101" name="Slide Title"/>
          <p:cNvSpPr txBox="1"/>
          <p:nvPr/>
        </p:nvSpPr>
        <p:spPr>
          <a:xfrm>
            <a:off x="698500" y="1409700"/>
            <a:ext cx="1079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CINQ ÉTAPES JUSQU'AU BILAN DE NOVEMBRE</a:t>
            </a:r>
          </a:p>
        </p:txBody>
      </p:sp>
      <p:sp>
        <p:nvSpPr>
          <p:cNvPr id="1102" name="Title Bar"/>
          <p:cNvSpPr/>
          <p:nvPr/>
        </p:nvSpPr>
        <p:spPr>
          <a:xfrm>
            <a:off x="0" y="1479550"/>
            <a:ext cx="553720" cy="294640"/>
          </a:xfrm>
          <a:prstGeom prst="rect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3" name="Track"/>
          <p:cNvSpPr/>
          <p:nvPr/>
        </p:nvSpPr>
        <p:spPr>
          <a:xfrm>
            <a:off x="1778000" y="3124200"/>
            <a:ext cx="9715500" cy="0"/>
          </a:xfrm>
          <a:prstGeom prst="line">
            <a:avLst/>
          </a:prstGeom>
          <a:noFill/>
          <a:ln w="38100">
            <a:solidFill>
              <a:srgbClr val="C32D4B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04" name="Month 1"/>
          <p:cNvSpPr txBox="1"/>
          <p:nvPr/>
        </p:nvSpPr>
        <p:spPr>
          <a:xfrm>
            <a:off x="762000" y="2133600"/>
            <a:ext cx="203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fr-FR" sz="18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JANVIER</a:t>
            </a:r>
          </a:p>
        </p:txBody>
      </p:sp>
      <p:sp>
        <p:nvSpPr>
          <p:cNvPr id="1105" name="Step Disc 1"/>
          <p:cNvSpPr/>
          <p:nvPr/>
        </p:nvSpPr>
        <p:spPr>
          <a:xfrm>
            <a:off x="1397000" y="2743200"/>
            <a:ext cx="762000" cy="762000"/>
          </a:xfrm>
          <a:prstGeom prst="ellipse">
            <a:avLst/>
          </a:prstGeom>
          <a:solidFill>
            <a:srgbClr val="C32D4B"/>
          </a:solidFill>
          <a:ln w="508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6" name="Step Card 1"/>
          <p:cNvSpPr/>
          <p:nvPr/>
        </p:nvSpPr>
        <p:spPr>
          <a:xfrm>
            <a:off x="787400" y="3733800"/>
            <a:ext cx="1981200" cy="132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7000" tIns="177800" rIns="127000" bIns="0" anchor="t">
            <a:noAutofit/>
          </a:bodyPr>
          <a:lstStyle/>
          <a:p>
            <a:pPr algn="ctr"/>
            <a:r>
              <a:rPr lang="fr-FR" sz="11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ÉTAPE 1</a:t>
            </a:r>
          </a:p>
          <a:p>
            <a:pPr algn="ctr"/>
            <a:r>
              <a:rPr lang="fr-FR" sz="1400" dirty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Formule finale et choix des fournisseurs bio</a:t>
            </a:r>
          </a:p>
        </p:txBody>
      </p:sp>
      <p:sp>
        <p:nvSpPr>
          <p:cNvPr id="1107" name="Card Strip 1"/>
          <p:cNvSpPr/>
          <p:nvPr/>
        </p:nvSpPr>
        <p:spPr>
          <a:xfrm>
            <a:off x="787400" y="3733800"/>
            <a:ext cx="1981200" cy="50800"/>
          </a:xfrm>
          <a:prstGeom prst="rect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8" name="Month 2"/>
          <p:cNvSpPr txBox="1"/>
          <p:nvPr/>
        </p:nvSpPr>
        <p:spPr>
          <a:xfrm>
            <a:off x="2921000" y="2133600"/>
            <a:ext cx="203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fr-FR" sz="18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MARS</a:t>
            </a:r>
          </a:p>
        </p:txBody>
      </p:sp>
      <p:sp>
        <p:nvSpPr>
          <p:cNvPr id="1109" name="Step Disc 2"/>
          <p:cNvSpPr/>
          <p:nvPr/>
        </p:nvSpPr>
        <p:spPr>
          <a:xfrm>
            <a:off x="3556000" y="2743200"/>
            <a:ext cx="762000" cy="762000"/>
          </a:xfrm>
          <a:prstGeom prst="ellipse">
            <a:avLst/>
          </a:prstGeom>
          <a:solidFill>
            <a:srgbClr val="C32D4B"/>
          </a:solidFill>
          <a:ln w="508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0" name="Step Card 2"/>
          <p:cNvSpPr/>
          <p:nvPr/>
        </p:nvSpPr>
        <p:spPr>
          <a:xfrm>
            <a:off x="2946400" y="3733800"/>
            <a:ext cx="1981200" cy="132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7000" tIns="177800" rIns="127000" bIns="0" anchor="t">
            <a:noAutofit/>
          </a:bodyPr>
          <a:lstStyle/>
          <a:p>
            <a:pPr algn="ctr"/>
            <a:r>
              <a:rPr lang="fr-FR" sz="11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ÉTAPE 2</a:t>
            </a:r>
          </a:p>
          <a:p>
            <a:pPr algn="ctr"/>
            <a:r>
              <a:rPr lang="fr-FR" sz="1400" dirty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Tests de goût auprès de 100 étudiants</a:t>
            </a:r>
          </a:p>
        </p:txBody>
      </p:sp>
      <p:sp>
        <p:nvSpPr>
          <p:cNvPr id="1111" name="Card Strip 2"/>
          <p:cNvSpPr/>
          <p:nvPr/>
        </p:nvSpPr>
        <p:spPr>
          <a:xfrm>
            <a:off x="2946400" y="3733800"/>
            <a:ext cx="1981200" cy="50800"/>
          </a:xfrm>
          <a:prstGeom prst="rect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2" name="Month 3"/>
          <p:cNvSpPr txBox="1"/>
          <p:nvPr/>
        </p:nvSpPr>
        <p:spPr>
          <a:xfrm>
            <a:off x="5080000" y="2133600"/>
            <a:ext cx="203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fr-FR" sz="18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JUIN</a:t>
            </a:r>
          </a:p>
        </p:txBody>
      </p:sp>
      <p:sp>
        <p:nvSpPr>
          <p:cNvPr id="1113" name="Step Disc 3"/>
          <p:cNvSpPr/>
          <p:nvPr/>
        </p:nvSpPr>
        <p:spPr>
          <a:xfrm>
            <a:off x="5715000" y="2743200"/>
            <a:ext cx="762000" cy="762000"/>
          </a:xfrm>
          <a:prstGeom prst="ellipse">
            <a:avLst/>
          </a:prstGeom>
          <a:solidFill>
            <a:srgbClr val="C32D4B"/>
          </a:solidFill>
          <a:ln w="508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4" name="Step Card 3"/>
          <p:cNvSpPr/>
          <p:nvPr/>
        </p:nvSpPr>
        <p:spPr>
          <a:xfrm>
            <a:off x="5105400" y="3733800"/>
            <a:ext cx="1981200" cy="132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7000" tIns="177800" rIns="127000" bIns="0" anchor="t">
            <a:noAutofit/>
          </a:bodyPr>
          <a:lstStyle/>
          <a:p>
            <a:pPr algn="ctr"/>
            <a:r>
              <a:rPr lang="fr-FR" sz="11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ÉTAPE 3</a:t>
            </a:r>
          </a:p>
          <a:p>
            <a:pPr algn="ctr"/>
            <a:r>
              <a:rPr lang="fr-FR" sz="1400" dirty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Certification bio et validation de l'étiquette</a:t>
            </a:r>
          </a:p>
        </p:txBody>
      </p:sp>
      <p:sp>
        <p:nvSpPr>
          <p:cNvPr id="1115" name="Card Strip 3"/>
          <p:cNvSpPr/>
          <p:nvPr/>
        </p:nvSpPr>
        <p:spPr>
          <a:xfrm>
            <a:off x="5105400" y="3733800"/>
            <a:ext cx="1981200" cy="50800"/>
          </a:xfrm>
          <a:prstGeom prst="rect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6" name="Month 4"/>
          <p:cNvSpPr txBox="1"/>
          <p:nvPr/>
        </p:nvSpPr>
        <p:spPr>
          <a:xfrm>
            <a:off x="7239000" y="2133600"/>
            <a:ext cx="203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fr-FR" sz="18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SEPTEMBRE</a:t>
            </a:r>
          </a:p>
        </p:txBody>
      </p:sp>
      <p:sp>
        <p:nvSpPr>
          <p:cNvPr id="1117" name="Step Disc 4"/>
          <p:cNvSpPr/>
          <p:nvPr/>
        </p:nvSpPr>
        <p:spPr>
          <a:xfrm>
            <a:off x="7874000" y="2743200"/>
            <a:ext cx="762000" cy="762000"/>
          </a:xfrm>
          <a:prstGeom prst="ellipse">
            <a:avLst/>
          </a:prstGeom>
          <a:solidFill>
            <a:srgbClr val="9E2139"/>
          </a:solidFill>
          <a:ln w="508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8" name="Step Card 4"/>
          <p:cNvSpPr/>
          <p:nvPr/>
        </p:nvSpPr>
        <p:spPr>
          <a:xfrm>
            <a:off x="7264400" y="3733800"/>
            <a:ext cx="1981200" cy="132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7000" tIns="177800" rIns="127000" bIns="0" anchor="t">
            <a:noAutofit/>
          </a:bodyPr>
          <a:lstStyle/>
          <a:p>
            <a:pPr algn="ctr"/>
            <a:r>
              <a:rPr lang="fr-FR" sz="11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ÉTAPE 4</a:t>
            </a:r>
          </a:p>
          <a:p>
            <a:pPr algn="ctr"/>
            <a:r>
              <a:rPr lang="fr-FR" sz="1400" dirty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Vente pilote dans 10 magasins bio</a:t>
            </a:r>
          </a:p>
        </p:txBody>
      </p:sp>
      <p:sp>
        <p:nvSpPr>
          <p:cNvPr id="1119" name="Card Strip 4"/>
          <p:cNvSpPr/>
          <p:nvPr/>
        </p:nvSpPr>
        <p:spPr>
          <a:xfrm>
            <a:off x="7264400" y="3733800"/>
            <a:ext cx="1981200" cy="50800"/>
          </a:xfrm>
          <a:prstGeom prst="rect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0" name="Month 5"/>
          <p:cNvSpPr txBox="1"/>
          <p:nvPr/>
        </p:nvSpPr>
        <p:spPr>
          <a:xfrm>
            <a:off x="9398000" y="2133600"/>
            <a:ext cx="203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fr-FR" sz="18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NOVEMBRE</a:t>
            </a:r>
          </a:p>
        </p:txBody>
      </p:sp>
      <p:sp>
        <p:nvSpPr>
          <p:cNvPr id="1121" name="Step Disc 5"/>
          <p:cNvSpPr/>
          <p:nvPr/>
        </p:nvSpPr>
        <p:spPr>
          <a:xfrm>
            <a:off x="10033000" y="2743200"/>
            <a:ext cx="762000" cy="762000"/>
          </a:xfrm>
          <a:prstGeom prst="ellipse">
            <a:avLst/>
          </a:prstGeom>
          <a:solidFill>
            <a:srgbClr val="C32D4B"/>
          </a:solidFill>
          <a:ln w="508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2" name="Step Card 5"/>
          <p:cNvSpPr/>
          <p:nvPr/>
        </p:nvSpPr>
        <p:spPr>
          <a:xfrm>
            <a:off x="9423400" y="3733800"/>
            <a:ext cx="1981200" cy="1320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27000" tIns="177800" rIns="127000" bIns="0" anchor="t">
            <a:noAutofit/>
          </a:bodyPr>
          <a:lstStyle/>
          <a:p>
            <a:pPr algn="ctr"/>
            <a:r>
              <a:rPr lang="fr-FR" sz="11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ÉTAPE 5</a:t>
            </a:r>
          </a:p>
          <a:p>
            <a:pPr algn="ctr"/>
            <a:r>
              <a:rPr lang="fr-FR" sz="1400" dirty="0">
                <a:solidFill>
                  <a:srgbClr val="404040"/>
                </a:solidFill>
                <a:latin typeface="Montserrat"/>
                <a:ea typeface="Montserrat"/>
                <a:cs typeface="Montserrat"/>
              </a:rPr>
              <a:t>Bilan des ventes et décision d'extension</a:t>
            </a:r>
          </a:p>
        </p:txBody>
      </p:sp>
      <p:sp>
        <p:nvSpPr>
          <p:cNvPr id="1123" name="Card Strip 5"/>
          <p:cNvSpPr/>
          <p:nvPr/>
        </p:nvSpPr>
        <p:spPr>
          <a:xfrm>
            <a:off x="9423400" y="3733800"/>
            <a:ext cx="1981200" cy="50800"/>
          </a:xfrm>
          <a:prstGeom prst="rect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4" name="Phase Prep"/>
          <p:cNvSpPr/>
          <p:nvPr/>
        </p:nvSpPr>
        <p:spPr>
          <a:xfrm>
            <a:off x="698500" y="5156200"/>
            <a:ext cx="6350000" cy="330200"/>
          </a:xfrm>
          <a:prstGeom prst="rect">
            <a:avLst/>
          </a:prstGeom>
          <a:solidFill>
            <a:srgbClr val="FBEAE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fr-FR" sz="12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PRÉPARER LE PRODUIT · JANVIER–JUIN</a:t>
            </a:r>
          </a:p>
        </p:txBody>
      </p:sp>
      <p:sp>
        <p:nvSpPr>
          <p:cNvPr id="1125" name="Phase Test"/>
          <p:cNvSpPr/>
          <p:nvPr/>
        </p:nvSpPr>
        <p:spPr>
          <a:xfrm>
            <a:off x="7175500" y="5156200"/>
            <a:ext cx="4318000" cy="330200"/>
          </a:xfrm>
          <a:prstGeom prst="homePlate">
            <a:avLst/>
          </a:prstGeom>
          <a:solidFill>
            <a:srgbClr val="C32D4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fr-FR" sz="1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TESTER EN MAGASIN · SEPT.–NOV.</a:t>
            </a:r>
          </a:p>
        </p:txBody>
      </p:sp>
      <p:pic>
        <p:nvPicPr>
          <p:cNvPr id="1126" name="Graphic 1126" descr="Formu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74800" y="2921000"/>
            <a:ext cx="406400" cy="406400"/>
          </a:xfrm>
          <a:prstGeom prst="rect">
            <a:avLst/>
          </a:prstGeom>
        </p:spPr>
      </p:pic>
      <p:pic>
        <p:nvPicPr>
          <p:cNvPr id="1127" name="Graphic 1127" descr="Tests de goû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3800" y="2921000"/>
            <a:ext cx="406400" cy="406400"/>
          </a:xfrm>
          <a:prstGeom prst="rect">
            <a:avLst/>
          </a:prstGeom>
        </p:spPr>
      </p:pic>
      <p:pic>
        <p:nvPicPr>
          <p:cNvPr id="1128" name="Graphic 1128" descr="Certification bi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2800" y="2921000"/>
            <a:ext cx="406400" cy="406400"/>
          </a:xfrm>
          <a:prstGeom prst="rect">
            <a:avLst/>
          </a:prstGeom>
        </p:spPr>
      </p:pic>
      <p:pic>
        <p:nvPicPr>
          <p:cNvPr id="1129" name="Graphic 1129" descr="Vente pilo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51800" y="2921000"/>
            <a:ext cx="406400" cy="406400"/>
          </a:xfrm>
          <a:prstGeom prst="rect">
            <a:avLst/>
          </a:prstGeom>
        </p:spPr>
      </p:pic>
      <p:pic>
        <p:nvPicPr>
          <p:cNvPr id="1130" name="Graphic 1130" descr="Bila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10800" y="29210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232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Limit Card 1"/>
          <p:cNvSpPr/>
          <p:nvPr/>
        </p:nvSpPr>
        <p:spPr>
          <a:xfrm>
            <a:off x="698500" y="2819400"/>
            <a:ext cx="3454400" cy="2235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1" name="Limit Card Top 1"/>
          <p:cNvSpPr/>
          <p:nvPr/>
        </p:nvSpPr>
        <p:spPr>
          <a:xfrm>
            <a:off x="698500" y="2819400"/>
            <a:ext cx="3454400" cy="76200"/>
          </a:xfrm>
          <a:prstGeom prst="rect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4" name="Limit Card 2"/>
          <p:cNvSpPr/>
          <p:nvPr/>
        </p:nvSpPr>
        <p:spPr>
          <a:xfrm>
            <a:off x="4368800" y="2819400"/>
            <a:ext cx="3454400" cy="2235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5" name="Limit Card Top 2"/>
          <p:cNvSpPr/>
          <p:nvPr/>
        </p:nvSpPr>
        <p:spPr>
          <a:xfrm>
            <a:off x="4368800" y="2819400"/>
            <a:ext cx="3454400" cy="76200"/>
          </a:xfrm>
          <a:prstGeom prst="rect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8" name="Limit Card 3"/>
          <p:cNvSpPr/>
          <p:nvPr/>
        </p:nvSpPr>
        <p:spPr>
          <a:xfrm>
            <a:off x="8039100" y="2819400"/>
            <a:ext cx="3454400" cy="2235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9" name="Limit Card Top 3"/>
          <p:cNvSpPr/>
          <p:nvPr/>
        </p:nvSpPr>
        <p:spPr>
          <a:xfrm>
            <a:off x="8039100" y="2819400"/>
            <a:ext cx="3454400" cy="76200"/>
          </a:xfrm>
          <a:prstGeom prst="rect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en-US" sz="2000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18 | 23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5308600"/>
            <a:ext cx="8890000" cy="254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 détail des réponses aux questions probables du jury figure en annexe B.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8500" y="2032000"/>
            <a:ext cx="10795000" cy="508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Leafakin s'appuie sur des études menées sur chaque ingrédient, </a:t>
            </a: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pas encore sur un essai de la boisson complète.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 Les chiffres du produit restent des cibles de formulation.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8500" y="1409700"/>
            <a:ext cx="10795000" cy="508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TROIS LIMITES À LEVER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4" name="AutoShape 14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Discussion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sp>
        <p:nvSpPr>
          <p:cNvPr id="882" name="Limit Disc 1"/>
          <p:cNvSpPr/>
          <p:nvPr/>
        </p:nvSpPr>
        <p:spPr>
          <a:xfrm>
            <a:off x="927100" y="3098800"/>
            <a:ext cx="609600" cy="609600"/>
          </a:xfrm>
          <a:prstGeom prst="ellipse">
            <a:avLst/>
          </a:prstGeom>
          <a:solidFill>
            <a:srgbClr val="C32D4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fr-FR" sz="1200"/>
          </a:p>
        </p:txBody>
      </p:sp>
      <p:sp>
        <p:nvSpPr>
          <p:cNvPr id="883" name="Limit Text 1"/>
          <p:cNvSpPr txBox="1"/>
          <p:nvPr/>
        </p:nvSpPr>
        <p:spPr>
          <a:xfrm>
            <a:off x="927100" y="3860800"/>
            <a:ext cx="2997200" cy="1092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fr-FR" sz="16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Efficacité</a:t>
            </a:r>
          </a:p>
          <a:p>
            <a:pPr>
              <a:spcBef>
                <a:spcPts val="400"/>
              </a:spcBef>
            </a:pP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 test en double aveugle contre placebo est prévu sur 60 étudiants.</a:t>
            </a:r>
          </a:p>
        </p:txBody>
      </p:sp>
      <p:sp>
        <p:nvSpPr>
          <p:cNvPr id="886" name="Limit Disc 2"/>
          <p:cNvSpPr/>
          <p:nvPr/>
        </p:nvSpPr>
        <p:spPr>
          <a:xfrm>
            <a:off x="4597400" y="3098800"/>
            <a:ext cx="609600" cy="609600"/>
          </a:xfrm>
          <a:prstGeom prst="ellipse">
            <a:avLst/>
          </a:prstGeom>
          <a:solidFill>
            <a:srgbClr val="C32D4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endParaRPr lang="fr-FR" sz="1200"/>
          </a:p>
        </p:txBody>
      </p:sp>
      <p:sp>
        <p:nvSpPr>
          <p:cNvPr id="887" name="Limit Text 2"/>
          <p:cNvSpPr txBox="1"/>
          <p:nvPr/>
        </p:nvSpPr>
        <p:spPr>
          <a:xfrm>
            <a:off x="4597400" y="3860800"/>
            <a:ext cx="2997200" cy="1092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fr-FR" sz="16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Chlorophylle</a:t>
            </a:r>
          </a:p>
          <a:p>
            <a:pPr>
              <a:spcBef>
                <a:spcPts val="400"/>
              </a:spcBef>
            </a:pP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Preuves humaines rares, donc aucune allégation sur l'étiquette.</a:t>
            </a:r>
          </a:p>
        </p:txBody>
      </p:sp>
      <p:sp>
        <p:nvSpPr>
          <p:cNvPr id="890" name="Limit Disc 3"/>
          <p:cNvSpPr/>
          <p:nvPr/>
        </p:nvSpPr>
        <p:spPr>
          <a:xfrm>
            <a:off x="8267700" y="3098800"/>
            <a:ext cx="609600" cy="609600"/>
          </a:xfrm>
          <a:prstGeom prst="ellipse">
            <a:avLst/>
          </a:prstGeom>
          <a:solidFill>
            <a:srgbClr val="C32D4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fr-FR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16+</a:t>
            </a:r>
          </a:p>
        </p:txBody>
      </p:sp>
      <p:sp>
        <p:nvSpPr>
          <p:cNvPr id="891" name="Limit Text 3"/>
          <p:cNvSpPr txBox="1"/>
          <p:nvPr/>
        </p:nvSpPr>
        <p:spPr>
          <a:xfrm>
            <a:off x="8267700" y="3860800"/>
            <a:ext cx="2997200" cy="1092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fr-FR" sz="16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Âge</a:t>
            </a:r>
          </a:p>
          <a:p>
            <a:pPr>
              <a:spcBef>
                <a:spcPts val="400"/>
              </a:spcBef>
            </a:pP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Même à 40 mg, la caféine reste déconseillée aux enfants ; vente aux 16 ans et plus.</a:t>
            </a:r>
          </a:p>
        </p:txBody>
      </p:sp>
      <p:pic>
        <p:nvPicPr>
          <p:cNvPr id="892" name="Graphic 892" descr="Efficacité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3251200"/>
            <a:ext cx="355600" cy="355600"/>
          </a:xfrm>
          <a:prstGeom prst="rect">
            <a:avLst/>
          </a:prstGeom>
        </p:spPr>
      </p:pic>
      <p:pic>
        <p:nvPicPr>
          <p:cNvPr id="893" name="Graphic 893" descr="Chlorophyll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5200" y="32512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07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Answer Band"/>
          <p:cNvSpPr/>
          <p:nvPr/>
        </p:nvSpPr>
        <p:spPr>
          <a:xfrm>
            <a:off x="698500" y="2032000"/>
            <a:ext cx="10795000" cy="685800"/>
          </a:xfrm>
          <a:prstGeom prst="rect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1" name="Next Step Banner"/>
          <p:cNvSpPr/>
          <p:nvPr/>
        </p:nvSpPr>
        <p:spPr>
          <a:xfrm>
            <a:off x="698500" y="5232400"/>
            <a:ext cx="10795000" cy="457200"/>
          </a:xfrm>
          <a:prstGeom prst="homePlate">
            <a:avLst>
              <a:gd name="adj" fmla="val 30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2" name="Tile Énergie"/>
          <p:cNvSpPr/>
          <p:nvPr/>
        </p:nvSpPr>
        <p:spPr>
          <a:xfrm>
            <a:off x="698500" y="2997200"/>
            <a:ext cx="2489200" cy="193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3" name="Tile Disc Énergie"/>
          <p:cNvSpPr/>
          <p:nvPr/>
        </p:nvSpPr>
        <p:spPr>
          <a:xfrm>
            <a:off x="901700" y="3175000"/>
            <a:ext cx="558800" cy="558800"/>
          </a:xfrm>
          <a:prstGeom prst="ellipse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5" name="Tile Immunité"/>
          <p:cNvSpPr/>
          <p:nvPr/>
        </p:nvSpPr>
        <p:spPr>
          <a:xfrm>
            <a:off x="3467100" y="2997200"/>
            <a:ext cx="2489200" cy="193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6" name="Tile Disc Immunité"/>
          <p:cNvSpPr/>
          <p:nvPr/>
        </p:nvSpPr>
        <p:spPr>
          <a:xfrm>
            <a:off x="3670300" y="3175000"/>
            <a:ext cx="558800" cy="558800"/>
          </a:xfrm>
          <a:prstGeom prst="ellipse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8" name="Tile Marché"/>
          <p:cNvSpPr/>
          <p:nvPr/>
        </p:nvSpPr>
        <p:spPr>
          <a:xfrm>
            <a:off x="6235700" y="2997200"/>
            <a:ext cx="2489200" cy="193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9" name="Tile Disc Marché"/>
          <p:cNvSpPr/>
          <p:nvPr/>
        </p:nvSpPr>
        <p:spPr>
          <a:xfrm>
            <a:off x="6438900" y="3175000"/>
            <a:ext cx="558800" cy="558800"/>
          </a:xfrm>
          <a:prstGeom prst="ellipse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1" name="Tile Cible"/>
          <p:cNvSpPr/>
          <p:nvPr/>
        </p:nvSpPr>
        <p:spPr>
          <a:xfrm>
            <a:off x="9004300" y="2997200"/>
            <a:ext cx="2489200" cy="193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62" name="Tile Disc Cible"/>
          <p:cNvSpPr/>
          <p:nvPr/>
        </p:nvSpPr>
        <p:spPr>
          <a:xfrm>
            <a:off x="9207500" y="3175000"/>
            <a:ext cx="558800" cy="558800"/>
          </a:xfrm>
          <a:prstGeom prst="ellipse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19 | 23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8500" y="5232400"/>
            <a:ext cx="10795000" cy="457200"/>
          </a:xfrm>
          <a:prstGeom prst="rect">
            <a:avLst/>
          </a:prstGeom>
        </p:spPr>
        <p:txBody>
          <a:bodyPr wrap="square" lIns="203200" tIns="0" rIns="203200" bIns="0" rtlCol="0" anchor="ctr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Prochaine étape :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tester la boisson complète en double aveugle avant la vente pilote de septembre 2027.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8500" y="2032000"/>
            <a:ext cx="10795000" cy="685800"/>
          </a:xfrm>
          <a:prstGeom prst="rect">
            <a:avLst/>
          </a:prstGeom>
        </p:spPr>
        <p:txBody>
          <a:bodyPr wrap="square" lIns="203200" tIns="0" rIns="203200" bIns="0" rtlCol="0" anchor="ctr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600" b="1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Oui, une énergie modérée est possible : </a:t>
            </a:r>
            <a:r>
              <a:rPr lang="fr-FR" sz="1600" b="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la caféine et la L-théanine du thé soutiennent l'attention à 40 mg, loin de la limite EFSA.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8500" y="1410728"/>
            <a:ext cx="523875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CONCLUSIONS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7" name="AutoShape 17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Box 18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Conclusions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sp>
        <p:nvSpPr>
          <p:cNvPr id="854" name="Tile Text Énergie"/>
          <p:cNvSpPr txBox="1"/>
          <p:nvPr/>
        </p:nvSpPr>
        <p:spPr>
          <a:xfrm>
            <a:off x="901700" y="3860800"/>
            <a:ext cx="2082800" cy="990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fr-FR" sz="16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Énergie</a:t>
            </a:r>
          </a:p>
          <a:p>
            <a:pPr>
              <a:spcBef>
                <a:spcPts val="400"/>
              </a:spcBef>
            </a:pPr>
            <a:r>
              <a:rPr lang="fr-FR" sz="140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40 mg de caféine, deux fois moins qu'une canette standard</a:t>
            </a:r>
          </a:p>
        </p:txBody>
      </p:sp>
      <p:sp>
        <p:nvSpPr>
          <p:cNvPr id="857" name="Tile Text Immunité"/>
          <p:cNvSpPr txBox="1"/>
          <p:nvPr/>
        </p:nvSpPr>
        <p:spPr>
          <a:xfrm>
            <a:off x="3670300" y="3860800"/>
            <a:ext cx="2082800" cy="990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fr-FR" sz="16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Immunité</a:t>
            </a:r>
          </a:p>
          <a:p>
            <a:pPr>
              <a:spcBef>
                <a:spcPts val="400"/>
              </a:spcBef>
            </a:pPr>
            <a:r>
              <a:rPr lang="fr-FR" sz="140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Une seule promesse, celle de la vitamine C</a:t>
            </a:r>
          </a:p>
        </p:txBody>
      </p:sp>
      <p:sp>
        <p:nvSpPr>
          <p:cNvPr id="860" name="Tile Text Marché"/>
          <p:cNvSpPr txBox="1"/>
          <p:nvPr/>
        </p:nvSpPr>
        <p:spPr>
          <a:xfrm>
            <a:off x="6438900" y="3860800"/>
            <a:ext cx="2082800" cy="990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fr-FR" sz="16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Marché</a:t>
            </a:r>
          </a:p>
          <a:p>
            <a:pPr>
              <a:spcBef>
                <a:spcPts val="400"/>
              </a:spcBef>
            </a:pPr>
            <a:r>
              <a:rPr lang="fr-FR" sz="140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 bio en reprise, +3,6 % en 2025</a:t>
            </a:r>
          </a:p>
        </p:txBody>
      </p:sp>
      <p:sp>
        <p:nvSpPr>
          <p:cNvPr id="863" name="Tile Text Cible"/>
          <p:cNvSpPr txBox="1"/>
          <p:nvPr/>
        </p:nvSpPr>
        <p:spPr>
          <a:xfrm>
            <a:off x="9207500" y="3860800"/>
            <a:ext cx="2082800" cy="990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fr-FR" sz="16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Cible</a:t>
            </a:r>
          </a:p>
          <a:p>
            <a:pPr>
              <a:spcBef>
                <a:spcPts val="400"/>
              </a:spcBef>
            </a:pPr>
            <a:r>
              <a:rPr lang="fr-FR" sz="140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Les 16-25 ans, pas de vente aux plus jeunes</a:t>
            </a:r>
          </a:p>
        </p:txBody>
      </p:sp>
      <p:pic>
        <p:nvPicPr>
          <p:cNvPr id="864" name="Graphic 864" descr="Énergi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300" y="3276600"/>
            <a:ext cx="355600" cy="355600"/>
          </a:xfrm>
          <a:prstGeom prst="rect">
            <a:avLst/>
          </a:prstGeom>
        </p:spPr>
      </p:pic>
      <p:pic>
        <p:nvPicPr>
          <p:cNvPr id="865" name="Graphic 865" descr="Immunité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71900" y="3276600"/>
            <a:ext cx="355600" cy="355600"/>
          </a:xfrm>
          <a:prstGeom prst="rect">
            <a:avLst/>
          </a:prstGeom>
        </p:spPr>
      </p:pic>
      <p:pic>
        <p:nvPicPr>
          <p:cNvPr id="867" name="Graphic 867" descr="Cible 16-25 a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09100" y="3276600"/>
            <a:ext cx="355600" cy="355600"/>
          </a:xfrm>
          <a:prstGeom prst="rect">
            <a:avLst/>
          </a:prstGeom>
        </p:spPr>
      </p:pic>
      <p:pic>
        <p:nvPicPr>
          <p:cNvPr id="868" name="Graphic 868" descr="Marché bi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32766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5171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78177" y="0"/>
            <a:ext cx="7313823" cy="6858000"/>
          </a:xfrm>
          <a:custGeom>
            <a:avLst/>
            <a:gdLst/>
            <a:ahLst/>
            <a:cxnLst/>
            <a:rect l="l" t="t" r="r" b="b"/>
            <a:pathLst>
              <a:path w="10970734" h="10287000">
                <a:moveTo>
                  <a:pt x="0" y="0"/>
                </a:moveTo>
                <a:lnTo>
                  <a:pt x="10970734" y="0"/>
                </a:lnTo>
                <a:lnTo>
                  <a:pt x="109707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487" t="-1699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0053863" y="5542533"/>
            <a:ext cx="1960336" cy="616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351"/>
              </a:lnSpc>
            </a:pPr>
            <a:r>
              <a:rPr lang="en-US" sz="2399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sp>
        <p:nvSpPr>
          <p:cNvPr id="4" name="Freeform 4"/>
          <p:cNvSpPr/>
          <p:nvPr/>
        </p:nvSpPr>
        <p:spPr>
          <a:xfrm>
            <a:off x="9276866" y="5462574"/>
            <a:ext cx="604091" cy="686726"/>
          </a:xfrm>
          <a:custGeom>
            <a:avLst/>
            <a:gdLst/>
            <a:ahLst/>
            <a:cxnLst/>
            <a:rect l="l" t="t" r="r" b="b"/>
            <a:pathLst>
              <a:path w="906136" h="1030089">
                <a:moveTo>
                  <a:pt x="0" y="0"/>
                </a:moveTo>
                <a:lnTo>
                  <a:pt x="906137" y="0"/>
                </a:lnTo>
                <a:lnTo>
                  <a:pt x="906137" y="1030089"/>
                </a:lnTo>
                <a:lnTo>
                  <a:pt x="0" y="1030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703551" y="5370764"/>
            <a:ext cx="3386667" cy="825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199"/>
              </a:lnSpc>
              <a:spcBef>
                <a:spcPct val="0"/>
              </a:spcBef>
            </a:pPr>
            <a:r>
              <a:rPr lang="fr-FR" sz="1466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[Prénom Nom], [formation]</a:t>
            </a:r>
          </a:p>
          <a:p>
            <a:pPr marL="0" lvl="0" indent="0" algn="l">
              <a:lnSpc>
                <a:spcPts val="2199"/>
              </a:lnSpc>
              <a:spcBef>
                <a:spcPct val="0"/>
              </a:spcBef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[Nom de l'école]</a:t>
            </a:r>
          </a:p>
          <a:p>
            <a:pPr marL="0" lvl="0" indent="0" algn="l">
              <a:lnSpc>
                <a:spcPts val="2199"/>
              </a:lnSpc>
              <a:spcBef>
                <a:spcPct val="0"/>
              </a:spcBef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[prenom.nom@ecole.fr]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3551" y="5065964"/>
            <a:ext cx="3386667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33"/>
              </a:lnSpc>
              <a:spcBef>
                <a:spcPct val="0"/>
              </a:spcBef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CONTACT 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198786" y="1770385"/>
            <a:ext cx="8933810" cy="2618731"/>
            <a:chOff x="0" y="0"/>
            <a:chExt cx="4802514" cy="14077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02514" cy="1407741"/>
            </a:xfrm>
            <a:custGeom>
              <a:avLst/>
              <a:gdLst/>
              <a:ahLst/>
              <a:cxnLst/>
              <a:rect l="l" t="t" r="r" b="b"/>
              <a:pathLst>
                <a:path w="4802514" h="1407741">
                  <a:moveTo>
                    <a:pt x="0" y="0"/>
                  </a:moveTo>
                  <a:lnTo>
                    <a:pt x="4802514" y="0"/>
                  </a:lnTo>
                  <a:lnTo>
                    <a:pt x="4802514" y="1407741"/>
                  </a:lnTo>
                  <a:lnTo>
                    <a:pt x="0" y="1407741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4802514" cy="138869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98501" y="2533950"/>
            <a:ext cx="8036523" cy="12827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800"/>
              </a:lnSpc>
            </a:pPr>
            <a:r>
              <a:rPr lang="en-US" sz="5334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L'ÉNERGIE DU THÉ,</a:t>
            </a:r>
          </a:p>
          <a:p>
            <a:pPr marL="0" lvl="0" indent="0" algn="l">
              <a:lnSpc>
                <a:spcPts val="4800"/>
              </a:lnSpc>
            </a:pPr>
            <a:r>
              <a:rPr lang="en-US" sz="5334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SANS L'EXCÈS</a:t>
            </a:r>
          </a:p>
        </p:txBody>
      </p:sp>
      <p:sp>
        <p:nvSpPr>
          <p:cNvPr id="980" name="Can Shadow"/>
          <p:cNvSpPr/>
          <p:nvPr/>
        </p:nvSpPr>
        <p:spPr>
          <a:xfrm>
            <a:off x="9542318" y="4206009"/>
            <a:ext cx="1933864" cy="230909"/>
          </a:xfrm>
          <a:prstGeom prst="ellipse">
            <a:avLst/>
          </a:prstGeom>
          <a:solidFill>
            <a:srgbClr val="000000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1" name="Can Bottom"/>
          <p:cNvSpPr/>
          <p:nvPr/>
        </p:nvSpPr>
        <p:spPr>
          <a:xfrm>
            <a:off x="9715500" y="3946236"/>
            <a:ext cx="1587500" cy="346364"/>
          </a:xfrm>
          <a:prstGeom prst="ellipse">
            <a:avLst/>
          </a:prstGeom>
          <a:solidFill>
            <a:srgbClr val="7E1A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2" name="Can Body"/>
          <p:cNvSpPr/>
          <p:nvPr/>
        </p:nvSpPr>
        <p:spPr>
          <a:xfrm>
            <a:off x="9715500" y="1570182"/>
            <a:ext cx="1587500" cy="2549236"/>
          </a:xfrm>
          <a:prstGeom prst="rect">
            <a:avLst/>
          </a:prstGeom>
          <a:gradFill rotWithShape="1">
            <a:gsLst>
              <a:gs pos="0">
                <a:srgbClr val="F2F2F2"/>
              </a:gs>
              <a:gs pos="35000">
                <a:srgbClr val="FFFFFF"/>
              </a:gs>
              <a:gs pos="100000">
                <a:srgbClr val="D0D0D0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3" name="Can Band"/>
          <p:cNvSpPr/>
          <p:nvPr/>
        </p:nvSpPr>
        <p:spPr>
          <a:xfrm>
            <a:off x="9715500" y="3192272"/>
            <a:ext cx="1587500" cy="579120"/>
          </a:xfrm>
          <a:prstGeom prst="rect">
            <a:avLst/>
          </a:prstGeom>
          <a:gradFill rotWithShape="1">
            <a:gsLst>
              <a:gs pos="0">
                <a:srgbClr val="9E2139"/>
              </a:gs>
              <a:gs pos="35000">
                <a:srgbClr val="D8465F"/>
              </a:gs>
              <a:gs pos="100000">
                <a:srgbClr val="8E1D33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4" name="Can Shoulder"/>
          <p:cNvSpPr/>
          <p:nvPr/>
        </p:nvSpPr>
        <p:spPr>
          <a:xfrm>
            <a:off x="9715500" y="1397000"/>
            <a:ext cx="1587500" cy="346364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5" name="Can Lid"/>
          <p:cNvSpPr/>
          <p:nvPr/>
        </p:nvSpPr>
        <p:spPr>
          <a:xfrm>
            <a:off x="9830955" y="1454727"/>
            <a:ext cx="1356591" cy="230909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6" name="Can Tab"/>
          <p:cNvSpPr/>
          <p:nvPr/>
        </p:nvSpPr>
        <p:spPr>
          <a:xfrm>
            <a:off x="10364932" y="1498023"/>
            <a:ext cx="288636" cy="115455"/>
          </a:xfrm>
          <a:prstGeom prst="roundRect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7" name="Can Leaf"/>
          <p:cNvSpPr/>
          <p:nvPr/>
        </p:nvSpPr>
        <p:spPr>
          <a:xfrm rot="18900000">
            <a:off x="10307205" y="1976120"/>
            <a:ext cx="404091" cy="577273"/>
          </a:xfrm>
          <a:prstGeom prst="teardrop">
            <a:avLst/>
          </a:prstGeom>
          <a:solidFill>
            <a:srgbClr val="C32D4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8" name="Can Brand"/>
          <p:cNvSpPr/>
          <p:nvPr/>
        </p:nvSpPr>
        <p:spPr>
          <a:xfrm>
            <a:off x="9715500" y="2613152"/>
            <a:ext cx="1587500" cy="3474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fr-FR" sz="1477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sp>
        <p:nvSpPr>
          <p:cNvPr id="989" name="Can Dose"/>
          <p:cNvSpPr/>
          <p:nvPr/>
        </p:nvSpPr>
        <p:spPr>
          <a:xfrm>
            <a:off x="9715500" y="3192272"/>
            <a:ext cx="1587500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fr-FR" sz="1591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40 mg</a:t>
            </a:r>
          </a:p>
        </p:txBody>
      </p:sp>
    </p:spTree>
    <p:extLst>
      <p:ext uri="{BB962C8B-B14F-4D97-AF65-F5344CB8AC3E}">
        <p14:creationId xmlns:p14="http://schemas.microsoft.com/office/powerpoint/2010/main" val="2876069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21 | 23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8500" y="1410728"/>
            <a:ext cx="10795000" cy="480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RÉFÉRENCES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20" name="AutoShape 20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Box 21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Références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sp>
        <p:nvSpPr>
          <p:cNvPr id="23" name="References">
            <a:extLst>
              <a:ext uri="{FF2B5EF4-FFF2-40B4-BE49-F238E27FC236}">
                <a16:creationId xmlns:a16="http://schemas.microsoft.com/office/drawing/2014/main" id="{1C2F8EDA-9405-4126-BBCD-27FD11B58CF6}"/>
              </a:ext>
            </a:extLst>
          </p:cNvPr>
          <p:cNvSpPr txBox="1"/>
          <p:nvPr/>
        </p:nvSpPr>
        <p:spPr>
          <a:xfrm>
            <a:off x="698500" y="2032000"/>
            <a:ext cx="10795000" cy="381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fr-FR" sz="1200">
                <a:solidFill>
                  <a:srgbClr val="1A1A1A"/>
                </a:solidFill>
                <a:latin typeface="Montserrat"/>
              </a:rPr>
              <a:t>ANSES (2013). Avis relatif à l'évaluation des risques liés à la consommation de boissons dites « énergisantes ». Maisons-Alfort : ANSES.
Assemblée nationale (2026). Rapport d'information sur les boissons énergisantes, présenté le 7 octobre 2026.
EFSA NDA Panel (2015). Scientific Opinion on the safety of caffeine. EFSA Journal, 13(5), 4102.
Giesbrecht, T. et al. (2010). The combination of L-theanine and caffeine improves cognitive performance and increases subjective alertness. Nutritional Neuroscience, 13(6), 283-290.
Higdon, J. et al. (2022). Chlorophyll and metallo-chlorophyll derivatives. Linus Pauling Institute, Oregon State University.
Karsch-Völk, M. et al. (2014). Echinacea for preventing and treating the common cold. Cochrane Database of Systematic Reviews, 2, CD000530.
Owen, G. N. et al. (2008). The combined effects of L-theanine and caffeine on cognitive performance and mood. Nutritional Neuroscience, 11(4), 193-198.
Zucconi, S. et al. (2013). Gathering consumption data on specific consumer groups of energy drinks. EFSA supporting publication EN-394.
Agence Bio (2026). Chiffres du marché et de la production bio 2025 ; Baromètre de consommation bio 2026.
Règlement (CE) n° 1924/2006 concernant les allégations nutritionnelles et de santé ; Règlement (UE) n° 432/2012 (liste des allégations autorisées).</a:t>
            </a:r>
          </a:p>
        </p:txBody>
      </p:sp>
    </p:spTree>
    <p:extLst>
      <p:ext uri="{BB962C8B-B14F-4D97-AF65-F5344CB8AC3E}">
        <p14:creationId xmlns:p14="http://schemas.microsoft.com/office/powerpoint/2010/main" val="949375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22 | 23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8500" y="1410728"/>
            <a:ext cx="10795000" cy="480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ANNEXE A · COMPOSITION CIBLE PAR CANETTE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20" name="AutoShape 20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Box 21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Annexes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  <p:graphicFrame>
        <p:nvGraphicFramePr>
          <p:cNvPr id="24" name="Tableau 23">
            <a:extLst>
              <a:ext uri="{FF2B5EF4-FFF2-40B4-BE49-F238E27FC236}">
                <a16:creationId xmlns:a16="http://schemas.microsoft.com/office/drawing/2014/main" id="{9B6E66F1-8A20-42E3-9AED-12D04C98D498}"/>
              </a:ext>
            </a:extLst>
          </p:cNvPr>
          <p:cNvGraphicFramePr>
            <a:graphicFrameLocks noGrp="1"/>
          </p:cNvGraphicFramePr>
          <p:nvPr/>
        </p:nvGraphicFramePr>
        <p:xfrm>
          <a:off x="698500" y="2032000"/>
          <a:ext cx="10795000" cy="3322320"/>
        </p:xfrm>
        <a:graphic>
          <a:graphicData uri="http://schemas.openxmlformats.org/drawingml/2006/table">
            <a:tbl>
              <a:tblPr/>
              <a:tblGrid>
                <a:gridCol w="2698750">
                  <a:extLst>
                    <a:ext uri="{9D8B030D-6E8A-4147-A177-3AD203B41FA5}">
                      <a16:colId xmlns:a16="http://schemas.microsoft.com/office/drawing/2014/main" val="618895744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593742427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4140830910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8888984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C32D4B"/>
                          </a:solidFill>
                          <a:latin typeface="Montserrat"/>
                          <a:ea typeface="Montserrat"/>
                          <a:cs typeface="Montserrat"/>
                        </a:rPr>
                        <a:t>Ingrédient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32D4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C32D4B"/>
                          </a:solidFill>
                          <a:latin typeface="Montserrat"/>
                          <a:ea typeface="Montserrat"/>
                          <a:cs typeface="Montserrat"/>
                        </a:rPr>
                        <a:t>Quantité cible par canette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32D4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C32D4B"/>
                          </a:solidFill>
                          <a:latin typeface="Montserrat"/>
                          <a:ea typeface="Montserrat"/>
                          <a:cs typeface="Montserrat"/>
                        </a:rPr>
                        <a:t>Rôle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32D4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C32D4B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Preuve ou règle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C32D4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88029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Thé matcha bio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C32D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40 mg de caféine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C32D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Énergie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C32D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Giesbrecht et al. (2010)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C32D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22947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L-théanine du thé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97 mg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Attention, calme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Giesbrecht et al. (2010)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31893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Acérola bio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80 mg de vitamine C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Immunité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Règl. (UE) 432/2012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6504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Chlorophylle (luzerne, ortie)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À fixer après tests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Couleur, antioxydant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LPI (2022)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05712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Gingembre, menthe, hibiscus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À fixer après tests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Goût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Aucune allégation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64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Sucres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Moins de 6,25 g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Faible teneur en sucres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dirty="0">
                          <a:solidFill>
                            <a:srgbClr val="1A1A1A"/>
                          </a:solidFill>
                          <a:latin typeface="Montserrat"/>
                          <a:ea typeface="Montserrat"/>
                          <a:cs typeface="Montserrat"/>
                        </a:rPr>
                        <a:t>Règl. (CE) 1924/2006</a:t>
                      </a:r>
                    </a:p>
                  </a:txBody>
                  <a:tcPr marL="4572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38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032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23 | 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97701" y="3559035"/>
            <a:ext cx="4208499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Comment prouver l'effet ?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Essai en double aveugle contre placebo sur 60 étudiants, critère principal : temps de réaction.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69001" y="3561154"/>
            <a:ext cx="1028700" cy="56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05.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97701" y="2149861"/>
            <a:ext cx="4208499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Deux canettes, est-ce trop ?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80 mg, sous les 120 mg tolérés à 40 kg, mais sans compter le thé, le café ou le cola du jour.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69001" y="2151972"/>
            <a:ext cx="1028700" cy="56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400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04.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8751" y="4978789"/>
            <a:ext cx="4208499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À quoi sert la chlorophylle ?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Couleur et apport végétal ; ses effets santé chez l'humain restent à démontrer (LPI, 2022).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9065" y="4970328"/>
            <a:ext cx="1028700" cy="56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03.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4501" y="3559035"/>
            <a:ext cx="4208499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Pourquoi pas de taurine ?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Elle ne porte aucune allégation autorisée et l'ANSES juge sa sécurité dans ces boissons non démontrée.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800" y="3561154"/>
            <a:ext cx="1028700" cy="56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400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02.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14501" y="2149861"/>
            <a:ext cx="4208499" cy="714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Pourquoi garder de la caféine ?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Seule, la L-théanine n'améliore pas l'attention ; l'effet vient de l'association (Owen et al., 2008).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5800" y="2151972"/>
            <a:ext cx="1028700" cy="56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01.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8500" y="1410728"/>
            <a:ext cx="10795000" cy="480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ANNEXE B · CINQ QUESTIONS ANTICIPÉES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20" name="AutoShape 20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Box 21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Annexes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LEAFAKIN</a:t>
            </a:r>
          </a:p>
        </p:txBody>
      </p:sp>
    </p:spTree>
    <p:extLst>
      <p:ext uri="{BB962C8B-B14F-4D97-AF65-F5344CB8AC3E}">
        <p14:creationId xmlns:p14="http://schemas.microsoft.com/office/powerpoint/2010/main" val="248670921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 [1793025988079]">
  <a:themeElements>
    <a:clrScheme name="Borcelle">
      <a:dk1>
        <a:srgbClr val="002250"/>
      </a:dk1>
      <a:lt1>
        <a:srgbClr val="FFFFFF"/>
      </a:lt1>
      <a:dk2>
        <a:srgbClr val="233061"/>
      </a:dk2>
      <a:lt2>
        <a:srgbClr val="F3EFEB"/>
      </a:lt2>
      <a:accent1>
        <a:srgbClr val="B38C77"/>
      </a:accent1>
      <a:accent2>
        <a:srgbClr val="002250"/>
      </a:accent2>
      <a:accent3>
        <a:srgbClr val="838BA1"/>
      </a:accent3>
      <a:accent4>
        <a:srgbClr val="D9C7BB"/>
      </a:accent4>
      <a:accent5>
        <a:srgbClr val="5B6B8C"/>
      </a:accent5>
      <a:accent6>
        <a:srgbClr val="C9CED8"/>
      </a:accent6>
      <a:hlink>
        <a:srgbClr val="002250"/>
      </a:hlink>
      <a:folHlink>
        <a:srgbClr val="838BA1"/>
      </a:folHlink>
    </a:clrScheme>
    <a:fontScheme name="Borcell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 [1793025988079]">
  <a:themeElements>
    <a:clrScheme name="Borcelle">
      <a:dk1>
        <a:srgbClr val="002250"/>
      </a:dk1>
      <a:lt1>
        <a:srgbClr val="FFFFFF"/>
      </a:lt1>
      <a:dk2>
        <a:srgbClr val="233061"/>
      </a:dk2>
      <a:lt2>
        <a:srgbClr val="F3EFEB"/>
      </a:lt2>
      <a:accent1>
        <a:srgbClr val="B38C77"/>
      </a:accent1>
      <a:accent2>
        <a:srgbClr val="002250"/>
      </a:accent2>
      <a:accent3>
        <a:srgbClr val="5B6B8C"/>
      </a:accent3>
      <a:accent4>
        <a:srgbClr val="D9C7BB"/>
      </a:accent4>
      <a:accent5>
        <a:srgbClr val="5B6B8C"/>
      </a:accent5>
      <a:accent6>
        <a:srgbClr val="C9CED8"/>
      </a:accent6>
      <a:hlink>
        <a:srgbClr val="002250"/>
      </a:hlink>
      <a:folHlink>
        <a:srgbClr val="5B6B8C"/>
      </a:folHlink>
    </a:clrScheme>
    <a:fontScheme name="Borcell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hème Office [1793026233604]">
  <a:themeElements>
    <a:clrScheme name="Borcelle">
      <a:dk1>
        <a:srgbClr val="002250"/>
      </a:dk1>
      <a:lt1>
        <a:srgbClr val="FFFFFF"/>
      </a:lt1>
      <a:dk2>
        <a:srgbClr val="233061"/>
      </a:dk2>
      <a:lt2>
        <a:srgbClr val="F3EFEB"/>
      </a:lt2>
      <a:accent1>
        <a:srgbClr val="B38C77"/>
      </a:accent1>
      <a:accent2>
        <a:srgbClr val="002250"/>
      </a:accent2>
      <a:accent3>
        <a:srgbClr val="838BA1"/>
      </a:accent3>
      <a:accent4>
        <a:srgbClr val="D9C7BB"/>
      </a:accent4>
      <a:accent5>
        <a:srgbClr val="5B6B8C"/>
      </a:accent5>
      <a:accent6>
        <a:srgbClr val="C9CED8"/>
      </a:accent6>
      <a:hlink>
        <a:srgbClr val="002250"/>
      </a:hlink>
      <a:folHlink>
        <a:srgbClr val="838BA1"/>
      </a:folHlink>
    </a:clrScheme>
    <a:fontScheme name="Borcell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DCBCFB7-62F2-4FA2-B11D-F313810AC818}">
  <we:reference id="WA200010001" version="1.0.0.1" store="fr-fr" storeType="omex"/>
  <we:alternateReferences>
    <we:reference id="WA200010001" version="1.0.0.1" store="omex" storeType="omex"/>
  </we:alternateReferences>
  <we:properties>
    <we:property name="claude.fileId" value="&quot;80dd3df3-fa36-40ad-97c2-f8edabf26f2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23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5</vt:i4>
      </vt:variant>
      <vt:variant>
        <vt:lpstr>Titres des diapositives</vt:lpstr>
      </vt:variant>
      <vt:variant>
        <vt:i4>23</vt:i4>
      </vt:variant>
    </vt:vector>
  </HeadingPairs>
  <TitlesOfParts>
    <vt:vector size="28" baseType="lpstr">
      <vt:lpstr>Thème Office</vt:lpstr>
      <vt:lpstr>Thème Office [1793025988079]</vt:lpstr>
      <vt:lpstr>Thème Office [1793025988079]</vt:lpstr>
      <vt:lpstr>Thème Office [1793026233604]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336</cp:revision>
  <dcterms:created xsi:type="dcterms:W3CDTF">2026-10-26T13:37:42Z</dcterms:created>
  <dcterms:modified xsi:type="dcterms:W3CDTF">2026-10-28T16:46:38Z</dcterms:modified>
</cp:coreProperties>
</file>