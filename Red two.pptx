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0" r:id="rId2"/>
    <p:sldMasterId id="2147483672" r:id="rId3"/>
    <p:sldMasterId id="2147483684" r:id="rId4"/>
    <p:sldMasterId id="2147483648" r:id="rId5"/>
  </p:sldMasterIdLst>
  <p:sldIdLst>
    <p:sldId id="299" r:id="rId6"/>
    <p:sldId id="300" r:id="rId7"/>
    <p:sldId id="339" r:id="rId8"/>
    <p:sldId id="277" r:id="rId9"/>
    <p:sldId id="340" r:id="rId10"/>
    <p:sldId id="341" r:id="rId11"/>
    <p:sldId id="278" r:id="rId12"/>
    <p:sldId id="342" r:id="rId13"/>
    <p:sldId id="343" r:id="rId14"/>
    <p:sldId id="344" r:id="rId15"/>
    <p:sldId id="279" r:id="rId16"/>
    <p:sldId id="345" r:id="rId17"/>
    <p:sldId id="346" r:id="rId18"/>
    <p:sldId id="280" r:id="rId19"/>
    <p:sldId id="347" r:id="rId20"/>
    <p:sldId id="348" r:id="rId21"/>
    <p:sldId id="349" r:id="rId22"/>
    <p:sldId id="350" r:id="rId23"/>
    <p:sldId id="351" r:id="rId24"/>
    <p:sldId id="338" r:id="rId25"/>
    <p:sldId id="355" r:id="rId26"/>
    <p:sldId id="353" r:id="rId27"/>
    <p:sldId id="354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" dt="2026-10-27T13:33:24.205"/>
    <p1510:client id="{5EF1344A-F347-D363-450E-1F9858FD4569}" v="270" dt="2026-10-26T15:49:37.269"/>
    <p1510:client id="{6AD30D23-77C0-FC8F-C199-BACB2E5EEBC7}" v="171" dt="2026-10-27T14:40:21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8B8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C32D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F86-486F-AA77-27A4EA0CB595}"/>
              </c:ext>
            </c:extLst>
          </c:dPt>
          <c:dLbls>
            <c:numFmt formatCode="0&quot; mg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A1A1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Canette forte</c:v>
              </c:pt>
              <c:pt idx="1">
                <c:v>Limite EFSA, ado 40 kg</c:v>
              </c:pt>
              <c:pt idx="2">
                <c:v>Canette standard</c:v>
              </c:pt>
              <c:pt idx="3">
                <c:v>Leafakin (cible)</c:v>
              </c:pt>
            </c:strLit>
          </c:cat>
          <c:val>
            <c:numLit>
              <c:formatCode>General</c:formatCode>
              <c:ptCount val="4"/>
              <c:pt idx="0">
                <c:v>160</c:v>
              </c:pt>
              <c:pt idx="1">
                <c:v>120</c:v>
              </c:pt>
              <c:pt idx="2">
                <c:v>80</c:v>
              </c:pt>
              <c:pt idx="3">
                <c:v>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1F86-486F-AA77-27A4EA0CB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6C6C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A1A1A"/>
                </a:solidFill>
                <a:latin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7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838BA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390" r="-3928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4085167" y="1920819"/>
            <a:ext cx="8229895" cy="2618731"/>
            <a:chOff x="0" y="0"/>
            <a:chExt cx="4424113" cy="1407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24113" cy="1407741"/>
            </a:xfrm>
            <a:custGeom>
              <a:avLst/>
              <a:gdLst/>
              <a:ahLst/>
              <a:cxnLst/>
              <a:rect l="l" t="t" r="r" b="b"/>
              <a:pathLst>
                <a:path w="4424113" h="1407741">
                  <a:moveTo>
                    <a:pt x="0" y="0"/>
                  </a:moveTo>
                  <a:lnTo>
                    <a:pt x="4424113" y="0"/>
                  </a:lnTo>
                  <a:lnTo>
                    <a:pt x="4424113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424113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13612" y="2633653"/>
            <a:ext cx="6692589" cy="1358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600"/>
              </a:lnSpc>
            </a:pPr>
            <a:r>
              <a:rPr lang="fr-FR" sz="5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  <a:p>
            <a:pPr algn="l">
              <a:lnSpc>
                <a:spcPts val="2600"/>
              </a:lnSpc>
            </a:pPr>
            <a:r>
              <a:rPr lang="fr-FR" sz="18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boisson énergisante bio à base de thé, de chlorophylle et de plantes pour les 16-25 ans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6833" y="5354977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199"/>
              </a:lnSpc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[Nom de l'école]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[prenom.nom@ecole.fr]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06833" y="5071292"/>
            <a:ext cx="338666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8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PRÉSENTÉ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3863" y="778459"/>
            <a:ext cx="14523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[ÉCOLE]</a:t>
            </a:r>
          </a:p>
        </p:txBody>
      </p:sp>
      <p:sp>
        <p:nvSpPr>
          <p:cNvPr id="10" name="Freeform 10"/>
          <p:cNvSpPr/>
          <p:nvPr/>
        </p:nvSpPr>
        <p:spPr>
          <a:xfrm>
            <a:off x="9276866" y="698500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1" name="Group 11"/>
          <p:cNvGrpSpPr/>
          <p:nvPr/>
        </p:nvGrpSpPr>
        <p:grpSpPr>
          <a:xfrm>
            <a:off x="0" y="5512692"/>
            <a:ext cx="2915134" cy="646808"/>
            <a:chOff x="0" y="0"/>
            <a:chExt cx="1567077" cy="3477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7077" cy="347702"/>
            </a:xfrm>
            <a:custGeom>
              <a:avLst/>
              <a:gdLst/>
              <a:ahLst/>
              <a:cxnLst/>
              <a:rect l="l" t="t" r="r" b="b"/>
              <a:pathLst>
                <a:path w="1567077" h="347702">
                  <a:moveTo>
                    <a:pt x="0" y="0"/>
                  </a:moveTo>
                  <a:lnTo>
                    <a:pt x="1567077" y="0"/>
                  </a:lnTo>
                  <a:lnTo>
                    <a:pt x="1567077" y="347702"/>
                  </a:lnTo>
                  <a:lnTo>
                    <a:pt x="0" y="34770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567077" cy="3286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8500" y="5706049"/>
            <a:ext cx="2229334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[DATE] 2026</a:t>
            </a:r>
          </a:p>
        </p:txBody>
      </p:sp>
    </p:spTree>
    <p:extLst>
      <p:ext uri="{BB962C8B-B14F-4D97-AF65-F5344CB8AC3E}">
        <p14:creationId xmlns:p14="http://schemas.microsoft.com/office/powerpoint/2010/main" val="5923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 | 23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6096000" y="2707095"/>
            <a:ext cx="0" cy="256710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7562292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Références et annexes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29451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  <p:sp>
        <p:nvSpPr>
          <p:cNvPr id="9" name="AutoShape 9"/>
          <p:cNvSpPr/>
          <p:nvPr/>
        </p:nvSpPr>
        <p:spPr>
          <a:xfrm>
            <a:off x="6729451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7562292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9451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29451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7562292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Marché et lancement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29451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1341" y="483391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480004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98500" y="4639610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531341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98500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1531341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98500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Box 24"/>
          <p:cNvSpPr txBox="1"/>
          <p:nvPr/>
        </p:nvSpPr>
        <p:spPr>
          <a:xfrm>
            <a:off x="1531341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Question de recherche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8500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04729" y="994703"/>
            <a:ext cx="1987271" cy="822508"/>
            <a:chOff x="0" y="0"/>
            <a:chExt cx="600913" cy="2487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87272" y="939800"/>
            <a:ext cx="8217458" cy="113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8534"/>
              </a:lnSpc>
            </a:pPr>
            <a:r>
              <a:rPr lang="en-US" sz="9482" b="1" u="none" strike="noStrike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SOMMAIRE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" y="994703"/>
            <a:ext cx="1987271" cy="822508"/>
            <a:chOff x="0" y="0"/>
            <a:chExt cx="600913" cy="2487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85391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4750" y="0"/>
            <a:ext cx="5937250" cy="6858000"/>
          </a:xfrm>
          <a:custGeom>
            <a:avLst/>
            <a:gdLst/>
            <a:ahLst/>
            <a:cxnLst/>
            <a:rect l="l" t="t" r="r" b="b"/>
            <a:pathLst>
              <a:path w="8905875" h="10287000">
                <a:moveTo>
                  <a:pt x="0" y="0"/>
                </a:moveTo>
                <a:lnTo>
                  <a:pt x="8905875" y="0"/>
                </a:lnTo>
                <a:lnTo>
                  <a:pt x="8905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3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5920339"/>
            <a:ext cx="5238750" cy="227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67"/>
              </a:lnSpc>
            </a:pPr>
            <a:r>
              <a:rPr lang="fr-FR" sz="1333" b="1" i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4254500"/>
            <a:ext cx="52387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Question de recherche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boisson bio dosée à 40 mg de caféine par canette peut-elle soutenir l'attention des 16-25 ans tout en respectant la limite de l'EFSA et le droit des allégations santé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819400"/>
            <a:ext cx="5238750" cy="1201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boissons énergisantes promettent forme et concentration, mais reposent sur la caféine et le sucre.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part de l'hypothèse inverse : une énergie modérée issue du thé vert, complétée par la chlorophylle, des plantes et la vitamine 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628522"/>
            <a:ext cx="52387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00"/>
              </a:lnSpc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 L'ÉNERGIE SANS EXCÈS DE CAFÉINE 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697493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523875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16" name="Graphic 16" descr="Feuille, symbole de Leafak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9900" y="22860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6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4" y="361693"/>
            <a:ext cx="11602925" cy="6134614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66" b="-4904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01 · LE CONSTAT</a:t>
            </a:r>
          </a:p>
        </p:txBody>
      </p:sp>
    </p:spTree>
    <p:extLst>
      <p:ext uri="{BB962C8B-B14F-4D97-AF65-F5344CB8AC3E}">
        <p14:creationId xmlns:p14="http://schemas.microsoft.com/office/powerpoint/2010/main" val="134507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330826"/>
            <a:ext cx="12192000" cy="4527174"/>
          </a:xfrm>
          <a:custGeom>
            <a:avLst/>
            <a:gdLst/>
            <a:ahLst/>
            <a:cxnLst/>
            <a:rect l="l" t="t" r="r" b="b"/>
            <a:pathLst>
              <a:path w="18288000" h="6790761">
                <a:moveTo>
                  <a:pt x="0" y="0"/>
                </a:moveTo>
                <a:lnTo>
                  <a:pt x="18288000" y="0"/>
                </a:lnTo>
                <a:lnTo>
                  <a:pt x="18288000" y="6790761"/>
                </a:lnTo>
                <a:lnTo>
                  <a:pt x="0" y="679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194" b="-2826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8009145" y="3560264"/>
            <a:ext cx="3484355" cy="2037089"/>
            <a:chOff x="0" y="0"/>
            <a:chExt cx="1441841" cy="842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5782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âge minimum de vente proposé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par deux députés (oct. 2026)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5782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16 ans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353823" y="3560264"/>
            <a:ext cx="3484355" cy="2037089"/>
            <a:chOff x="0" y="0"/>
            <a:chExt cx="1441841" cy="842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40460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boissons énergisantes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contiennent de la caféine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40460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96 %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09145" y="1323604"/>
            <a:ext cx="3484355" cy="2037089"/>
            <a:chOff x="0" y="0"/>
            <a:chExt cx="1441841" cy="8429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095782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expressos de caféine dans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canette de 250 ml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5782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353823" y="1323604"/>
            <a:ext cx="3484355" cy="2037089"/>
            <a:chOff x="0" y="0"/>
            <a:chExt cx="1441841" cy="8429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0460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ados consommateurs en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boivent environ 7 litres par mois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0460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12 %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5765849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5765849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 flipV="1">
            <a:off x="9419926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 flipV="1">
            <a:off x="9421171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698501" y="1312282"/>
            <a:ext cx="3471655" cy="2037089"/>
            <a:chOff x="0" y="0"/>
            <a:chExt cx="6943311" cy="407417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72644" y="2498673"/>
              <a:ext cx="6598023" cy="103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des 10-18 ans européens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boivent des boissons énergisantes</a:t>
              </a:r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u="none" strike="noStrike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68 %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8501" y="3560264"/>
            <a:ext cx="3471655" cy="2037089"/>
            <a:chOff x="0" y="0"/>
            <a:chExt cx="6943311" cy="4074177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2644" y="2498673"/>
              <a:ext cx="6598023" cy="103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effets indésirables signalés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à la nutrivigilance de l'ANSES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257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Box 4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| 23</a:t>
            </a:r>
          </a:p>
        </p:txBody>
      </p:sp>
      <p:sp>
        <p:nvSpPr>
          <p:cNvPr id="48" name="Source">
            <a:extLst>
              <a:ext uri="{FF2B5EF4-FFF2-40B4-BE49-F238E27FC236}">
                <a16:creationId xmlns:a16="http://schemas.microsoft.com/office/drawing/2014/main" id="{49B97E6A-B10D-45DA-93F9-8B6921970F6A}"/>
              </a:ext>
            </a:extLst>
          </p:cNvPr>
          <p:cNvSpPr txBox="1"/>
          <p:nvPr/>
        </p:nvSpPr>
        <p:spPr>
          <a:xfrm>
            <a:off x="698500" y="5943600"/>
            <a:ext cx="8128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  <a:latin typeface="Montserrat"/>
              </a:rPr>
              <a:t>Sources : Zucconi et al. pour l'EFSA (2013), 16 pays, 52 000 participants ; ANSES (2013) ; Assemblée nationale (2026).</a:t>
            </a:r>
          </a:p>
        </p:txBody>
      </p:sp>
    </p:spTree>
    <p:extLst>
      <p:ext uri="{BB962C8B-B14F-4D97-AF65-F5344CB8AC3E}">
        <p14:creationId xmlns:p14="http://schemas.microsoft.com/office/powerpoint/2010/main" val="413042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6 | 23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54750" y="3625569"/>
            <a:ext cx="6065229" cy="1858275"/>
            <a:chOff x="0" y="0"/>
            <a:chExt cx="1283246" cy="393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246" cy="393163"/>
            </a:xfrm>
            <a:custGeom>
              <a:avLst/>
              <a:gdLst/>
              <a:ahLst/>
              <a:cxnLst/>
              <a:rect l="l" t="t" r="r" b="b"/>
              <a:pathLst>
                <a:path w="1283246" h="393163">
                  <a:moveTo>
                    <a:pt x="0" y="0"/>
                  </a:moveTo>
                  <a:lnTo>
                    <a:pt x="1283246" y="0"/>
                  </a:lnTo>
                  <a:lnTo>
                    <a:pt x="1283246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283246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09984" y="3713321"/>
            <a:ext cx="4883516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6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 litre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en une prise pour 12 % des ados consommateurs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54750" y="1555659"/>
            <a:ext cx="5937250" cy="1858275"/>
            <a:chOff x="0" y="0"/>
            <a:chExt cx="1256169" cy="3931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169" cy="393163"/>
            </a:xfrm>
            <a:custGeom>
              <a:avLst/>
              <a:gdLst/>
              <a:ahLst/>
              <a:cxnLst/>
              <a:rect l="l" t="t" r="r" b="b"/>
              <a:pathLst>
                <a:path w="1256169" h="393163">
                  <a:moveTo>
                    <a:pt x="0" y="0"/>
                  </a:moveTo>
                  <a:lnTo>
                    <a:pt x="1256169" y="0"/>
                  </a:lnTo>
                  <a:lnTo>
                    <a:pt x="1256169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256169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9984" y="1643411"/>
            <a:ext cx="488351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8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2/3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 la dose journalière d'un ado de 40 kg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4993328"/>
            <a:ext cx="5238750" cy="470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effets signalés.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Tachycardie, nervosité et anxiété reviennent dans les 257 cas déclarés à l'ANSES.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3720012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prises massives.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12 % des adolescents consommateurs boivent au moins 1 litre en une seule occasion.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2446697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Trop de caféine.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80 mg par canette standard, pour une limite EFSA de 3 mg/kg/jour, soit 120 mg pour un adolescent de 40 kg.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CANETTE, 2/3 DE LA CAFÉINE TOLÉRÉE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4" name="Source">
            <a:extLst>
              <a:ext uri="{FF2B5EF4-FFF2-40B4-BE49-F238E27FC236}">
                <a16:creationId xmlns:a16="http://schemas.microsoft.com/office/drawing/2014/main" id="{F8DEC636-E15D-48BC-A4B0-15EBA4F785AA}"/>
              </a:ext>
            </a:extLst>
          </p:cNvPr>
          <p:cNvSpPr txBox="1"/>
          <p:nvPr/>
        </p:nvSpPr>
        <p:spPr>
          <a:xfrm>
            <a:off x="698500" y="5943600"/>
            <a:ext cx="8128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E5E5E"/>
                </a:solidFill>
                <a:latin typeface="Montserrat"/>
              </a:rPr>
              <a:t>Sources : EFSA (2015), avis sur la sécurité de la caféine ; Zucconi et al. pour l'EFSA (2013) ; ANSES (2013).</a:t>
            </a:r>
          </a:p>
        </p:txBody>
      </p:sp>
    </p:spTree>
    <p:extLst>
      <p:ext uri="{BB962C8B-B14F-4D97-AF65-F5344CB8AC3E}">
        <p14:creationId xmlns:p14="http://schemas.microsoft.com/office/powerpoint/2010/main" val="142626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4" y="361693"/>
            <a:ext cx="11602925" cy="6134614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46" b="-1304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 · LE PRODUIT</a:t>
            </a:r>
          </a:p>
        </p:txBody>
      </p:sp>
    </p:spTree>
    <p:extLst>
      <p:ext uri="{BB962C8B-B14F-4D97-AF65-F5344CB8AC3E}">
        <p14:creationId xmlns:p14="http://schemas.microsoft.com/office/powerpoint/2010/main" val="75156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14423" y="1048540"/>
            <a:ext cx="5577577" cy="5809461"/>
          </a:xfrm>
          <a:custGeom>
            <a:avLst/>
            <a:gdLst/>
            <a:ahLst/>
            <a:cxnLst/>
            <a:rect l="l" t="t" r="r" b="b"/>
            <a:pathLst>
              <a:path w="8366366" h="8714191">
                <a:moveTo>
                  <a:pt x="0" y="0"/>
                </a:moveTo>
                <a:lnTo>
                  <a:pt x="8366366" y="0"/>
                </a:lnTo>
                <a:lnTo>
                  <a:pt x="8366366" y="8714191"/>
                </a:lnTo>
                <a:lnTo>
                  <a:pt x="0" y="871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5" r="-54123" b="-1936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54750" y="1479699"/>
            <a:ext cx="6102177" cy="4055050"/>
            <a:chOff x="0" y="0"/>
            <a:chExt cx="1291063" cy="8579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1063" cy="857944"/>
            </a:xfrm>
            <a:custGeom>
              <a:avLst/>
              <a:gdLst/>
              <a:ahLst/>
              <a:cxnLst/>
              <a:rect l="l" t="t" r="r" b="b"/>
              <a:pathLst>
                <a:path w="1291063" h="857944">
                  <a:moveTo>
                    <a:pt x="0" y="0"/>
                  </a:moveTo>
                  <a:lnTo>
                    <a:pt x="1291063" y="0"/>
                  </a:lnTo>
                  <a:lnTo>
                    <a:pt x="1291063" y="857944"/>
                  </a:lnTo>
                  <a:lnTo>
                    <a:pt x="0" y="8579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291063" cy="838894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14423" y="1932622"/>
            <a:ext cx="4879077" cy="3066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Thé matcha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caféine naturelle et L-théanine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extraite de feuilles de luzerne et d'ortie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Plantes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gingembre, menthe et hibiscus pour le goût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Acérola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source naturelle de vitamine 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3454400"/>
            <a:ext cx="5251450" cy="120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Cible par canette de 250 ml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caféine, 80 mg de vitamine C, moins de 2,5 g de sucres pour 100 ml, ingrédients certifiés bio.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2446697"/>
            <a:ext cx="5251450" cy="1933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Chaque ingrédient a un rôle unique dans la formule.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 caféine vient seulement du thé, la vitamine C seulement de l'acérola : aucun additif de synthèse.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QUATRE INGRÉDIENTS, UNE SEULE CANETTE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33835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0216" y="4688371"/>
            <a:ext cx="13112432" cy="2169629"/>
            <a:chOff x="0" y="0"/>
            <a:chExt cx="7048800" cy="1166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48800" cy="1166319"/>
            </a:xfrm>
            <a:custGeom>
              <a:avLst/>
              <a:gdLst/>
              <a:ahLst/>
              <a:cxnLst/>
              <a:rect l="l" t="t" r="r" b="b"/>
              <a:pathLst>
                <a:path w="7048800" h="1166319">
                  <a:moveTo>
                    <a:pt x="0" y="0"/>
                  </a:moveTo>
                  <a:lnTo>
                    <a:pt x="7048800" y="0"/>
                  </a:lnTo>
                  <a:lnTo>
                    <a:pt x="7048800" y="1166319"/>
                  </a:lnTo>
                  <a:lnTo>
                    <a:pt x="0" y="1166319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7048800" cy="11472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40700" y="3135857"/>
            <a:ext cx="3365500" cy="2483664"/>
            <a:chOff x="0" y="0"/>
            <a:chExt cx="1329580" cy="981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53450" y="4009813"/>
            <a:ext cx="254000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Ingrédients certifiés bio et moins de 2,5 g de sucres pour 100 ml.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9285829" y="3855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553450" y="3385679"/>
            <a:ext cx="2540000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NATUREL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413250" y="3135857"/>
            <a:ext cx="3365500" cy="2483664"/>
            <a:chOff x="0" y="0"/>
            <a:chExt cx="1329580" cy="9812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6000" y="4009813"/>
            <a:ext cx="2540000" cy="861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Sur l'immunité, seule la vitamine C porte une allégation autorisée par l'UE.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5556661" y="3855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4826000" y="3385679"/>
            <a:ext cx="2540000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PREUVE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5800" y="3135857"/>
            <a:ext cx="3365500" cy="2483664"/>
            <a:chOff x="0" y="0"/>
            <a:chExt cx="1329580" cy="981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8550" y="4044894"/>
            <a:ext cx="254000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 au plus par canette, associés à la L-théanine du thé.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829211" y="3890661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1098550" y="3420761"/>
            <a:ext cx="254000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u="none" strike="noStrike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ÉNERGIE DOUCE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1980009"/>
            <a:ext cx="52514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16-25 ans cherchent un coup de fouet pour réviser ou faire du sport.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vise la même occasion de consommation, avec une dose de caféine divisée par deux.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54750" y="1980009"/>
            <a:ext cx="5251450" cy="715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Chaque ingrédient doit passer les trois règles, de la recette à l'étiquette.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ingrédient sans preuve ou sans allégation autorisée est écarté.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TROIS RÈGLES DE FORMULATION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9 | 23</a:t>
            </a:r>
          </a:p>
        </p:txBody>
      </p:sp>
    </p:spTree>
    <p:extLst>
      <p:ext uri="{BB962C8B-B14F-4D97-AF65-F5344CB8AC3E}">
        <p14:creationId xmlns:p14="http://schemas.microsoft.com/office/powerpoint/2010/main" val="350404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10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3454400"/>
            <a:ext cx="52514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Dose inspirée de Giesbrecht et al. (2010) : 40 mg de caféine et 97 mg de L-théanine ont amélioré l'attention de 44 jeunes adultes.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540000"/>
            <a:ext cx="52514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canette standard apporte 80 mg de caféine, certaines marques jusqu'à 160 mg.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vise 40 mg, soit un tiers de la limite EFSA pour un adolescent de 40 kg.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FOIS MOINS DE CAFÉINE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350000" y="1651000"/>
          <a:ext cx="5143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hart label">
            <a:extLst>
              <a:ext uri="{FF2B5EF4-FFF2-40B4-BE49-F238E27FC236}">
                <a16:creationId xmlns:a16="http://schemas.microsoft.com/office/drawing/2014/main" id="{8807D032-D2B1-45E1-ABE0-6969C543EFA7}"/>
              </a:ext>
            </a:extLst>
          </p:cNvPr>
          <p:cNvSpPr txBox="1"/>
          <p:nvPr/>
        </p:nvSpPr>
        <p:spPr>
          <a:xfrm>
            <a:off x="6350000" y="1320800"/>
            <a:ext cx="514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1A1A1A"/>
                </a:solidFill>
                <a:latin typeface="Montserrat"/>
              </a:rPr>
              <a:t>Caféine par canette de 250 ml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058BA39F-E53F-4983-9343-1D7DC5D7E34B}"/>
              </a:ext>
            </a:extLst>
          </p:cNvPr>
          <p:cNvSpPr txBox="1"/>
          <p:nvPr/>
        </p:nvSpPr>
        <p:spPr>
          <a:xfrm>
            <a:off x="698500" y="59436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100">
                <a:solidFill>
                  <a:srgbClr val="5E5E5E"/>
                </a:solidFill>
                <a:latin typeface="Montserrat"/>
              </a:rPr>
              <a:t>Sources : ANSES (2013) ; EFSA (2015) ; Giesbrecht et al. (2010). Valeur Leafakin : cible de formulation.</a:t>
            </a:r>
          </a:p>
        </p:txBody>
      </p:sp>
    </p:spTree>
    <p:extLst>
      <p:ext uri="{BB962C8B-B14F-4D97-AF65-F5344CB8AC3E}">
        <p14:creationId xmlns:p14="http://schemas.microsoft.com/office/powerpoint/2010/main" val="296622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20151" y="361693"/>
            <a:ext cx="11551698" cy="6134614"/>
          </a:xfrm>
          <a:custGeom>
            <a:avLst/>
            <a:gdLst/>
            <a:ahLst/>
            <a:cxnLst/>
            <a:rect l="l" t="t" r="r" b="b"/>
            <a:pathLst>
              <a:path w="17327547" h="9201921">
                <a:moveTo>
                  <a:pt x="17327548" y="0"/>
                </a:moveTo>
                <a:lnTo>
                  <a:pt x="0" y="0"/>
                </a:lnTo>
                <a:lnTo>
                  <a:pt x="0" y="9201922"/>
                </a:lnTo>
                <a:lnTo>
                  <a:pt x="17327548" y="9201922"/>
                </a:lnTo>
                <a:lnTo>
                  <a:pt x="17327548" y="0"/>
                </a:lnTo>
                <a:close/>
              </a:path>
            </a:pathLst>
          </a:custGeom>
          <a:blipFill>
            <a:blip r:embed="rId2"/>
            <a:stretch>
              <a:fillRect t="-25535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0151" y="3162272"/>
            <a:ext cx="11551698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03 · LES PREUVES</a:t>
            </a:r>
          </a:p>
        </p:txBody>
      </p:sp>
    </p:spTree>
    <p:extLst>
      <p:ext uri="{BB962C8B-B14F-4D97-AF65-F5344CB8AC3E}">
        <p14:creationId xmlns:p14="http://schemas.microsoft.com/office/powerpoint/2010/main" val="2817835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12 | 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77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Bio.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Garantit le mode de production, pas un effet santé : c'est un argument de choix, pas une preuve clinique.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9001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77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Échinacée.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Aucun effet préventif significatif sur le rhume dans 24 essais (Cochrane, 2014) : écartée de la formule.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69001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751" y="4978789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Antioxydante en laboratoire, sans toxicité connue, mais peu d'essais chez l'humain (Linus Pauling Institute, 2022).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065" y="4970328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Vitamine C.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« Contribue au fonctionnement normal du système immunitaire » : allégation autorisée (Règl. UE 432/2012).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Thé et L-théanine.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 et 97 mg de L-théanine améliorent l'attention (Giesbrecht et al., 2010 ; n = 44).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EFFETS PROUVÉS, TROIS À CONFIRMER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2493249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13 | 23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54750" y="3625569"/>
            <a:ext cx="6065229" cy="1858275"/>
            <a:chOff x="0" y="0"/>
            <a:chExt cx="1283246" cy="393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246" cy="393163"/>
            </a:xfrm>
            <a:custGeom>
              <a:avLst/>
              <a:gdLst/>
              <a:ahLst/>
              <a:cxnLst/>
              <a:rect l="l" t="t" r="r" b="b"/>
              <a:pathLst>
                <a:path w="1283246" h="393163">
                  <a:moveTo>
                    <a:pt x="0" y="0"/>
                  </a:moveTo>
                  <a:lnTo>
                    <a:pt x="1283246" y="0"/>
                  </a:lnTo>
                  <a:lnTo>
                    <a:pt x="1283246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283246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09984" y="3713321"/>
            <a:ext cx="4883516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6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« Booste »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l'immunité : formule non autorisée sur l'étiquette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54750" y="1555659"/>
            <a:ext cx="5937250" cy="1858275"/>
            <a:chOff x="0" y="0"/>
            <a:chExt cx="1256169" cy="3931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169" cy="393163"/>
            </a:xfrm>
            <a:custGeom>
              <a:avLst/>
              <a:gdLst/>
              <a:ahLst/>
              <a:cxnLst/>
              <a:rect l="l" t="t" r="r" b="b"/>
              <a:pathLst>
                <a:path w="1256169" h="393163">
                  <a:moveTo>
                    <a:pt x="0" y="0"/>
                  </a:moveTo>
                  <a:lnTo>
                    <a:pt x="1256169" y="0"/>
                  </a:lnTo>
                  <a:lnTo>
                    <a:pt x="1256169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256169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9984" y="1643411"/>
            <a:ext cx="488351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8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sur 89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dossiers d'allégations spécifiques acceptés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4993328"/>
            <a:ext cx="5238750" cy="470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Aucune promesse médicale.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« Guérit », « traite » ou « prévient une maladie » sont interdits sur un aliment.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3720012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Plantes en attente.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allégations sur les plantes attendent toujours leur évaluation par l'EFSA, d'où un risque juridique.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2446697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Liste fermée.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allégation santé n'est permise que si elle figure sur la liste de l'UE (Règl. 1924/2006 et 432/2012).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SEULE LA VITAMINE C PARLE D'IMMUNITÉ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4" name="Source">
            <a:extLst>
              <a:ext uri="{FF2B5EF4-FFF2-40B4-BE49-F238E27FC236}">
                <a16:creationId xmlns:a16="http://schemas.microsoft.com/office/drawing/2014/main" id="{F8DEC636-E15D-48BC-A4B0-15EBA4F785AA}"/>
              </a:ext>
            </a:extLst>
          </p:cNvPr>
          <p:cNvSpPr txBox="1"/>
          <p:nvPr/>
        </p:nvSpPr>
        <p:spPr>
          <a:xfrm>
            <a:off x="698500" y="5943600"/>
            <a:ext cx="9144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E5E5E"/>
                </a:solidFill>
                <a:latin typeface="Montserrat"/>
              </a:rPr>
              <a:t>Sources : Règlements (CE) 1924/2006 et (UE) 432/2012 ; Assemblée nationale, réponse ministérielle (dossiers évalués).</a:t>
            </a:r>
          </a:p>
        </p:txBody>
      </p:sp>
    </p:spTree>
    <p:extLst>
      <p:ext uri="{BB962C8B-B14F-4D97-AF65-F5344CB8AC3E}">
        <p14:creationId xmlns:p14="http://schemas.microsoft.com/office/powerpoint/2010/main" val="400059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5" y="361693"/>
            <a:ext cx="11577311" cy="6134614"/>
          </a:xfrm>
          <a:custGeom>
            <a:avLst/>
            <a:gdLst/>
            <a:ahLst/>
            <a:cxnLst/>
            <a:rect l="l" t="t" r="r" b="b"/>
            <a:pathLst>
              <a:path w="17365967" h="9201921">
                <a:moveTo>
                  <a:pt x="0" y="0"/>
                </a:moveTo>
                <a:lnTo>
                  <a:pt x="17365968" y="0"/>
                </a:lnTo>
                <a:lnTo>
                  <a:pt x="1736596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66" t="-82075" b="-14420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 · MARCHÉ ET LANCEMENT</a:t>
            </a:r>
          </a:p>
        </p:txBody>
      </p:sp>
    </p:spTree>
    <p:extLst>
      <p:ext uri="{BB962C8B-B14F-4D97-AF65-F5344CB8AC3E}">
        <p14:creationId xmlns:p14="http://schemas.microsoft.com/office/powerpoint/2010/main" val="2507282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15 | 23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24045" y="1664928"/>
            <a:ext cx="2570384" cy="2651075"/>
          </a:xfrm>
          <a:custGeom>
            <a:avLst/>
            <a:gdLst/>
            <a:ahLst/>
            <a:cxnLst/>
            <a:rect l="l" t="t" r="r" b="b"/>
            <a:pathLst>
              <a:path w="3855576" h="3976612">
                <a:moveTo>
                  <a:pt x="0" y="0"/>
                </a:moveTo>
                <a:lnTo>
                  <a:pt x="3855577" y="0"/>
                </a:lnTo>
                <a:lnTo>
                  <a:pt x="3855577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ventes des magasins bio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en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+8,5 %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Français consomment bio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chaque mois, +5 points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59 %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68222" cy="2651075"/>
          </a:xfrm>
          <a:custGeom>
            <a:avLst/>
            <a:gdLst/>
            <a:ahLst/>
            <a:cxnLst/>
            <a:rect l="l" t="t" r="r" b="b"/>
            <a:pathLst>
              <a:path w="3852333" h="3976612">
                <a:moveTo>
                  <a:pt x="0" y="0"/>
                </a:moveTo>
                <a:lnTo>
                  <a:pt x="3852333" y="0"/>
                </a:lnTo>
                <a:lnTo>
                  <a:pt x="3852333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marché bio français en 2025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+3,6 % en un 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12,6 Md€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Marché · trois signaux favorables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30" name="Graphic 30" descr="Croissance du march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413000"/>
            <a:ext cx="1143000" cy="1143000"/>
          </a:xfrm>
          <a:prstGeom prst="rect">
            <a:avLst/>
          </a:prstGeom>
        </p:spPr>
      </p:pic>
      <p:pic>
        <p:nvPicPr>
          <p:cNvPr id="31" name="Graphic 31" descr="Consommateurs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413000"/>
            <a:ext cx="1143000" cy="1143000"/>
          </a:xfrm>
          <a:prstGeom prst="rect">
            <a:avLst/>
          </a:prstGeom>
        </p:spPr>
      </p:pic>
      <p:pic>
        <p:nvPicPr>
          <p:cNvPr id="32" name="Graphic 32" descr="Magasins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0" y="2413000"/>
            <a:ext cx="1143000" cy="1143000"/>
          </a:xfrm>
          <a:prstGeom prst="rect">
            <a:avLst/>
          </a:prstGeom>
        </p:spPr>
      </p:pic>
      <p:sp>
        <p:nvSpPr>
          <p:cNvPr id="33" name="Source">
            <a:extLst>
              <a:ext uri="{FF2B5EF4-FFF2-40B4-BE49-F238E27FC236}">
                <a16:creationId xmlns:a16="http://schemas.microsoft.com/office/drawing/2014/main" id="{81C72334-9335-4D1B-8BCB-AB5339A8D589}"/>
              </a:ext>
            </a:extLst>
          </p:cNvPr>
          <p:cNvSpPr txBox="1"/>
          <p:nvPr/>
        </p:nvSpPr>
        <p:spPr>
          <a:xfrm>
            <a:off x="698500" y="59436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100">
                <a:solidFill>
                  <a:srgbClr val="5E5E5E"/>
                </a:solidFill>
                <a:latin typeface="Montserrat"/>
              </a:rPr>
              <a:t>Source : Agence Bio, chiffres du marché 2025 (juin 2026) et Baromètre de consommation 2026.</a:t>
            </a:r>
          </a:p>
        </p:txBody>
      </p:sp>
    </p:spTree>
    <p:extLst>
      <p:ext uri="{BB962C8B-B14F-4D97-AF65-F5344CB8AC3E}">
        <p14:creationId xmlns:p14="http://schemas.microsoft.com/office/powerpoint/2010/main" val="142240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16 | 23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35963" y="1664928"/>
            <a:ext cx="2558466" cy="2651075"/>
          </a:xfrm>
          <a:custGeom>
            <a:avLst/>
            <a:gdLst/>
            <a:ahLst/>
            <a:cxnLst/>
            <a:rect l="l" t="t" r="r" b="b"/>
            <a:pathLst>
              <a:path w="3837699" h="3976612">
                <a:moveTo>
                  <a:pt x="0" y="0"/>
                </a:moveTo>
                <a:lnTo>
                  <a:pt x="3837700" y="0"/>
                </a:lnTo>
                <a:lnTo>
                  <a:pt x="3837700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Marketing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Marque et lancement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Affaires réglementaires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Étiquetage et allégations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57385" cy="2651075"/>
          </a:xfrm>
          <a:custGeom>
            <a:avLst/>
            <a:gdLst/>
            <a:ahLst/>
            <a:cxnLst/>
            <a:rect l="l" t="t" r="r" b="b"/>
            <a:pathLst>
              <a:path w="3836078" h="3976612">
                <a:moveTo>
                  <a:pt x="0" y="0"/>
                </a:moveTo>
                <a:lnTo>
                  <a:pt x="3836078" y="0"/>
                </a:lnTo>
                <a:lnTo>
                  <a:pt x="3836078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Formulation et R&amp;D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Recette et tests sensoriels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L'équipe projet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30" name="Graphic 30" descr="Formul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413000"/>
            <a:ext cx="1143000" cy="1143000"/>
          </a:xfrm>
          <a:prstGeom prst="rect">
            <a:avLst/>
          </a:prstGeom>
        </p:spPr>
      </p:pic>
      <p:pic>
        <p:nvPicPr>
          <p:cNvPr id="31" name="Graphic 31" descr="Réglemen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413000"/>
            <a:ext cx="1143000" cy="1143000"/>
          </a:xfrm>
          <a:prstGeom prst="rect">
            <a:avLst/>
          </a:prstGeom>
        </p:spPr>
      </p:pic>
      <p:pic>
        <p:nvPicPr>
          <p:cNvPr id="32" name="Graphic 32" descr="Marke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0" y="2413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1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17 | 23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6003" y="3379369"/>
            <a:ext cx="1885437" cy="176438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6162331" y="3379443"/>
            <a:ext cx="1773995" cy="167414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>
            <a:off x="4227159" y="3379574"/>
            <a:ext cx="1745515" cy="167153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V="1">
            <a:off x="2291997" y="3379574"/>
            <a:ext cx="1745515" cy="167153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 rot="10800000">
            <a:off x="8496152" y="3839200"/>
            <a:ext cx="2997348" cy="1470314"/>
            <a:chOff x="0" y="0"/>
            <a:chExt cx="1611273" cy="7903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13" name="Group 13"/>
          <p:cNvGrpSpPr/>
          <p:nvPr/>
        </p:nvGrpSpPr>
        <p:grpSpPr>
          <a:xfrm rot="324000">
            <a:off x="9853593" y="3462852"/>
            <a:ext cx="255568" cy="185911"/>
            <a:chOff x="0" y="0"/>
            <a:chExt cx="558669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669" cy="406400"/>
            </a:xfrm>
            <a:custGeom>
              <a:avLst/>
              <a:gdLst/>
              <a:ahLst/>
              <a:cxnLst/>
              <a:rect l="l" t="t" r="r" b="b"/>
              <a:pathLst>
                <a:path w="558669" h="406400">
                  <a:moveTo>
                    <a:pt x="0" y="0"/>
                  </a:moveTo>
                  <a:lnTo>
                    <a:pt x="355469" y="0"/>
                  </a:lnTo>
                  <a:lnTo>
                    <a:pt x="558669" y="203200"/>
                  </a:lnTo>
                  <a:lnTo>
                    <a:pt x="35546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57150"/>
              <a:ext cx="304669" cy="46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867"/>
                </a:lnSpc>
              </a:pPr>
              <a:endParaRPr sz="8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655934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Bilan des ventes et décision d'extension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55934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NOVEMBRE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32487" y="1600120"/>
            <a:ext cx="2997348" cy="1470314"/>
            <a:chOff x="0" y="0"/>
            <a:chExt cx="1611273" cy="7903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35911" y="3275243"/>
            <a:ext cx="190500" cy="190500"/>
            <a:chOff x="0" y="0"/>
            <a:chExt cx="609600" cy="6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92269" y="2242392"/>
            <a:ext cx="2677785" cy="20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Vente pilote dans 10 magasins bio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2269" y="1837587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SEPTEMBRE</a:t>
            </a:r>
          </a:p>
        </p:txBody>
      </p:sp>
      <p:grpSp>
        <p:nvGrpSpPr>
          <p:cNvPr id="26" name="Group 26"/>
          <p:cNvGrpSpPr/>
          <p:nvPr/>
        </p:nvGrpSpPr>
        <p:grpSpPr>
          <a:xfrm rot="10800000">
            <a:off x="4568822" y="3839200"/>
            <a:ext cx="2997348" cy="1470314"/>
            <a:chOff x="0" y="0"/>
            <a:chExt cx="1611273" cy="7903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72246" y="3460557"/>
            <a:ext cx="190500" cy="190500"/>
            <a:chOff x="0" y="0"/>
            <a:chExt cx="609600" cy="6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728604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Certification bio et validation de l'étiquette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28604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JUIN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2633661" y="1600120"/>
            <a:ext cx="2997348" cy="1470314"/>
            <a:chOff x="0" y="0"/>
            <a:chExt cx="1611273" cy="7903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37085" y="3275243"/>
            <a:ext cx="190500" cy="190500"/>
            <a:chOff x="0" y="0"/>
            <a:chExt cx="609600" cy="609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793443" y="2242392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Tests de goût auprès de 100 étudiants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93443" y="1837587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MARS</a:t>
            </a:r>
          </a:p>
        </p:txBody>
      </p:sp>
      <p:grpSp>
        <p:nvGrpSpPr>
          <p:cNvPr id="42" name="Group 42"/>
          <p:cNvGrpSpPr/>
          <p:nvPr/>
        </p:nvGrpSpPr>
        <p:grpSpPr>
          <a:xfrm rot="10800000">
            <a:off x="698500" y="3839200"/>
            <a:ext cx="2997348" cy="1470314"/>
            <a:chOff x="0" y="0"/>
            <a:chExt cx="1611273" cy="79039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01924" y="3460557"/>
            <a:ext cx="190500" cy="190500"/>
            <a:chOff x="0" y="0"/>
            <a:chExt cx="609600" cy="609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858282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Formule finale et choix des fournisseurs bio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8282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JANVIER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Box 5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Planning de lancement 2027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247186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06833" y="1479699"/>
            <a:ext cx="4085167" cy="5378301"/>
          </a:xfrm>
          <a:custGeom>
            <a:avLst/>
            <a:gdLst/>
            <a:ahLst/>
            <a:cxnLst/>
            <a:rect l="l" t="t" r="r" b="b"/>
            <a:pathLst>
              <a:path w="6127750" h="8067452">
                <a:moveTo>
                  <a:pt x="0" y="0"/>
                </a:moveTo>
                <a:lnTo>
                  <a:pt x="6127750" y="0"/>
                </a:lnTo>
                <a:lnTo>
                  <a:pt x="6127750" y="8067452"/>
                </a:lnTo>
                <a:lnTo>
                  <a:pt x="0" y="8067452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18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5143500"/>
            <a:ext cx="7090833" cy="227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détail des réponses aux questions probables du jury figure en annexe B.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3175000"/>
            <a:ext cx="7090833" cy="14325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Efficacité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test en double aveugle contre placebo est prévu sur 60 étudiants.</a:t>
            </a:r>
          </a:p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preuves humaines rares, donc aucune allégation sur l'étiquette.</a:t>
            </a:r>
          </a:p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Âge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même à 40 mg, la caféine reste déconseillée aux enfants ; vente aux 16 ans et plus.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095500"/>
            <a:ext cx="7090833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s'appuie sur des études menées sur chaque ingrédient,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pas encore sur un essai de la boisson complète.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Les chiffres du produit restent des cibles de formulation.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410728"/>
            <a:ext cx="7090833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TROIS LIMITES À LEVER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Discussion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17" name="Graphic 17" descr="Limites à vérifi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8800" y="33655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94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14423" y="1048540"/>
            <a:ext cx="5577577" cy="5809461"/>
          </a:xfrm>
          <a:custGeom>
            <a:avLst/>
            <a:gdLst/>
            <a:ahLst/>
            <a:cxnLst/>
            <a:rect l="l" t="t" r="r" b="b"/>
            <a:pathLst>
              <a:path w="8366366" h="8714191">
                <a:moveTo>
                  <a:pt x="0" y="0"/>
                </a:moveTo>
                <a:lnTo>
                  <a:pt x="8366366" y="0"/>
                </a:lnTo>
                <a:lnTo>
                  <a:pt x="8366366" y="8714191"/>
                </a:lnTo>
                <a:lnTo>
                  <a:pt x="0" y="871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5" r="-54123" b="-1936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19 | 23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54750" y="1479699"/>
            <a:ext cx="6102177" cy="4055050"/>
            <a:chOff x="0" y="0"/>
            <a:chExt cx="1291063" cy="8579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1063" cy="857944"/>
            </a:xfrm>
            <a:custGeom>
              <a:avLst/>
              <a:gdLst/>
              <a:ahLst/>
              <a:cxnLst/>
              <a:rect l="l" t="t" r="r" b="b"/>
              <a:pathLst>
                <a:path w="1291063" h="857944">
                  <a:moveTo>
                    <a:pt x="0" y="0"/>
                  </a:moveTo>
                  <a:lnTo>
                    <a:pt x="1291063" y="0"/>
                  </a:lnTo>
                  <a:lnTo>
                    <a:pt x="1291063" y="857944"/>
                  </a:lnTo>
                  <a:lnTo>
                    <a:pt x="0" y="8579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291063" cy="838894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14423" y="1932622"/>
            <a:ext cx="4879077" cy="2387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Énergie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40 mg de caféine, deux fois moins qu'une canette standard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Immunité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seule promesse, celle de la vitamine C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Marché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 bio en reprise, +3,6 % en 2025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Cible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les 16-25 ans, pas de vente aux plus jeunes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3683000"/>
            <a:ext cx="5251450" cy="470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Prochaine étape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tester la boisson complète en double aveugle avant la vente pilote de septembre 2027.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2446697"/>
            <a:ext cx="52514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Oui, une énergie modérée est possible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 caféine et la L-théanine du thé soutiennent l'attention à 40 mg, loin de la limite EFSA.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3192717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8177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487" t="-1699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053863" y="5542533"/>
            <a:ext cx="1960336" cy="61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4" name="Freeform 4"/>
          <p:cNvSpPr/>
          <p:nvPr/>
        </p:nvSpPr>
        <p:spPr>
          <a:xfrm>
            <a:off x="9276866" y="5462574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703551" y="5370764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[Nom de l'école]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[prenom.nom@ecole.fr]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551" y="5065964"/>
            <a:ext cx="3386667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33"/>
              </a:lnSpc>
              <a:spcBef>
                <a:spcPct val="0"/>
              </a:spcBef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CONTACT 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98786" y="1770385"/>
            <a:ext cx="8933810" cy="2618731"/>
            <a:chOff x="0" y="0"/>
            <a:chExt cx="4802514" cy="14077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2514" cy="1407741"/>
            </a:xfrm>
            <a:custGeom>
              <a:avLst/>
              <a:gdLst/>
              <a:ahLst/>
              <a:cxnLst/>
              <a:rect l="l" t="t" r="r" b="b"/>
              <a:pathLst>
                <a:path w="4802514" h="1407741">
                  <a:moveTo>
                    <a:pt x="0" y="0"/>
                  </a:moveTo>
                  <a:lnTo>
                    <a:pt x="4802514" y="0"/>
                  </a:lnTo>
                  <a:lnTo>
                    <a:pt x="4802514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802514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8501" y="2533950"/>
            <a:ext cx="8036523" cy="1282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L'ÉNERGIE DU THÉ,</a:t>
            </a:r>
          </a:p>
          <a:p>
            <a:pPr marL="0" lvl="0" indent="0"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SANS L'EXCÈS</a:t>
            </a:r>
          </a:p>
        </p:txBody>
      </p:sp>
    </p:spTree>
    <p:extLst>
      <p:ext uri="{BB962C8B-B14F-4D97-AF65-F5344CB8AC3E}">
        <p14:creationId xmlns:p14="http://schemas.microsoft.com/office/powerpoint/2010/main" val="177879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21 | 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RÉFÉRENCES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Références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3" name="References">
            <a:extLst>
              <a:ext uri="{FF2B5EF4-FFF2-40B4-BE49-F238E27FC236}">
                <a16:creationId xmlns:a16="http://schemas.microsoft.com/office/drawing/2014/main" id="{1C2F8EDA-9405-4126-BBCD-27FD11B58CF6}"/>
              </a:ext>
            </a:extLst>
          </p:cNvPr>
          <p:cNvSpPr txBox="1"/>
          <p:nvPr/>
        </p:nvSpPr>
        <p:spPr>
          <a:xfrm>
            <a:off x="698500" y="2032000"/>
            <a:ext cx="10795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fr-FR" sz="1200">
                <a:solidFill>
                  <a:srgbClr val="1A1A1A"/>
                </a:solidFill>
                <a:latin typeface="Montserrat"/>
              </a:rPr>
              <a:t>ANSES (2013). Avis relatif à l'évaluation des risques liés à la consommation de boissons dites « énergisantes ». Maisons-Alfort : ANSES.
Assemblée nationale (2026). Rapport d'information sur les boissons énergisantes, présenté le 7 octobre 2026.
EFSA NDA Panel (2015). Scientific Opinion on the safety of caffeine. EFSA Journal, 13(5), 4102.
Giesbrecht, T. et al. (2010). The combination of L-theanine and caffeine improves cognitive performance and increases subjective alertness. Nutritional Neuroscience, 13(6), 283-290.
Higdon, J. et al. (2022). Chlorophyll and metallo-chlorophyll derivatives. Linus Pauling Institute, Oregon State University.
Karsch-Völk, M. et al. (2014). Echinacea for preventing and treating the common cold. Cochrane Database of Systematic Reviews, 2, CD000530.
Owen, G. N. et al. (2008). The combined effects of L-theanine and caffeine on cognitive performance and mood. Nutritional Neuroscience, 11(4), 193-198.
Zucconi, S. et al. (2013). Gathering consumption data on specific consumer groups of energy drinks. EFSA supporting publication EN-394.
Agence Bio (2026). Chiffres du marché et de la production bio 2025 ; Baromètre de consommation bio 2026.
Règlement (CE) n° 1924/2006 concernant les allégations nutritionnelles et de santé ; Règlement (UE) n° 432/2012 (liste des allégations autorisées).</a:t>
            </a:r>
          </a:p>
        </p:txBody>
      </p:sp>
    </p:spTree>
    <p:extLst>
      <p:ext uri="{BB962C8B-B14F-4D97-AF65-F5344CB8AC3E}">
        <p14:creationId xmlns:p14="http://schemas.microsoft.com/office/powerpoint/2010/main" val="949375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22 | 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 A · COMPOSITION CIBLE PAR CANETTE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9B6E66F1-8A20-42E3-9AED-12D04C98D498}"/>
              </a:ext>
            </a:extLst>
          </p:cNvPr>
          <p:cNvGraphicFramePr>
            <a:graphicFrameLocks noGrp="1"/>
          </p:cNvGraphicFramePr>
          <p:nvPr/>
        </p:nvGraphicFramePr>
        <p:xfrm>
          <a:off x="698500" y="2032000"/>
          <a:ext cx="10795000" cy="3322320"/>
        </p:xfrm>
        <a:graphic>
          <a:graphicData uri="http://schemas.openxmlformats.org/drawingml/2006/table">
            <a:tbl>
              <a:tblPr/>
              <a:tblGrid>
                <a:gridCol w="2698750">
                  <a:extLst>
                    <a:ext uri="{9D8B030D-6E8A-4147-A177-3AD203B41FA5}">
                      <a16:colId xmlns:a16="http://schemas.microsoft.com/office/drawing/2014/main" val="618895744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593742427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414083091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8888984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Ingrédient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Quantité cible par canette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Rôle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Preuve ou règle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802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Thé matcha bio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40 mg de caféine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Énergie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Giesbrecht et al. (2010)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2294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L-théanine du thé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97 mg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Attention, calme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Giesbrecht et al. (2010)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189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Acérola bio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80 mg de vitamine C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Immunité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Règl. (UE) 432/2012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4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Chlorophylle (luzerne, ortie)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À fixer après tests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Couleur, antioxydant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LPI (2022)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0571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Gingembre, menthe, hibiscus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À fixer après tests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Goût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Aucune allégation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4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Sucres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Moins de 6,25 g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Faible teneur en sucres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Règl. (CE) 1924/2006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38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3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23 | 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77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Comment prouver l'effet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Essai en double aveugle contre placebo sur 60 étudiants, critère principal : temps de réaction.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9001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77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canettes, est-ce trop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80 mg, sous les 120 mg tolérés à 40 kg, mais sans compter le thé, le café ou le cola du jour.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69001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751" y="4978789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À quoi sert la chlorophylle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Couleur et apport végétal ; ses effets santé chez l'humain restent à démontrer (LPI, 2022).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065" y="4970328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Pourquoi pas de taurine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Elle ne porte aucune allégation autorisée et l'ANSES juge sa sécurité dans ces boissons non démontrée.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Pourquoi garder de la caféine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Seule, la L-théanine n'améliore pas l'attention ; l'effet vient de l'association (Owen et al., 2008).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 B · CINQ QUESTIONS ANTICIPÉES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24867092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5B6B8C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5B6B8C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 [1793026233604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CBCFB7-62F2-4FA2-B11D-F313810AC818}">
  <we:reference id="WA200010001" version="1.0.0.1" store="fr-fr" storeType="omex"/>
  <we:alternateReferences>
    <we:reference id="WA200010001" version="1.0.0.1" store="omex" storeType="omex"/>
  </we:alternateReferences>
  <we:properties>
    <we:property name="claude.fileId" value="&quot;80dd3df3-fa36-40ad-97c2-f8edabf26f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Thème Office</vt:lpstr>
      <vt:lpstr>Thème Office [1793025988079]</vt:lpstr>
      <vt:lpstr>Thème Office [1793025988079]</vt:lpstr>
      <vt:lpstr>Thème Office [1793026233604]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279</cp:revision>
  <dcterms:created xsi:type="dcterms:W3CDTF">2026-10-26T13:37:42Z</dcterms:created>
  <dcterms:modified xsi:type="dcterms:W3CDTF">2026-10-27T14:42:54Z</dcterms:modified>
</cp:coreProperties>
</file>