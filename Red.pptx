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0" r:id="rId2"/>
    <p:sldMasterId id="2147483672" r:id="rId3"/>
    <p:sldMasterId id="2147483684" r:id="rId4"/>
    <p:sldMasterId id="2147483648" r:id="rId5"/>
  </p:sldMasterIdLst>
  <p:sldIdLst>
    <p:sldId id="274" r:id="rId6"/>
    <p:sldId id="275" r:id="rId7"/>
    <p:sldId id="276" r:id="rId8"/>
    <p:sldId id="277" r:id="rId9"/>
    <p:sldId id="281" r:id="rId10"/>
    <p:sldId id="283" r:id="rId11"/>
    <p:sldId id="288" r:id="rId12"/>
    <p:sldId id="278" r:id="rId13"/>
    <p:sldId id="289" r:id="rId14"/>
    <p:sldId id="293" r:id="rId15"/>
    <p:sldId id="291" r:id="rId16"/>
    <p:sldId id="279" r:id="rId17"/>
    <p:sldId id="292" r:id="rId18"/>
    <p:sldId id="280" r:id="rId19"/>
    <p:sldId id="294" r:id="rId20"/>
    <p:sldId id="295" r:id="rId21"/>
    <p:sldId id="298" r:id="rId22"/>
    <p:sldId id="297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1344A-F347-D363-450E-1F9858FD4569}" v="270" dt="2026-10-26T15:49:37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fr-FR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B8B8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8B8B8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945-4A04-BEFD-CB0B564D830E}"/>
              </c:ext>
            </c:extLst>
          </c:dPt>
          <c:dPt>
            <c:idx val="2"/>
            <c:invertIfNegative val="1"/>
            <c:bubble3D val="0"/>
            <c:spPr>
              <a:pattFill prst="ltUpDiag">
                <a:fgClr>
                  <a:srgbClr val="B8B8B8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C945-4A04-BEFD-CB0B564D830E}"/>
              </c:ext>
            </c:extLst>
          </c:dPt>
          <c:dPt>
            <c:idx val="3"/>
            <c:invertIfNegative val="1"/>
            <c:bubble3D val="0"/>
            <c:spPr>
              <a:pattFill prst="ltUpDiag">
                <a:fgClr>
                  <a:srgbClr val="B8B8B8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C945-4A04-BEFD-CB0B564D830E}"/>
              </c:ext>
            </c:extLst>
          </c:dPt>
          <c:dPt>
            <c:idx val="4"/>
            <c:invertIfNegative val="1"/>
            <c:bubble3D val="0"/>
            <c:spPr>
              <a:solidFill>
                <a:srgbClr val="C32D4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C945-4A04-BEFD-CB0B564D830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A1A1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5"/>
              <c:pt idx="0">
                <c:v>Fin 2026</c:v>
              </c:pt>
              <c:pt idx="1">
                <c:v>Mi-2027E</c:v>
              </c:pt>
              <c:pt idx="2">
                <c:v>Fin 2027E</c:v>
              </c:pt>
              <c:pt idx="3">
                <c:v>Mi-2028E</c:v>
              </c:pt>
              <c:pt idx="4">
                <c:v>Fin 2028E</c:v>
              </c:pt>
            </c:strLit>
          </c:cat>
          <c:val>
            <c:numLit>
              <c:formatCode>General</c:formatCode>
              <c:ptCount val="5"/>
              <c:pt idx="0">
                <c:v>140</c:v>
              </c:pt>
              <c:pt idx="1">
                <c:v>160</c:v>
              </c:pt>
              <c:pt idx="2">
                <c:v>230</c:v>
              </c:pt>
              <c:pt idx="3">
                <c:v>330</c:v>
              </c:pt>
              <c:pt idx="4">
                <c:v>420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C945-4A04-BEFD-CB0B564D8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6C6C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A1A1A"/>
                </a:solidFill>
                <a:latin typeface="Montserrat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525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7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838BA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390" r="-39284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4085167" y="1920819"/>
            <a:ext cx="8229895" cy="2618731"/>
            <a:chOff x="0" y="0"/>
            <a:chExt cx="4424113" cy="1407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24113" cy="1407741"/>
            </a:xfrm>
            <a:custGeom>
              <a:avLst/>
              <a:gdLst/>
              <a:ahLst/>
              <a:cxnLst/>
              <a:rect l="l" t="t" r="r" b="b"/>
              <a:pathLst>
                <a:path w="4424113" h="1407741">
                  <a:moveTo>
                    <a:pt x="0" y="0"/>
                  </a:moveTo>
                  <a:lnTo>
                    <a:pt x="4424113" y="0"/>
                  </a:lnTo>
                  <a:lnTo>
                    <a:pt x="4424113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424113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13612" y="2633653"/>
            <a:ext cx="6692589" cy="1025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5600"/>
              </a:lnSpc>
            </a:pPr>
            <a:r>
              <a:rPr lang="fr-FR" sz="5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PROJET ALTÉA</a:t>
            </a:r>
          </a:p>
          <a:p>
            <a:pPr algn="l">
              <a:lnSpc>
                <a:spcPts val="2600"/>
              </a:lnSpc>
            </a:pPr>
            <a:r>
              <a:rPr lang="fr-FR" sz="18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Refonte de la marque et du parcours acquéreur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6833" y="5354977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2199"/>
              </a:lnSpc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Anne-Gaël Fabre, cheffe de projet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01 23 45 67 89</a:t>
            </a:r>
          </a:p>
          <a:p>
            <a:pPr algn="r">
              <a:lnSpc>
                <a:spcPts val="2199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anne-gael.fabre@agence-vision.fr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06833" y="5071292"/>
            <a:ext cx="3386667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8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DOCUMENT RÉALISÉ PAR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3863" y="778459"/>
            <a:ext cx="1452337" cy="61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9276866" y="698500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11" name="Group 11"/>
          <p:cNvGrpSpPr/>
          <p:nvPr/>
        </p:nvGrpSpPr>
        <p:grpSpPr>
          <a:xfrm>
            <a:off x="0" y="5512692"/>
            <a:ext cx="2915134" cy="646808"/>
            <a:chOff x="0" y="0"/>
            <a:chExt cx="1567077" cy="3477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67077" cy="347702"/>
            </a:xfrm>
            <a:custGeom>
              <a:avLst/>
              <a:gdLst/>
              <a:ahLst/>
              <a:cxnLst/>
              <a:rect l="l" t="t" r="r" b="b"/>
              <a:pathLst>
                <a:path w="1567077" h="347702">
                  <a:moveTo>
                    <a:pt x="0" y="0"/>
                  </a:moveTo>
                  <a:lnTo>
                    <a:pt x="1567077" y="0"/>
                  </a:lnTo>
                  <a:lnTo>
                    <a:pt x="1567077" y="347702"/>
                  </a:lnTo>
                  <a:lnTo>
                    <a:pt x="0" y="34770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567077" cy="32865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98500" y="5706049"/>
            <a:ext cx="2229334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JANVIER 2027</a:t>
            </a:r>
          </a:p>
        </p:txBody>
      </p:sp>
    </p:spTree>
    <p:extLst>
      <p:ext uri="{BB962C8B-B14F-4D97-AF65-F5344CB8AC3E}">
        <p14:creationId xmlns:p14="http://schemas.microsoft.com/office/powerpoint/2010/main" val="819332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2 | 18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6096000" y="2707095"/>
            <a:ext cx="0" cy="256710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7562292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Contact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29451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  <p:sp>
        <p:nvSpPr>
          <p:cNvPr id="9" name="AutoShape 9"/>
          <p:cNvSpPr/>
          <p:nvPr/>
        </p:nvSpPr>
        <p:spPr>
          <a:xfrm>
            <a:off x="6729451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7562292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Prochaines étapes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9451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729451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7562292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L'équipe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29451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31341" y="483391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Planning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480004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98500" y="4639610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1531341" y="414685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projet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411297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98500" y="3952545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1531341" y="3459787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3425910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98500" y="3265479"/>
            <a:ext cx="476404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Box 24"/>
          <p:cNvSpPr txBox="1"/>
          <p:nvPr/>
        </p:nvSpPr>
        <p:spPr>
          <a:xfrm>
            <a:off x="1531341" y="2772722"/>
            <a:ext cx="3931209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2799"/>
              </a:lnSpc>
              <a:spcBef>
                <a:spcPct val="0"/>
              </a:spcBef>
            </a:pPr>
            <a:r>
              <a:rPr lang="fr-FR" sz="1999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mot de la cheffe de projet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8500" y="2738845"/>
            <a:ext cx="817361" cy="474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04729" y="994703"/>
            <a:ext cx="1987271" cy="822508"/>
            <a:chOff x="0" y="0"/>
            <a:chExt cx="600913" cy="2487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987272" y="939800"/>
            <a:ext cx="8217458" cy="113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8534"/>
              </a:lnSpc>
            </a:pPr>
            <a:r>
              <a:rPr lang="en-US" sz="9482" b="1" u="none" strike="noStrike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SOMMAIRE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" y="994703"/>
            <a:ext cx="1987271" cy="822508"/>
            <a:chOff x="0" y="0"/>
            <a:chExt cx="600913" cy="2487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0913" cy="248711"/>
            </a:xfrm>
            <a:custGeom>
              <a:avLst/>
              <a:gdLst/>
              <a:ahLst/>
              <a:cxnLst/>
              <a:rect l="l" t="t" r="r" b="b"/>
              <a:pathLst>
                <a:path w="600913" h="248711">
                  <a:moveTo>
                    <a:pt x="0" y="0"/>
                  </a:moveTo>
                  <a:lnTo>
                    <a:pt x="600913" y="0"/>
                  </a:lnTo>
                  <a:lnTo>
                    <a:pt x="600913" y="248711"/>
                  </a:lnTo>
                  <a:lnTo>
                    <a:pt x="0" y="248711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19050"/>
              <a:ext cx="600913" cy="22966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3812986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54750" y="0"/>
            <a:ext cx="5937250" cy="6858000"/>
          </a:xfrm>
          <a:custGeom>
            <a:avLst/>
            <a:gdLst/>
            <a:ahLst/>
            <a:cxnLst/>
            <a:rect l="l" t="t" r="r" b="b"/>
            <a:pathLst>
              <a:path w="8905875" h="10287000">
                <a:moveTo>
                  <a:pt x="0" y="0"/>
                </a:moveTo>
                <a:lnTo>
                  <a:pt x="8905875" y="0"/>
                </a:lnTo>
                <a:lnTo>
                  <a:pt x="89058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439" b="-2050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3 |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5920339"/>
            <a:ext cx="5238750" cy="227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67"/>
              </a:lnSpc>
            </a:pPr>
            <a:r>
              <a:rPr lang="fr-FR" sz="1333" b="1" i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ANNE-GAËL FABRE, CHEFFE DE PROJET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3911600"/>
            <a:ext cx="52387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point de départ : 38 000 personnes visitent chaque mois le site d'Altéa, et moins d'une sur 80 laisse ses coordonnées.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Notre mission est de transformer ces visites en rendez-vous.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716643"/>
            <a:ext cx="5238750" cy="95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Altéa Immobilier nous confie la refonte de sa marque, de son site et du suivi de ses demandes. C'est le plus gros projet de l'agence cette année :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11 mois, 6 personnes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et un objectif chiffré que le client suivra chaque mois.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628522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en-US" sz="3333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CHERS </a:t>
            </a:r>
            <a:r>
              <a:rPr lang="en-US" sz="3333" b="1" u="none" strike="noStrike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COLLABORATEURS,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697493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523875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1180665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4" y="361693"/>
            <a:ext cx="11602925" cy="6134614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66" b="-4904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 | 18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01 · LE CONSTAT</a:t>
            </a:r>
          </a:p>
        </p:txBody>
      </p:sp>
    </p:spTree>
    <p:extLst>
      <p:ext uri="{BB962C8B-B14F-4D97-AF65-F5344CB8AC3E}">
        <p14:creationId xmlns:p14="http://schemas.microsoft.com/office/powerpoint/2010/main" val="134507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330826"/>
            <a:ext cx="12192000" cy="4527174"/>
          </a:xfrm>
          <a:custGeom>
            <a:avLst/>
            <a:gdLst/>
            <a:ahLst/>
            <a:cxnLst/>
            <a:rect l="l" t="t" r="r" b="b"/>
            <a:pathLst>
              <a:path w="18288000" h="6790761">
                <a:moveTo>
                  <a:pt x="0" y="0"/>
                </a:moveTo>
                <a:lnTo>
                  <a:pt x="18288000" y="0"/>
                </a:lnTo>
                <a:lnTo>
                  <a:pt x="18288000" y="6790761"/>
                </a:lnTo>
                <a:lnTo>
                  <a:pt x="0" y="679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194" b="-28260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8009145" y="3560264"/>
            <a:ext cx="3484355" cy="2037089"/>
            <a:chOff x="0" y="0"/>
            <a:chExt cx="1441841" cy="842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95782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identités visuelles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pour un seul promoteur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95782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353823" y="3560264"/>
            <a:ext cx="3484355" cy="2037089"/>
            <a:chOff x="0" y="0"/>
            <a:chExt cx="1441841" cy="8429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440460" y="4806307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 délai moyen avant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rappel d'un conseiller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40460" y="3899523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 j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009145" y="1323604"/>
            <a:ext cx="3484355" cy="2037089"/>
            <a:chOff x="0" y="0"/>
            <a:chExt cx="1441841" cy="8429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095782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abandonnent le formulaire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 contact (14 champs)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5782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62 %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353823" y="1323604"/>
            <a:ext cx="3484355" cy="2037089"/>
            <a:chOff x="0" y="0"/>
            <a:chExt cx="1441841" cy="84295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1841" cy="842955"/>
            </a:xfrm>
            <a:custGeom>
              <a:avLst/>
              <a:gdLst/>
              <a:ahLst/>
              <a:cxnLst/>
              <a:rect l="l" t="t" r="r" b="b"/>
              <a:pathLst>
                <a:path w="1441841" h="842955">
                  <a:moveTo>
                    <a:pt x="0" y="0"/>
                  </a:moveTo>
                  <a:lnTo>
                    <a:pt x="1441841" y="0"/>
                  </a:lnTo>
                  <a:lnTo>
                    <a:pt x="1441841" y="842955"/>
                  </a:lnTo>
                  <a:lnTo>
                    <a:pt x="0" y="84295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441841" cy="82390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440460" y="2567968"/>
            <a:ext cx="3308589" cy="520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seulement laissent</a:t>
            </a:r>
          </a:p>
          <a:p>
            <a:pPr algn="ctr">
              <a:lnSpc>
                <a:spcPts val="2053"/>
              </a:lnSpc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leurs coordonnées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0460" y="1661184"/>
            <a:ext cx="3308589" cy="754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5760"/>
              </a:lnSpc>
              <a:spcBef>
                <a:spcPct val="0"/>
              </a:spcBef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1,2 %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5765849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5765849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 flipV="1">
            <a:off x="9419926" y="4653907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 flipV="1">
            <a:off x="9421171" y="2409218"/>
            <a:ext cx="660303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698501" y="1312282"/>
            <a:ext cx="3471655" cy="2037089"/>
            <a:chOff x="0" y="0"/>
            <a:chExt cx="6943311" cy="407417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72644" y="2498673"/>
              <a:ext cx="6598023" cy="100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visiteurs par mois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sur le site d'Altéa</a:t>
              </a:r>
            </a:p>
          </p:txBody>
        </p:sp>
        <p:sp>
          <p:nvSpPr>
            <p:cNvPr id="32" name="AutoShape 32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u="none" strike="noStrike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38 000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98501" y="3560264"/>
            <a:ext cx="3471655" cy="2037089"/>
            <a:chOff x="0" y="0"/>
            <a:chExt cx="6943311" cy="4074177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943311" cy="4074177"/>
              <a:chOff x="0" y="0"/>
              <a:chExt cx="1436585" cy="84295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436585" cy="842955"/>
              </a:xfrm>
              <a:custGeom>
                <a:avLst/>
                <a:gdLst/>
                <a:ahLst/>
                <a:cxnLst/>
                <a:rect l="l" t="t" r="r" b="b"/>
                <a:pathLst>
                  <a:path w="1436585" h="842955">
                    <a:moveTo>
                      <a:pt x="0" y="0"/>
                    </a:moveTo>
                    <a:lnTo>
                      <a:pt x="1436585" y="0"/>
                    </a:lnTo>
                    <a:lnTo>
                      <a:pt x="1436585" y="842955"/>
                    </a:lnTo>
                    <a:lnTo>
                      <a:pt x="0" y="84295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32D4B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19050"/>
                <a:ext cx="1436585" cy="82390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>
                <a:defPPr>
                  <a:defRPr lang="en-US"/>
                </a:defPPr>
                <a:lvl1pPr marL="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04770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0953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309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1907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23848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61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33387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38156" algn="l" defTabSz="609539" rtl="0" eaLnBrk="1" latinLnBrk="0" hangingPunct="1"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lvl="0" indent="0" algn="ctr">
                  <a:lnSpc>
                    <a:spcPts val="809"/>
                  </a:lnSpc>
                  <a:spcBef>
                    <a:spcPct val="0"/>
                  </a:spcBef>
                </a:pPr>
                <a:endParaRPr sz="800"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72644" y="2498673"/>
              <a:ext cx="6598023" cy="1005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des visites se font sur</a:t>
              </a:r>
            </a:p>
            <a:p>
              <a:pPr algn="ctr">
                <a:lnSpc>
                  <a:spcPts val="2053"/>
                </a:lnSpc>
              </a:pPr>
              <a:r>
                <a:rPr lang="fr-FR" sz="1466" dirty="0">
                  <a:solidFill>
                    <a:srgbClr val="000000"/>
                  </a:solidFill>
                  <a:latin typeface="Montserrat"/>
                  <a:ea typeface="Montserrat"/>
                  <a:cs typeface="Montserrat"/>
                </a:rPr>
                <a:t>mobile, site non adapté</a:t>
              </a:r>
            </a:p>
          </p:txBody>
        </p:sp>
        <p:sp>
          <p:nvSpPr>
            <p:cNvPr id="39" name="AutoShape 39"/>
            <p:cNvSpPr/>
            <p:nvPr/>
          </p:nvSpPr>
          <p:spPr>
            <a:xfrm flipV="1">
              <a:off x="2811353" y="2193873"/>
              <a:ext cx="1320606" cy="0"/>
            </a:xfrm>
            <a:prstGeom prst="line">
              <a:avLst/>
            </a:prstGeom>
            <a:ln w="25400" cap="flat">
              <a:solidFill>
                <a:srgbClr val="C32D4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2644" y="643828"/>
              <a:ext cx="6598023" cy="1537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r>
                <a:rPr lang="fr-FR" sz="5334" b="1" dirty="0">
                  <a:solidFill>
                    <a:srgbClr val="C32D4B"/>
                  </a:solidFill>
                  <a:latin typeface="Montserrat"/>
                  <a:ea typeface="Montserrat"/>
                  <a:cs typeface="Montserrat"/>
                </a:rPr>
                <a:t>71 %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Box 4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 | 18</a:t>
            </a:r>
          </a:p>
        </p:txBody>
      </p:sp>
    </p:spTree>
    <p:extLst>
      <p:ext uri="{BB962C8B-B14F-4D97-AF65-F5344CB8AC3E}">
        <p14:creationId xmlns:p14="http://schemas.microsoft.com/office/powerpoint/2010/main" val="319730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6 | 18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254750" y="3625569"/>
            <a:ext cx="6065229" cy="1858275"/>
            <a:chOff x="0" y="0"/>
            <a:chExt cx="1283246" cy="3931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246" cy="393163"/>
            </a:xfrm>
            <a:custGeom>
              <a:avLst/>
              <a:gdLst/>
              <a:ahLst/>
              <a:cxnLst/>
              <a:rect l="l" t="t" r="r" b="b"/>
              <a:pathLst>
                <a:path w="1283246" h="393163">
                  <a:moveTo>
                    <a:pt x="0" y="0"/>
                  </a:moveTo>
                  <a:lnTo>
                    <a:pt x="1283246" y="0"/>
                  </a:lnTo>
                  <a:lnTo>
                    <a:pt x="1283246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1283246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09984" y="3713321"/>
            <a:ext cx="4883516" cy="16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66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 jours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avant le premier rappel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254750" y="1555659"/>
            <a:ext cx="5937250" cy="1858275"/>
            <a:chOff x="0" y="0"/>
            <a:chExt cx="1256169" cy="3931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6169" cy="393163"/>
            </a:xfrm>
            <a:custGeom>
              <a:avLst/>
              <a:gdLst/>
              <a:ahLst/>
              <a:cxnLst/>
              <a:rect l="l" t="t" r="r" b="b"/>
              <a:pathLst>
                <a:path w="1256169" h="393163">
                  <a:moveTo>
                    <a:pt x="0" y="0"/>
                  </a:moveTo>
                  <a:lnTo>
                    <a:pt x="1256169" y="0"/>
                  </a:lnTo>
                  <a:lnTo>
                    <a:pt x="1256169" y="393163"/>
                  </a:lnTo>
                  <a:lnTo>
                    <a:pt x="0" y="393163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256169" cy="374113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609984" y="1643411"/>
            <a:ext cx="4883516" cy="1676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spcBef>
                <a:spcPct val="0"/>
              </a:spcBef>
            </a:pPr>
            <a:r>
              <a:rPr lang="fr-FR" sz="8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62 %</a:t>
            </a:r>
          </a:p>
          <a:p>
            <a:pPr marL="0" lvl="0" indent="0" algn="l">
              <a:spcBef>
                <a:spcPct val="0"/>
              </a:spcBef>
            </a:pPr>
            <a:r>
              <a:rPr lang="fr-F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des formulaires abandonnés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500" y="4993328"/>
            <a:ext cx="5238750" cy="120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marque éclatée.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Avec trois logos et quatorze mini-sites, l'acquéreur ne voit pas qu'il s'agit du même promoteur.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3720012"/>
            <a:ext cx="5238750" cy="120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Des demandes sans propriétaire.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Quatre conseillers les reçoivent dans leur boîte mail, sans CRM. Le premier rappel arrive en moyenne 11 jours plus tard.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2446697"/>
            <a:ext cx="52387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884" lvl="1" indent="-143943" algn="l">
              <a:lnSpc>
                <a:spcPts val="1867"/>
              </a:lnSpc>
              <a:buFont typeface="Arial"/>
              <a:buChar char="•"/>
            </a:pPr>
            <a:r>
              <a:rPr lang="fr-FR" sz="1400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formulaire trop long. </a:t>
            </a: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14 champs, dont le revenu fiscal, avant même de voir un prix. 62 % des visiteurs qui le commencent ne l'envoient pas.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OÙ ALTÉA PERD SES ACQUÉREURS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270037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7 |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3937000"/>
            <a:ext cx="5251450" cy="120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Hypothèse : le trafic reste stable à 38 000 visites par mois. Toute la hausse vient du formulaire en 4 champs, du site mobile et du rappel sous 24 h.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540000"/>
            <a:ext cx="5251450" cy="1933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Aujourd'hui, Altéa reçoit 140 demandes qualifiées par mois, c'est-à-dire un acquéreur identifié, avec un budget et un délai.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projet vise 230 demandes par mois fin 2027, puis 420 fin 2028.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OBJECTIF : 3× PLUS DE DEMANDES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constat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6350000" y="1651000"/>
          <a:ext cx="51435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hart label">
            <a:extLst>
              <a:ext uri="{FF2B5EF4-FFF2-40B4-BE49-F238E27FC236}">
                <a16:creationId xmlns:a16="http://schemas.microsoft.com/office/drawing/2014/main" id="{8807D032-D2B1-45E1-ABE0-6969C543EFA7}"/>
              </a:ext>
            </a:extLst>
          </p:cNvPr>
          <p:cNvSpPr txBox="1"/>
          <p:nvPr/>
        </p:nvSpPr>
        <p:spPr>
          <a:xfrm>
            <a:off x="6350000" y="1320800"/>
            <a:ext cx="5143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400" b="1">
                <a:solidFill>
                  <a:srgbClr val="1A1A1A"/>
                </a:solidFill>
                <a:latin typeface="Montserrat"/>
              </a:rPr>
              <a:t>Demandes qualifiées par mois, réel et objectif</a:t>
            </a:r>
          </a:p>
        </p:txBody>
      </p:sp>
      <p:grpSp>
        <p:nvGrpSpPr>
          <p:cNvPr id="17" name="GrowthArrow f16 0"/>
          <p:cNvGrpSpPr/>
          <p:nvPr/>
        </p:nvGrpSpPr>
        <p:grpSpPr>
          <a:xfrm>
            <a:off x="7026646" y="2361480"/>
            <a:ext cx="3790208" cy="1847227"/>
            <a:chOff x="7026646" y="2361480"/>
            <a:chExt cx="3790208" cy="1847227"/>
          </a:xfrm>
        </p:grpSpPr>
        <p:cxnSp>
          <p:nvCxnSpPr>
            <p:cNvPr id="18" name="GrowthArrow f16 0 rise"/>
            <p:cNvCxnSpPr/>
            <p:nvPr/>
          </p:nvCxnSpPr>
          <p:spPr>
            <a:xfrm flipV="1">
              <a:off x="7026646" y="2486480"/>
              <a:ext cx="1" cy="1722227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19" name="GrowthArrow f16 0 line"/>
            <p:cNvCxnSpPr/>
            <p:nvPr/>
          </p:nvCxnSpPr>
          <p:spPr>
            <a:xfrm>
              <a:off x="7026646" y="2486480"/>
              <a:ext cx="3790208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" name="GrowthArrow f16 0 drop"/>
            <p:cNvCxnSpPr/>
            <p:nvPr/>
          </p:nvCxnSpPr>
          <p:spPr>
            <a:xfrm>
              <a:off x="10816854" y="248648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" name="GrowthArrow f16 0 label"/>
            <p:cNvSpPr txBox="1"/>
            <p:nvPr/>
          </p:nvSpPr>
          <p:spPr>
            <a:xfrm>
              <a:off x="8258070" y="2361480"/>
              <a:ext cx="132736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sz="1600" b="1" dirty="0">
                  <a:solidFill>
                    <a:srgbClr val="1A1A1A"/>
                  </a:solidFill>
                  <a:latin typeface="Montserrat"/>
                </a:rPr>
                <a:t>+200 %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88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4" y="361693"/>
            <a:ext cx="11602925" cy="6134614"/>
          </a:xfrm>
          <a:custGeom>
            <a:avLst/>
            <a:gdLst/>
            <a:ahLst/>
            <a:cxnLst/>
            <a:rect l="l" t="t" r="r" b="b"/>
            <a:pathLst>
              <a:path w="17404387" h="9201921">
                <a:moveTo>
                  <a:pt x="0" y="0"/>
                </a:moveTo>
                <a:lnTo>
                  <a:pt x="17404388" y="0"/>
                </a:lnTo>
                <a:lnTo>
                  <a:pt x="1740438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046" b="-13046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| 18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 · LE PROJET</a:t>
            </a:r>
          </a:p>
        </p:txBody>
      </p:sp>
    </p:spTree>
    <p:extLst>
      <p:ext uri="{BB962C8B-B14F-4D97-AF65-F5344CB8AC3E}">
        <p14:creationId xmlns:p14="http://schemas.microsoft.com/office/powerpoint/2010/main" val="751566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14423" y="1048540"/>
            <a:ext cx="5577577" cy="5809461"/>
          </a:xfrm>
          <a:custGeom>
            <a:avLst/>
            <a:gdLst/>
            <a:ahLst/>
            <a:cxnLst/>
            <a:rect l="l" t="t" r="r" b="b"/>
            <a:pathLst>
              <a:path w="8366366" h="8714191">
                <a:moveTo>
                  <a:pt x="0" y="0"/>
                </a:moveTo>
                <a:lnTo>
                  <a:pt x="8366366" y="0"/>
                </a:lnTo>
                <a:lnTo>
                  <a:pt x="8366366" y="8714191"/>
                </a:lnTo>
                <a:lnTo>
                  <a:pt x="0" y="871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5" r="-54123" b="-19361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9 | 18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54750" y="1479699"/>
            <a:ext cx="6102177" cy="4055050"/>
            <a:chOff x="0" y="0"/>
            <a:chExt cx="1291063" cy="8579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91063" cy="857944"/>
            </a:xfrm>
            <a:custGeom>
              <a:avLst/>
              <a:gdLst/>
              <a:ahLst/>
              <a:cxnLst/>
              <a:rect l="l" t="t" r="r" b="b"/>
              <a:pathLst>
                <a:path w="1291063" h="857944">
                  <a:moveTo>
                    <a:pt x="0" y="0"/>
                  </a:moveTo>
                  <a:lnTo>
                    <a:pt x="1291063" y="0"/>
                  </a:lnTo>
                  <a:lnTo>
                    <a:pt x="1291063" y="857944"/>
                  </a:lnTo>
                  <a:lnTo>
                    <a:pt x="0" y="85794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1291063" cy="838894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14423" y="1932622"/>
            <a:ext cx="4879077" cy="3066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Marque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une identité unique pour les 14 programmes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Site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 parcours conçu d'abord pour le mobile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Formulaire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4 champs au lieu de 14</a:t>
            </a:r>
          </a:p>
          <a:p>
            <a:pPr marL="345456" lvl="1" indent="-172728" algn="l">
              <a:lnSpc>
                <a:spcPts val="2719"/>
              </a:lnSpc>
              <a:buFont typeface="Arial"/>
              <a:buChar char="•"/>
            </a:pPr>
            <a:r>
              <a:rPr lang="fr-FR" sz="1599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CRM : </a:t>
            </a:r>
            <a:r>
              <a:rPr lang="fr-FR" sz="1599" b="0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chaque demande attribuée en moins d'une heure, rappel sous 24 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3683000"/>
            <a:ext cx="5251450" cy="1202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Budget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480 k€ HT sur 11 mois, dont 45 % pour le site, 30 % pour la marque et 25 % pour le CRM et la formation des conseillers.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2446697"/>
            <a:ext cx="5251450" cy="1933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Jusqu'ici, chaque programme d'Altéa avait son mini-site, son logo et son formulaire, et les demandes partaient par e-mail sans suivi.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projet réunit tout sous une seule marque, un seul site et un CRM commun.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8500" y="1410728"/>
            <a:ext cx="5238750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TROIS CHANTIERS, UN SEUL OBJECTIF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projet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4287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60216" y="4688371"/>
            <a:ext cx="13112432" cy="2169629"/>
            <a:chOff x="0" y="0"/>
            <a:chExt cx="7048800" cy="11663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48800" cy="1166319"/>
            </a:xfrm>
            <a:custGeom>
              <a:avLst/>
              <a:gdLst/>
              <a:ahLst/>
              <a:cxnLst/>
              <a:rect l="l" t="t" r="r" b="b"/>
              <a:pathLst>
                <a:path w="7048800" h="1166319">
                  <a:moveTo>
                    <a:pt x="0" y="0"/>
                  </a:moveTo>
                  <a:lnTo>
                    <a:pt x="7048800" y="0"/>
                  </a:lnTo>
                  <a:lnTo>
                    <a:pt x="7048800" y="1166319"/>
                  </a:lnTo>
                  <a:lnTo>
                    <a:pt x="0" y="1166319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7048800" cy="114726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40700" y="3135857"/>
            <a:ext cx="3365500" cy="2483664"/>
            <a:chOff x="0" y="0"/>
            <a:chExt cx="1329580" cy="9812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53450" y="4009813"/>
            <a:ext cx="2540000" cy="107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Photos de chantier, avis d'acquéreurs et visites vidéo à la place des images de synthèse.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9285829" y="3855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8553450" y="3385679"/>
            <a:ext cx="254000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PREUVE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413250" y="3135857"/>
            <a:ext cx="3365500" cy="2483664"/>
            <a:chOff x="0" y="0"/>
            <a:chExt cx="1329580" cy="9812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26000" y="4009813"/>
            <a:ext cx="2540000" cy="107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Chaque demande est attribuée en moins d'une heure et rappelée sous 24 h.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5556661" y="3855580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4826000" y="3385679"/>
            <a:ext cx="254000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RÉACTIVITÉ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5800" y="3135857"/>
            <a:ext cx="3365500" cy="2483664"/>
            <a:chOff x="0" y="0"/>
            <a:chExt cx="1329580" cy="9812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29580" cy="981201"/>
            </a:xfrm>
            <a:custGeom>
              <a:avLst/>
              <a:gdLst/>
              <a:ahLst/>
              <a:cxnLst/>
              <a:rect l="l" t="t" r="r" b="b"/>
              <a:pathLst>
                <a:path w="1329580" h="981201">
                  <a:moveTo>
                    <a:pt x="0" y="0"/>
                  </a:moveTo>
                  <a:lnTo>
                    <a:pt x="1329580" y="0"/>
                  </a:lnTo>
                  <a:lnTo>
                    <a:pt x="1329580" y="981201"/>
                  </a:lnTo>
                  <a:lnTo>
                    <a:pt x="0" y="98120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1329580" cy="96215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98550" y="4044894"/>
            <a:ext cx="2540000" cy="10761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400" i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Prix, plans et date de livraison visibles dès la page du programme, sans formulaire.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1829211" y="3890661"/>
            <a:ext cx="1078679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1098550" y="3420761"/>
            <a:ext cx="2540000" cy="336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799"/>
              </a:lnSpc>
              <a:spcBef>
                <a:spcPct val="0"/>
              </a:spcBef>
            </a:pPr>
            <a:r>
              <a:rPr lang="fr-FR" sz="1999" b="1" u="none" strike="noStrike" spc="99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CLARTÉ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5800" y="1980009"/>
            <a:ext cx="5251450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Les acquéreurs d'Altéa choisissent d'abord un quartier, une école et un temps de trajet.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nouveau site part de ces questions, pas du catalogue des lots.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54750" y="1980009"/>
            <a:ext cx="5251450" cy="715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Trois principes guident chaque décision, de la charte graphique au script d'appel des conseillers.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proposition qui n'en sert aucun est écartée.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projet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UN LIEU DE VIE, PAS DES M²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10 | 18</a:t>
            </a:r>
          </a:p>
        </p:txBody>
      </p:sp>
    </p:spTree>
    <p:extLst>
      <p:ext uri="{BB962C8B-B14F-4D97-AF65-F5344CB8AC3E}">
        <p14:creationId xmlns:p14="http://schemas.microsoft.com/office/powerpoint/2010/main" val="428403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 | 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297701" y="3559035"/>
            <a:ext cx="4208499" cy="144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Suivre.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Après la réservation, l'acquéreur suit l'avancement du chantier dans son espace client.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69001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05.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7701" y="2149861"/>
            <a:ext cx="4208499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Visiter.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Le conseiller rappelle sous 24 h et propose une visite au bureau de vente ou en vidéo.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69001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751" y="4978789"/>
            <a:ext cx="4208499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Contacter.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4 champs à remplir. Le CRM attribue la demande à un conseiller en moins d'une heure.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9065" y="4970328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03.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4501" y="3559035"/>
            <a:ext cx="4208499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Simuler.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 simulateur calcule la mensualité et l'éligibilité au prêt à taux zéro en moins d'une minute.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3561154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02.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4501" y="2149861"/>
            <a:ext cx="4208499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Découvrir.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L'acquéreur cherche par quartier, budget et date de livraison, et voit les prix tout de suite.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800" y="2151972"/>
            <a:ext cx="1028700" cy="569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1410728"/>
            <a:ext cx="10795000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PARCOURS ACQUÉREUR EN 5 ÉTAPES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Le projet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832618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20151" y="361693"/>
            <a:ext cx="11551698" cy="6134614"/>
          </a:xfrm>
          <a:custGeom>
            <a:avLst/>
            <a:gdLst/>
            <a:ahLst/>
            <a:cxnLst/>
            <a:rect l="l" t="t" r="r" b="b"/>
            <a:pathLst>
              <a:path w="17327547" h="9201921">
                <a:moveTo>
                  <a:pt x="17327548" y="0"/>
                </a:moveTo>
                <a:lnTo>
                  <a:pt x="0" y="0"/>
                </a:lnTo>
                <a:lnTo>
                  <a:pt x="0" y="9201922"/>
                </a:lnTo>
                <a:lnTo>
                  <a:pt x="17327548" y="9201922"/>
                </a:lnTo>
                <a:lnTo>
                  <a:pt x="17327548" y="0"/>
                </a:lnTo>
                <a:close/>
              </a:path>
            </a:pathLst>
          </a:custGeom>
          <a:blipFill>
            <a:blip r:embed="rId2"/>
            <a:stretch>
              <a:fillRect t="-25535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 | 18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0151" y="3162272"/>
            <a:ext cx="11551698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03 · LE PLANNING</a:t>
            </a:r>
          </a:p>
        </p:txBody>
      </p:sp>
    </p:spTree>
    <p:extLst>
      <p:ext uri="{BB962C8B-B14F-4D97-AF65-F5344CB8AC3E}">
        <p14:creationId xmlns:p14="http://schemas.microsoft.com/office/powerpoint/2010/main" val="2817835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13 | 18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6003" y="3379369"/>
            <a:ext cx="1885437" cy="176438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6162331" y="3379443"/>
            <a:ext cx="1773995" cy="167414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>
            <a:off x="4227159" y="3379574"/>
            <a:ext cx="1745515" cy="167153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V="1">
            <a:off x="2291997" y="3379574"/>
            <a:ext cx="1745515" cy="167153"/>
          </a:xfrm>
          <a:prstGeom prst="line">
            <a:avLst/>
          </a:prstGeom>
          <a:ln w="47625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0" name="Group 10"/>
          <p:cNvGrpSpPr/>
          <p:nvPr/>
        </p:nvGrpSpPr>
        <p:grpSpPr>
          <a:xfrm rot="10800000">
            <a:off x="8496152" y="3839200"/>
            <a:ext cx="2997348" cy="1470314"/>
            <a:chOff x="0" y="0"/>
            <a:chExt cx="1611273" cy="7903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13" name="Group 13"/>
          <p:cNvGrpSpPr/>
          <p:nvPr/>
        </p:nvGrpSpPr>
        <p:grpSpPr>
          <a:xfrm rot="324000">
            <a:off x="9853593" y="3462852"/>
            <a:ext cx="255568" cy="185911"/>
            <a:chOff x="0" y="0"/>
            <a:chExt cx="558669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669" cy="406400"/>
            </a:xfrm>
            <a:custGeom>
              <a:avLst/>
              <a:gdLst/>
              <a:ahLst/>
              <a:cxnLst/>
              <a:rect l="l" t="t" r="r" b="b"/>
              <a:pathLst>
                <a:path w="558669" h="406400">
                  <a:moveTo>
                    <a:pt x="0" y="0"/>
                  </a:moveTo>
                  <a:lnTo>
                    <a:pt x="355469" y="0"/>
                  </a:lnTo>
                  <a:lnTo>
                    <a:pt x="558669" y="203200"/>
                  </a:lnTo>
                  <a:lnTo>
                    <a:pt x="355469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57150"/>
              <a:ext cx="304669" cy="4635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1867"/>
                </a:lnSpc>
              </a:pPr>
              <a:endParaRPr sz="800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655934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Bilan : objectif de 230 demandes qualifiées par mois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55934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NOVEMBRE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532487" y="1600120"/>
            <a:ext cx="2997348" cy="1470314"/>
            <a:chOff x="0" y="0"/>
            <a:chExt cx="1611273" cy="7903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35911" y="3275243"/>
            <a:ext cx="190500" cy="190500"/>
            <a:chOff x="0" y="0"/>
            <a:chExt cx="609600" cy="6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92269" y="2242392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Nouveau site en ligne pour les 14 programmes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2269" y="1837587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SEPTEMBRE</a:t>
            </a:r>
          </a:p>
        </p:txBody>
      </p:sp>
      <p:grpSp>
        <p:nvGrpSpPr>
          <p:cNvPr id="26" name="Group 26"/>
          <p:cNvGrpSpPr/>
          <p:nvPr/>
        </p:nvGrpSpPr>
        <p:grpSpPr>
          <a:xfrm rot="10800000">
            <a:off x="4568822" y="3839200"/>
            <a:ext cx="2997348" cy="1470314"/>
            <a:chOff x="0" y="0"/>
            <a:chExt cx="1611273" cy="7903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72246" y="3460557"/>
            <a:ext cx="190500" cy="190500"/>
            <a:chOff x="0" y="0"/>
            <a:chExt cx="609600" cy="6096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728604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Formulaire et CRM testés sur 2 programmes pilotes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28604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JUIN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2633661" y="1600120"/>
            <a:ext cx="2997348" cy="1470314"/>
            <a:chOff x="0" y="0"/>
            <a:chExt cx="1611273" cy="7903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037085" y="3275243"/>
            <a:ext cx="190500" cy="190500"/>
            <a:chOff x="0" y="0"/>
            <a:chExt cx="609600" cy="6096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793443" y="2242392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Nouvelle identité validée par la direction d'Altéa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93443" y="1837587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MARS</a:t>
            </a:r>
          </a:p>
        </p:txBody>
      </p:sp>
      <p:grpSp>
        <p:nvGrpSpPr>
          <p:cNvPr id="42" name="Group 42"/>
          <p:cNvGrpSpPr/>
          <p:nvPr/>
        </p:nvGrpSpPr>
        <p:grpSpPr>
          <a:xfrm rot="10800000">
            <a:off x="698500" y="3839200"/>
            <a:ext cx="2997348" cy="1470314"/>
            <a:chOff x="0" y="0"/>
            <a:chExt cx="1611273" cy="79039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611273" cy="790391"/>
            </a:xfrm>
            <a:custGeom>
              <a:avLst/>
              <a:gdLst/>
              <a:ahLst/>
              <a:cxnLst/>
              <a:rect l="l" t="t" r="r" b="b"/>
              <a:pathLst>
                <a:path w="1611273" h="790391">
                  <a:moveTo>
                    <a:pt x="1611273" y="0"/>
                  </a:moveTo>
                  <a:lnTo>
                    <a:pt x="1611273" y="676091"/>
                  </a:lnTo>
                  <a:lnTo>
                    <a:pt x="805636" y="790391"/>
                  </a:lnTo>
                  <a:lnTo>
                    <a:pt x="0" y="676091"/>
                  </a:lnTo>
                  <a:lnTo>
                    <a:pt x="0" y="0"/>
                  </a:lnTo>
                  <a:lnTo>
                    <a:pt x="1611273" y="0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19050"/>
              <a:ext cx="1611273" cy="65704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101924" y="3460557"/>
            <a:ext cx="190500" cy="190500"/>
            <a:chOff x="0" y="0"/>
            <a:chExt cx="609600" cy="609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cubicBezTo>
                    <a:pt x="136464" y="0"/>
                    <a:pt x="0" y="136464"/>
                    <a:pt x="0" y="304800"/>
                  </a:cubicBezTo>
                  <a:cubicBezTo>
                    <a:pt x="0" y="473136"/>
                    <a:pt x="136464" y="609600"/>
                    <a:pt x="304800" y="609600"/>
                  </a:cubicBezTo>
                  <a:cubicBezTo>
                    <a:pt x="473136" y="609600"/>
                    <a:pt x="609600" y="473136"/>
                    <a:pt x="609600" y="304800"/>
                  </a:cubicBezTo>
                  <a:cubicBezTo>
                    <a:pt x="609600" y="136464"/>
                    <a:pt x="473136" y="0"/>
                    <a:pt x="304800" y="0"/>
                  </a:cubicBez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7150" y="-9525"/>
              <a:ext cx="495300" cy="561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2333"/>
                </a:lnSpc>
              </a:pPr>
              <a:endParaRPr sz="800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858282" y="4602374"/>
            <a:ext cx="2677785" cy="420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1680"/>
              </a:lnSpc>
              <a:spcBef>
                <a:spcPct val="0"/>
              </a:spcBef>
            </a:pPr>
            <a:r>
              <a:rPr lang="fr-FR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Lancement chez Altéa et audit des 14 mini-sites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8282" y="4197569"/>
            <a:ext cx="2677785" cy="376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933"/>
              </a:lnSpc>
              <a:spcBef>
                <a:spcPct val="0"/>
              </a:spcBef>
            </a:pPr>
            <a:r>
              <a:rPr lang="en-US" sz="2666" b="1" spc="133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JANVIER</a:t>
            </a:r>
          </a:p>
        </p:txBody>
      </p:sp>
      <p:sp>
        <p:nvSpPr>
          <p:cNvPr id="50" name="AutoShape 50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Box 51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Planning 2027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2048274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7345" y="361693"/>
            <a:ext cx="11577311" cy="6134614"/>
          </a:xfrm>
          <a:custGeom>
            <a:avLst/>
            <a:gdLst/>
            <a:ahLst/>
            <a:cxnLst/>
            <a:rect l="l" t="t" r="r" b="b"/>
            <a:pathLst>
              <a:path w="17365967" h="9201921">
                <a:moveTo>
                  <a:pt x="0" y="0"/>
                </a:moveTo>
                <a:lnTo>
                  <a:pt x="17365968" y="0"/>
                </a:lnTo>
                <a:lnTo>
                  <a:pt x="17365968" y="9201922"/>
                </a:lnTo>
                <a:lnTo>
                  <a:pt x="0" y="9201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666" t="-82075" b="-14420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14 | 18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2536104"/>
            <a:ext cx="12192000" cy="1785793"/>
            <a:chOff x="0" y="0"/>
            <a:chExt cx="6554006" cy="9599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4006" cy="959982"/>
            </a:xfrm>
            <a:custGeom>
              <a:avLst/>
              <a:gdLst/>
              <a:ahLst/>
              <a:cxnLst/>
              <a:rect l="l" t="t" r="r" b="b"/>
              <a:pathLst>
                <a:path w="6554006" h="959982">
                  <a:moveTo>
                    <a:pt x="0" y="0"/>
                  </a:moveTo>
                  <a:lnTo>
                    <a:pt x="6554006" y="0"/>
                  </a:lnTo>
                  <a:lnTo>
                    <a:pt x="6554006" y="959982"/>
                  </a:lnTo>
                  <a:lnTo>
                    <a:pt x="0" y="959982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6554006" cy="94093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07345" y="3162272"/>
            <a:ext cx="11577311" cy="642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800"/>
              </a:lnSpc>
            </a:pPr>
            <a:r>
              <a:rPr lang="fr-FR" sz="5334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04 · L'ÉQUIPE</a:t>
            </a:r>
          </a:p>
        </p:txBody>
      </p:sp>
    </p:spTree>
    <p:extLst>
      <p:ext uri="{BB962C8B-B14F-4D97-AF65-F5344CB8AC3E}">
        <p14:creationId xmlns:p14="http://schemas.microsoft.com/office/powerpoint/2010/main" val="2507282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15 | 18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24045" y="1664928"/>
            <a:ext cx="2570384" cy="2651075"/>
          </a:xfrm>
          <a:custGeom>
            <a:avLst/>
            <a:gdLst/>
            <a:ahLst/>
            <a:cxnLst/>
            <a:rect l="l" t="t" r="r" b="b"/>
            <a:pathLst>
              <a:path w="3855576" h="3976612">
                <a:moveTo>
                  <a:pt x="0" y="0"/>
                </a:moveTo>
                <a:lnTo>
                  <a:pt x="3855577" y="0"/>
                </a:lnTo>
                <a:lnTo>
                  <a:pt x="3855577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779" t="-20232" r="-28897" b="-10049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Responsable service client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Parcours acquéreur et CRM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Flora Boyer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2531" t="-61145" r="-36716" b="-12892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Directrice marketing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Stratégie de marque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Gaëlle Martine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68222" cy="2651075"/>
          </a:xfrm>
          <a:custGeom>
            <a:avLst/>
            <a:gdLst/>
            <a:ahLst/>
            <a:cxnLst/>
            <a:rect l="l" t="t" r="r" b="b"/>
            <a:pathLst>
              <a:path w="3852333" h="3976612">
                <a:moveTo>
                  <a:pt x="0" y="0"/>
                </a:moveTo>
                <a:lnTo>
                  <a:pt x="3852333" y="0"/>
                </a:lnTo>
                <a:lnTo>
                  <a:pt x="3852333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821" t="-106384" r="-57117" b="-12795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Directeur commercial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Relation client et budget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Malo Lecomte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L'équipe · pilotage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3834400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40509"/>
            <a:ext cx="12192000" cy="3217491"/>
            <a:chOff x="0" y="0"/>
            <a:chExt cx="2579512" cy="680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9512" cy="680738"/>
            </a:xfrm>
            <a:custGeom>
              <a:avLst/>
              <a:gdLst/>
              <a:ahLst/>
              <a:cxnLst/>
              <a:rect l="l" t="t" r="r" b="b"/>
              <a:pathLst>
                <a:path w="2579512" h="680738">
                  <a:moveTo>
                    <a:pt x="0" y="0"/>
                  </a:moveTo>
                  <a:lnTo>
                    <a:pt x="2579512" y="0"/>
                  </a:lnTo>
                  <a:lnTo>
                    <a:pt x="2579512" y="680738"/>
                  </a:lnTo>
                  <a:lnTo>
                    <a:pt x="0" y="680738"/>
                  </a:lnTo>
                  <a:close/>
                </a:path>
              </a:pathLst>
            </a:custGeom>
            <a:solidFill>
              <a:srgbClr val="D9D9D9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19050"/>
              <a:ext cx="2579512" cy="661688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C32D4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16 | 18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12274" y="2990466"/>
            <a:ext cx="2993926" cy="1536753"/>
            <a:chOff x="0" y="0"/>
            <a:chExt cx="633437" cy="3251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35963" y="1664928"/>
            <a:ext cx="2558466" cy="2651075"/>
          </a:xfrm>
          <a:custGeom>
            <a:avLst/>
            <a:gdLst/>
            <a:ahLst/>
            <a:cxnLst/>
            <a:rect l="l" t="t" r="r" b="b"/>
            <a:pathLst>
              <a:path w="3837699" h="3976612">
                <a:moveTo>
                  <a:pt x="0" y="0"/>
                </a:moveTo>
                <a:lnTo>
                  <a:pt x="3837700" y="0"/>
                </a:lnTo>
                <a:lnTo>
                  <a:pt x="3837700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839" t="-1231" r="-65921" b="-6128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8524974" y="5082784"/>
            <a:ext cx="29685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Commercial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Formation des conseillers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2274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Thomas Garcia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605388" y="2990466"/>
            <a:ext cx="2993926" cy="1536753"/>
            <a:chOff x="0" y="0"/>
            <a:chExt cx="633437" cy="325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4816652" y="1664928"/>
            <a:ext cx="2571397" cy="2651075"/>
          </a:xfrm>
          <a:custGeom>
            <a:avLst/>
            <a:gdLst/>
            <a:ahLst/>
            <a:cxnLst/>
            <a:rect l="l" t="t" r="r" b="b"/>
            <a:pathLst>
              <a:path w="3857096" h="3976612">
                <a:moveTo>
                  <a:pt x="0" y="0"/>
                </a:moveTo>
                <a:lnTo>
                  <a:pt x="3857096" y="0"/>
                </a:lnTo>
                <a:lnTo>
                  <a:pt x="3857096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547" t="-42686" r="-36986" b="-124507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605388" y="5082784"/>
            <a:ext cx="29939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Community manager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Lancement sur les réseaux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05426" y="4754761"/>
            <a:ext cx="2993850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Cathy Guerin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8500" y="2990466"/>
            <a:ext cx="2993926" cy="1536753"/>
            <a:chOff x="0" y="0"/>
            <a:chExt cx="633437" cy="3251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3437" cy="325137"/>
            </a:xfrm>
            <a:custGeom>
              <a:avLst/>
              <a:gdLst/>
              <a:ahLst/>
              <a:cxnLst/>
              <a:rect l="l" t="t" r="r" b="b"/>
              <a:pathLst>
                <a:path w="633437" h="325137">
                  <a:moveTo>
                    <a:pt x="0" y="0"/>
                  </a:moveTo>
                  <a:lnTo>
                    <a:pt x="633437" y="0"/>
                  </a:lnTo>
                  <a:lnTo>
                    <a:pt x="633437" y="325137"/>
                  </a:lnTo>
                  <a:lnTo>
                    <a:pt x="0" y="325137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633437" cy="306087"/>
            </a:xfrm>
            <a:prstGeom prst="rect">
              <a:avLst/>
            </a:prstGeom>
          </p:spPr>
          <p:txBody>
            <a:bodyPr lIns="38631" tIns="38631" rIns="38631" bIns="38631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>
                <a:lnSpc>
                  <a:spcPts val="809"/>
                </a:lnSpc>
                <a:spcBef>
                  <a:spcPct val="0"/>
                </a:spcBef>
              </a:pPr>
              <a:endParaRPr sz="800"/>
            </a:p>
          </p:txBody>
        </p:sp>
      </p:grpSp>
      <p:sp>
        <p:nvSpPr>
          <p:cNvPr id="24" name="Freeform 24"/>
          <p:cNvSpPr/>
          <p:nvPr/>
        </p:nvSpPr>
        <p:spPr>
          <a:xfrm>
            <a:off x="911352" y="1664928"/>
            <a:ext cx="2557385" cy="2651075"/>
          </a:xfrm>
          <a:custGeom>
            <a:avLst/>
            <a:gdLst/>
            <a:ahLst/>
            <a:cxnLst/>
            <a:rect l="l" t="t" r="r" b="b"/>
            <a:pathLst>
              <a:path w="3836078" h="3976612">
                <a:moveTo>
                  <a:pt x="0" y="0"/>
                </a:moveTo>
                <a:lnTo>
                  <a:pt x="3836078" y="0"/>
                </a:lnTo>
                <a:lnTo>
                  <a:pt x="3836078" y="3976612"/>
                </a:lnTo>
                <a:lnTo>
                  <a:pt x="0" y="3976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995" t="-38992" r="-41989" b="-1245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98500" y="5082784"/>
            <a:ext cx="2993926" cy="259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Graphiste</a:t>
            </a:r>
          </a:p>
          <a:p>
            <a:pPr marL="0" lvl="0" indent="0" algn="ctr">
              <a:lnSpc>
                <a:spcPts val="2146"/>
              </a:lnSpc>
              <a:spcBef>
                <a:spcPct val="0"/>
              </a:spcBef>
            </a:pPr>
            <a:r>
              <a:rPr lang="fr-FR" sz="15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Identité des 14 programmes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500" y="4754761"/>
            <a:ext cx="2993926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lnSpc>
                <a:spcPts val="2200"/>
              </a:lnSpc>
              <a:spcBef>
                <a:spcPct val="0"/>
              </a:spcBef>
            </a:pPr>
            <a:r>
              <a:rPr lang="fr-FR" sz="2000" b="1" dirty="0">
                <a:solidFill>
                  <a:srgbClr val="2B0A09"/>
                </a:solidFill>
                <a:latin typeface="Montserrat"/>
                <a:ea typeface="Montserrat"/>
                <a:cs typeface="Montserrat"/>
              </a:rPr>
              <a:t>Elsa Belvaux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L'équipe · production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4211549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06833" y="1479699"/>
            <a:ext cx="4085167" cy="5378301"/>
          </a:xfrm>
          <a:custGeom>
            <a:avLst/>
            <a:gdLst/>
            <a:ahLst/>
            <a:cxnLst/>
            <a:rect l="l" t="t" r="r" b="b"/>
            <a:pathLst>
              <a:path w="6127750" h="8067452">
                <a:moveTo>
                  <a:pt x="0" y="0"/>
                </a:moveTo>
                <a:lnTo>
                  <a:pt x="6127750" y="0"/>
                </a:lnTo>
                <a:lnTo>
                  <a:pt x="6127750" y="8067452"/>
                </a:lnTo>
                <a:lnTo>
                  <a:pt x="0" y="8067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808" r="-19672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1384110" y="5952304"/>
            <a:ext cx="109390" cy="109637"/>
            <a:chOff x="0" y="0"/>
            <a:chExt cx="45150" cy="452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150" cy="45252"/>
            </a:xfrm>
            <a:custGeom>
              <a:avLst/>
              <a:gdLst/>
              <a:ahLst/>
              <a:cxnLst/>
              <a:rect l="l" t="t" r="r" b="b"/>
              <a:pathLst>
                <a:path w="45150" h="45252">
                  <a:moveTo>
                    <a:pt x="0" y="0"/>
                  </a:moveTo>
                  <a:lnTo>
                    <a:pt x="45150" y="0"/>
                  </a:lnTo>
                  <a:lnTo>
                    <a:pt x="45150" y="45252"/>
                  </a:lnTo>
                  <a:lnTo>
                    <a:pt x="0" y="452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45150" cy="26202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58917" y="5867444"/>
            <a:ext cx="1313518" cy="292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>
              <a:lnSpc>
                <a:spcPts val="22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17 | 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00" y="4508500"/>
            <a:ext cx="7090833" cy="715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question sur votre rôle ? Écrivez à Anne-Gaël Fabre avant le 8 janvier.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8500" y="3238500"/>
            <a:ext cx="7090833" cy="958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Avant le 8 janvier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lire l'audit du site d'Altéa dans le dossier projet.</a:t>
            </a:r>
          </a:p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11 janvier, 9 h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atelier de lancement au siège d'Altéa, à Lyon.</a:t>
            </a:r>
          </a:p>
          <a:p>
            <a:pPr marL="0" lvl="0" indent="0" algn="l">
              <a:lnSpc>
                <a:spcPts val="1867"/>
              </a:lnSpc>
              <a:spcBef>
                <a:spcPts val="900"/>
              </a:spcBef>
            </a:pPr>
            <a:r>
              <a:rPr lang="fr-FR" sz="1400" b="1" u="none" strike="noStrike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Chaque lundi, 9 h 30 : 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point d'avancement de 30 minutes avec toute l'équipe.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8500" y="2095500"/>
            <a:ext cx="7090833" cy="144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67"/>
              </a:lnSpc>
              <a:spcBef>
                <a:spcPct val="0"/>
              </a:spcBef>
            </a:pP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En 11 mois, Altéa passera de 3 identités et 14 formulaires à </a:t>
            </a:r>
            <a:r>
              <a:rPr lang="fr-FR" sz="1400" b="1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une seule marque, un seul site et un rappel sous 24 h.</a:t>
            </a:r>
            <a:r>
              <a:rPr lang="fr-FR" sz="1400" b="0" u="none" strike="noStrike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Notre engagement : 230 demandes qualifiées par mois fin 2027, puis 420 fin 2028.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8500" y="1410728"/>
            <a:ext cx="7090833" cy="48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3666"/>
              </a:lnSpc>
              <a:spcBef>
                <a:spcPct val="0"/>
              </a:spcBef>
            </a:pPr>
            <a:r>
              <a:rPr lang="fr-FR" sz="3333" b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RENDEZ-VOUS LE 11 JANVIER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0" y="1479699"/>
            <a:ext cx="553557" cy="294657"/>
            <a:chOff x="0" y="0"/>
            <a:chExt cx="297574" cy="1583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574" cy="158398"/>
            </a:xfrm>
            <a:custGeom>
              <a:avLst/>
              <a:gdLst/>
              <a:ahLst/>
              <a:cxnLst/>
              <a:rect l="l" t="t" r="r" b="b"/>
              <a:pathLst>
                <a:path w="297574" h="158398">
                  <a:moveTo>
                    <a:pt x="0" y="0"/>
                  </a:moveTo>
                  <a:lnTo>
                    <a:pt x="297574" y="0"/>
                  </a:lnTo>
                  <a:lnTo>
                    <a:pt x="297574" y="158398"/>
                  </a:lnTo>
                  <a:lnTo>
                    <a:pt x="0" y="158398"/>
                  </a:lnTo>
                  <a:close/>
                </a:path>
              </a:pathLst>
            </a:custGeom>
            <a:solidFill>
              <a:srgbClr val="C32D4B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19050"/>
              <a:ext cx="297574" cy="13934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98500" y="1048539"/>
            <a:ext cx="10795000" cy="0"/>
          </a:xfrm>
          <a:prstGeom prst="line">
            <a:avLst/>
          </a:prstGeom>
          <a:ln w="19050" cap="flat">
            <a:solidFill>
              <a:srgbClr val="C32D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/>
          <p:nvPr/>
        </p:nvSpPr>
        <p:spPr>
          <a:xfrm>
            <a:off x="6254750" y="710978"/>
            <a:ext cx="5251450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lnSpc>
                <a:spcPts val="1833"/>
              </a:lnSpc>
              <a:spcBef>
                <a:spcPct val="0"/>
              </a:spcBef>
            </a:pPr>
            <a:r>
              <a:rPr lang="fr-FR" sz="1666" i="1" dirty="0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Prochaines étapes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8500" y="723900"/>
            <a:ext cx="5238750" cy="210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33"/>
              </a:lnSpc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</p:spTree>
    <p:extLst>
      <p:ext uri="{BB962C8B-B14F-4D97-AF65-F5344CB8AC3E}">
        <p14:creationId xmlns:p14="http://schemas.microsoft.com/office/powerpoint/2010/main" val="2634398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78177" y="0"/>
            <a:ext cx="7313823" cy="6858000"/>
          </a:xfrm>
          <a:custGeom>
            <a:avLst/>
            <a:gdLst/>
            <a:ahLst/>
            <a:cxnLst/>
            <a:rect l="l" t="t" r="r" b="b"/>
            <a:pathLst>
              <a:path w="10970734" h="10287000">
                <a:moveTo>
                  <a:pt x="0" y="0"/>
                </a:moveTo>
                <a:lnTo>
                  <a:pt x="10970734" y="0"/>
                </a:lnTo>
                <a:lnTo>
                  <a:pt x="109707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487" t="-1699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10053863" y="5542533"/>
            <a:ext cx="1452337" cy="616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51"/>
              </a:lnSpc>
            </a:pPr>
            <a:r>
              <a:rPr lang="en-US" sz="2399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AGENCE VISION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9276866" y="5462574"/>
            <a:ext cx="604091" cy="686726"/>
          </a:xfrm>
          <a:custGeom>
            <a:avLst/>
            <a:gdLst/>
            <a:ahLst/>
            <a:cxnLst/>
            <a:rect l="l" t="t" r="r" b="b"/>
            <a:pathLst>
              <a:path w="906136" h="1030089">
                <a:moveTo>
                  <a:pt x="0" y="0"/>
                </a:moveTo>
                <a:lnTo>
                  <a:pt x="906137" y="0"/>
                </a:lnTo>
                <a:lnTo>
                  <a:pt x="906137" y="1030089"/>
                </a:lnTo>
                <a:lnTo>
                  <a:pt x="0" y="1030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703551" y="5370764"/>
            <a:ext cx="3386667" cy="8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b="1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Anne-Gaël Fabre, cheffe de projet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01 23 45 67 89</a:t>
            </a:r>
          </a:p>
          <a:p>
            <a:pPr marL="0" lvl="0" indent="0" algn="l">
              <a:lnSpc>
                <a:spcPts val="2199"/>
              </a:lnSpc>
              <a:spcBef>
                <a:spcPct val="0"/>
              </a:spcBef>
            </a:pPr>
            <a:r>
              <a:rPr lang="fr-FR" sz="1466" dirty="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anne-gael.fabre@agence-vision.fr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3551" y="5065964"/>
            <a:ext cx="3386667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>
              <a:lnSpc>
                <a:spcPts val="1833"/>
              </a:lnSpc>
              <a:spcBef>
                <a:spcPct val="0"/>
              </a:spcBef>
            </a:pPr>
            <a:r>
              <a:rPr lang="en-US" sz="1666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CONTACT 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198786" y="1770385"/>
            <a:ext cx="8933810" cy="2618731"/>
            <a:chOff x="0" y="0"/>
            <a:chExt cx="4802514" cy="14077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02514" cy="1407741"/>
            </a:xfrm>
            <a:custGeom>
              <a:avLst/>
              <a:gdLst/>
              <a:ahLst/>
              <a:cxnLst/>
              <a:rect l="l" t="t" r="r" b="b"/>
              <a:pathLst>
                <a:path w="4802514" h="1407741">
                  <a:moveTo>
                    <a:pt x="0" y="0"/>
                  </a:moveTo>
                  <a:lnTo>
                    <a:pt x="4802514" y="0"/>
                  </a:lnTo>
                  <a:lnTo>
                    <a:pt x="4802514" y="1407741"/>
                  </a:lnTo>
                  <a:lnTo>
                    <a:pt x="0" y="1407741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C32D4B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4802514" cy="1388691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04770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0953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309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21907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523848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61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33387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38156" algn="l" defTabSz="609539" rtl="0" eaLnBrk="1" latinLnBrk="0" hangingPunct="1"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809"/>
                </a:lnSpc>
              </a:pPr>
              <a:endParaRPr sz="80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98501" y="2533950"/>
            <a:ext cx="8036523" cy="1282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770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53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309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07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3848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61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387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156" algn="l" defTabSz="609539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DES QUESTIONS</a:t>
            </a:r>
          </a:p>
          <a:p>
            <a:pPr marL="0" lvl="0" indent="0" algn="l">
              <a:lnSpc>
                <a:spcPts val="4800"/>
              </a:lnSpc>
            </a:pPr>
            <a:r>
              <a:rPr lang="en-US" sz="5334" b="1">
                <a:solidFill>
                  <a:srgbClr val="C32D4B"/>
                </a:solidFill>
                <a:latin typeface="Montserrat"/>
                <a:ea typeface="Montserrat"/>
                <a:cs typeface="Montserrat"/>
              </a:rPr>
              <a:t>OU SUGGESTIONS ?</a:t>
            </a:r>
          </a:p>
        </p:txBody>
      </p:sp>
    </p:spTree>
    <p:extLst>
      <p:ext uri="{BB962C8B-B14F-4D97-AF65-F5344CB8AC3E}">
        <p14:creationId xmlns:p14="http://schemas.microsoft.com/office/powerpoint/2010/main" val="6398528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5B6B8C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5B6B8C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 [1793026233604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CBCFB7-62F2-4FA2-B11D-F313810AC818}">
  <we:reference id="WA200010001" version="1.0.0.1" store="fr-fr" storeType="omex"/>
  <we:alternateReferences>
    <we:reference id="WA200010001" version="1.0.0.1" store="omex" storeType="omex"/>
  </we:alternateReferences>
  <we:properties>
    <we:property name="claude.fileId" value="&quot;80dd3df3-fa36-40ad-97c2-f8edabf26f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Thème Office</vt:lpstr>
      <vt:lpstr>Thème Office [1793025988079]</vt:lpstr>
      <vt:lpstr>Thème Office [1793025988079]</vt:lpstr>
      <vt:lpstr>Thème Office [1793026233604]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2026-10-26T13:37:42Z</dcterms:created>
  <dcterms:modified xsi:type="dcterms:W3CDTF">2026-10-26T15:55:21Z</dcterms:modified>
</cp:coreProperties>
</file>