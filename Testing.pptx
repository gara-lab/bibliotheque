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sldIdLst>
    <p:sldId id="306" r:id="rId5"/>
    <p:sldId id="313" r:id="rId6"/>
    <p:sldId id="286" r:id="rId7"/>
    <p:sldId id="295" r:id="rId8"/>
    <p:sldId id="294" r:id="rId9"/>
    <p:sldId id="312" r:id="rId10"/>
    <p:sldId id="291" r:id="rId11"/>
    <p:sldId id="297" r:id="rId12"/>
    <p:sldId id="292" r:id="rId13"/>
    <p:sldId id="310" r:id="rId14"/>
    <p:sldId id="293" r:id="rId15"/>
    <p:sldId id="303" r:id="rId16"/>
    <p:sldId id="311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F1344A-F347-D363-450E-1F9858FD4569}" v="201" dt="2026-10-26T15:29:42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09600" y="1905000"/>
            <a:ext cx="7620000" cy="2159000"/>
          </a:xfrm>
        </p:spPr>
        <p:txBody>
          <a:bodyPr lIns="0" rIns="0" anchor="b"/>
          <a:lstStyle>
            <a:lvl1pPr algn="l">
              <a:lnSpc>
                <a:spcPct val="90000"/>
              </a:lnSpc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9600" y="4470400"/>
            <a:ext cx="7620000" cy="762000"/>
          </a:xfrm>
        </p:spPr>
        <p:txBody>
          <a:bodyPr lIns="0" rIns="0" anchor="t"/>
          <a:lstStyle>
            <a:lvl1pPr marL="0" indent="0" algn="l">
              <a:buNone/>
              <a:defRPr sz="1600" cap="all" spc="200">
                <a:solidFill>
                  <a:srgbClr val="B38C77"/>
                </a:solidFill>
              </a:defRPr>
            </a:lvl1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91" name="Accent bar"/>
          <p:cNvSpPr/>
          <p:nvPr userDrawn="1"/>
        </p:nvSpPr>
        <p:spPr>
          <a:xfrm>
            <a:off x="609600" y="42418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3" name="Rule"/>
          <p:cNvSpPr/>
          <p:nvPr userDrawn="1"/>
        </p:nvSpPr>
        <p:spPr>
          <a:xfrm>
            <a:off x="7620000" y="3403600"/>
            <a:ext cx="3200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itre de section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3175000"/>
            <a:ext cx="8890000" cy="1524000"/>
          </a:xfrm>
        </p:spPr>
        <p:txBody>
          <a:bodyPr lIns="0" rIns="0" anchor="t"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3810000" cy="1397000"/>
          </a:xfrm>
        </p:spPr>
        <p:txBody>
          <a:bodyPr lIns="0" rIns="0" anchor="b"/>
          <a:lstStyle>
            <a:lvl1pPr marL="0" indent="0">
              <a:buNone/>
              <a:defRPr sz="7200" b="1">
                <a:solidFill>
                  <a:srgbClr val="B38C77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363200" y="6350000"/>
            <a:ext cx="1219200" cy="254000"/>
          </a:xfrm>
        </p:spPr>
        <p:txBody>
          <a:bodyPr/>
          <a:lstStyle>
            <a:lvl1pPr algn="r">
              <a:defRPr sz="1000" b="1">
                <a:solidFill>
                  <a:srgbClr val="FFFFFF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1" name="Accent bar"/>
          <p:cNvSpPr/>
          <p:nvPr userDrawn="1"/>
        </p:nvSpPr>
        <p:spPr>
          <a:xfrm>
            <a:off x="609600" y="30226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484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09600" y="1905000"/>
            <a:ext cx="7620000" cy="2159000"/>
          </a:xfrm>
        </p:spPr>
        <p:txBody>
          <a:bodyPr lIns="0" rIns="0" anchor="b"/>
          <a:lstStyle>
            <a:lvl1pPr algn="l">
              <a:lnSpc>
                <a:spcPct val="90000"/>
              </a:lnSpc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9600" y="4470400"/>
            <a:ext cx="7620000" cy="762000"/>
          </a:xfrm>
        </p:spPr>
        <p:txBody>
          <a:bodyPr lIns="0" rIns="0" anchor="t"/>
          <a:lstStyle>
            <a:lvl1pPr marL="0" indent="0" algn="l">
              <a:buNone/>
              <a:defRPr sz="1600" cap="all" spc="200">
                <a:solidFill>
                  <a:srgbClr val="B38C77"/>
                </a:solidFill>
              </a:defRPr>
            </a:lvl1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91" name="Accent bar"/>
          <p:cNvSpPr/>
          <p:nvPr userDrawn="1"/>
        </p:nvSpPr>
        <p:spPr>
          <a:xfrm>
            <a:off x="609600" y="42418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3" name="Rule"/>
          <p:cNvSpPr/>
          <p:nvPr userDrawn="1"/>
        </p:nvSpPr>
        <p:spPr>
          <a:xfrm>
            <a:off x="7620000" y="3403600"/>
            <a:ext cx="3200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itre de section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3175000"/>
            <a:ext cx="8890000" cy="1524000"/>
          </a:xfrm>
        </p:spPr>
        <p:txBody>
          <a:bodyPr lIns="0" rIns="0" anchor="t"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3810000" cy="1397000"/>
          </a:xfrm>
        </p:spPr>
        <p:txBody>
          <a:bodyPr lIns="0" rIns="0" anchor="b"/>
          <a:lstStyle>
            <a:lvl1pPr marL="0" indent="0">
              <a:buNone/>
              <a:defRPr sz="7200" b="1">
                <a:solidFill>
                  <a:srgbClr val="B38C77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363200" y="6350000"/>
            <a:ext cx="1219200" cy="254000"/>
          </a:xfrm>
        </p:spPr>
        <p:txBody>
          <a:bodyPr/>
          <a:lstStyle>
            <a:lvl1pPr algn="r">
              <a:defRPr sz="1000" b="1">
                <a:solidFill>
                  <a:srgbClr val="FFFFFF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1" name="Accent bar"/>
          <p:cNvSpPr/>
          <p:nvPr userDrawn="1"/>
        </p:nvSpPr>
        <p:spPr>
          <a:xfrm>
            <a:off x="609600" y="30226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484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09600" y="1905000"/>
            <a:ext cx="7620000" cy="2159000"/>
          </a:xfrm>
        </p:spPr>
        <p:txBody>
          <a:bodyPr lIns="0" rIns="0" anchor="b"/>
          <a:lstStyle>
            <a:lvl1pPr algn="l">
              <a:lnSpc>
                <a:spcPct val="90000"/>
              </a:lnSpc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9600" y="4470400"/>
            <a:ext cx="7620000" cy="762000"/>
          </a:xfrm>
        </p:spPr>
        <p:txBody>
          <a:bodyPr lIns="0" rIns="0" anchor="t"/>
          <a:lstStyle>
            <a:lvl1pPr marL="0" indent="0" algn="l">
              <a:buNone/>
              <a:defRPr sz="1600" cap="all" spc="200">
                <a:solidFill>
                  <a:srgbClr val="B38C77"/>
                </a:solidFill>
              </a:defRPr>
            </a:lvl1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91" name="Accent bar"/>
          <p:cNvSpPr/>
          <p:nvPr userDrawn="1"/>
        </p:nvSpPr>
        <p:spPr>
          <a:xfrm>
            <a:off x="609600" y="42418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3" name="Rule"/>
          <p:cNvSpPr/>
          <p:nvPr userDrawn="1"/>
        </p:nvSpPr>
        <p:spPr>
          <a:xfrm>
            <a:off x="7620000" y="3403600"/>
            <a:ext cx="3200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Titre de section">
    <p:bg>
      <p:bgPr>
        <a:solidFill>
          <a:srgbClr val="0022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3175000"/>
            <a:ext cx="8890000" cy="1524000"/>
          </a:xfrm>
        </p:spPr>
        <p:txBody>
          <a:bodyPr lIns="0" rIns="0" anchor="t"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24000"/>
            <a:ext cx="3810000" cy="1397000"/>
          </a:xfrm>
        </p:spPr>
        <p:txBody>
          <a:bodyPr lIns="0" rIns="0" anchor="b"/>
          <a:lstStyle>
            <a:lvl1pPr marL="0" indent="0">
              <a:buNone/>
              <a:defRPr sz="7200" b="1">
                <a:solidFill>
                  <a:srgbClr val="B38C77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363200" y="6350000"/>
            <a:ext cx="1219200" cy="254000"/>
          </a:xfrm>
        </p:spPr>
        <p:txBody>
          <a:bodyPr/>
          <a:lstStyle>
            <a:lvl1pPr algn="r">
              <a:defRPr sz="1000" b="1">
                <a:solidFill>
                  <a:srgbClr val="FFFFFF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1" name="Accent bar"/>
          <p:cNvSpPr/>
          <p:nvPr userDrawn="1"/>
        </p:nvSpPr>
        <p:spPr>
          <a:xfrm>
            <a:off x="609600" y="30226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2" name="Side band"/>
          <p:cNvSpPr/>
          <p:nvPr userDrawn="1"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48400" y="1854200"/>
            <a:ext cx="5334000" cy="4140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066800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854200"/>
            <a:ext cx="10972800" cy="41402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0000"/>
            <a:ext cx="127000" cy="12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09600" y="6350000"/>
            <a:ext cx="76200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>
                <a:solidFill>
                  <a:srgbClr val="838BA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63200" y="6350000"/>
            <a:ext cx="12192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 b="1">
                <a:solidFill>
                  <a:srgbClr val="002250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0" name="Accent bar"/>
          <p:cNvSpPr/>
          <p:nvPr userDrawn="1"/>
        </p:nvSpPr>
        <p:spPr>
          <a:xfrm>
            <a:off x="609600" y="1574800"/>
            <a:ext cx="6096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b="1" kern="1200" spc="-2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6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65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938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224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51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79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08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066800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854200"/>
            <a:ext cx="10972800" cy="41402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0000"/>
            <a:ext cx="127000" cy="12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09600" y="6350000"/>
            <a:ext cx="76200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>
                <a:solidFill>
                  <a:srgbClr val="5B6B8C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63200" y="6350000"/>
            <a:ext cx="12192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 b="1">
                <a:solidFill>
                  <a:srgbClr val="002250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0" name="Accent bar"/>
          <p:cNvSpPr/>
          <p:nvPr userDrawn="1"/>
        </p:nvSpPr>
        <p:spPr>
          <a:xfrm>
            <a:off x="609600" y="1574800"/>
            <a:ext cx="6096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b="1" kern="1200" spc="-2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6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65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938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224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51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79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08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066800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854200"/>
            <a:ext cx="10972800" cy="4140200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0000"/>
            <a:ext cx="127000" cy="12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09600" y="6350000"/>
            <a:ext cx="76200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000" b="0">
                <a:solidFill>
                  <a:srgbClr val="5B6B8C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363200" y="6350000"/>
            <a:ext cx="1219200" cy="2540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000" b="1">
                <a:solidFill>
                  <a:srgbClr val="002250"/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  <p:sp>
        <p:nvSpPr>
          <p:cNvPr id="90" name="Accent bar"/>
          <p:cNvSpPr/>
          <p:nvPr userDrawn="1"/>
        </p:nvSpPr>
        <p:spPr>
          <a:xfrm>
            <a:off x="609600" y="1574800"/>
            <a:ext cx="6096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b="1" kern="1200" spc="-2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8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6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65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938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224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510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796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08200" indent="-228600" algn="l" rtl="0" eaLnBrk="1" latinLnBrk="0" hangingPunct="1">
        <a:lnSpc>
          <a:spcPct val="110000"/>
        </a:lnSpc>
        <a:spcBef>
          <a:spcPts val="4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Photo" descr="Open space de l’agence"/>
          <p:cNvPicPr>
            <a:picLocks noChangeAspect="1"/>
          </p:cNvPicPr>
          <p:nvPr/>
        </p:nvPicPr>
        <p:blipFill>
          <a:blip r:embed="rId2"/>
          <a:srcRect t="2390" b="2390"/>
          <a:stretch>
            <a:fillRect/>
          </a:stretch>
        </p:blipFill>
        <p:spPr>
          <a:xfrm>
            <a:off x="0" y="0"/>
            <a:ext cx="10820400" cy="6858000"/>
          </a:xfrm>
          <a:prstGeom prst="rect">
            <a:avLst/>
          </a:prstGeom>
        </p:spPr>
      </p:pic>
      <p:sp>
        <p:nvSpPr>
          <p:cNvPr id="201" name="Shape"/>
          <p:cNvSpPr/>
          <p:nvPr/>
        </p:nvSpPr>
        <p:spPr>
          <a:xfrm>
            <a:off x="0" y="0"/>
            <a:ext cx="10820400" cy="6858000"/>
          </a:xfrm>
          <a:prstGeom prst="rect">
            <a:avLst/>
          </a:prstGeom>
          <a:solidFill>
            <a:srgbClr val="001A3D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2" name="Title block"/>
          <p:cNvSpPr/>
          <p:nvPr/>
        </p:nvSpPr>
        <p:spPr>
          <a:xfrm>
            <a:off x="0" y="2362200"/>
            <a:ext cx="6604000" cy="2362200"/>
          </a:xfrm>
          <a:prstGeom prst="rect">
            <a:avLst/>
          </a:prstGeom>
          <a:solidFill>
            <a:srgbClr val="00225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3" name="Title marker"/>
          <p:cNvSpPr/>
          <p:nvPr/>
        </p:nvSpPr>
        <p:spPr>
          <a:xfrm>
            <a:off x="6604000" y="2362200"/>
            <a:ext cx="127000" cy="23622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4" name="Side band"/>
          <p:cNvSpPr/>
          <p:nvPr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205" name="Line"/>
          <p:cNvCxnSpPr/>
          <p:nvPr/>
        </p:nvCxnSpPr>
        <p:spPr>
          <a:xfrm>
            <a:off x="7112000" y="3543300"/>
            <a:ext cx="5080000" cy="0"/>
          </a:xfrm>
          <a:prstGeom prst="line">
            <a:avLst/>
          </a:prstGeom>
          <a:ln w="19050">
            <a:solidFill>
              <a:srgbClr val="FFFFFF"/>
            </a:solidFill>
          </a:ln>
        </p:spPr>
      </p:cxnSp>
      <p:sp>
        <p:nvSpPr>
          <p:cNvPr id="206" name="Shape"/>
          <p:cNvSpPr/>
          <p:nvPr/>
        </p:nvSpPr>
        <p:spPr>
          <a:xfrm>
            <a:off x="11226800" y="431800"/>
            <a:ext cx="558800" cy="558800"/>
          </a:xfrm>
          <a:prstGeom prst="ellipse">
            <a:avLst/>
          </a:prstGeom>
          <a:noFill/>
          <a:ln w="19050">
            <a:solidFill>
              <a:srgbClr val="00225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fr-FR" sz="1800" b="1" dirty="0">
                <a:solidFill>
                  <a:srgbClr val="002250"/>
                </a:solidFill>
              </a:rPr>
              <a:t>B</a:t>
            </a:r>
          </a:p>
        </p:txBody>
      </p:sp>
      <p:cxnSp>
        <p:nvCxnSpPr>
          <p:cNvPr id="207" name="Line"/>
          <p:cNvCxnSpPr/>
          <p:nvPr/>
        </p:nvCxnSpPr>
        <p:spPr>
          <a:xfrm>
            <a:off x="11506200" y="1219200"/>
            <a:ext cx="0" cy="1905000"/>
          </a:xfrm>
          <a:prstGeom prst="line">
            <a:avLst/>
          </a:prstGeom>
          <a:ln w="12700">
            <a:solidFill>
              <a:srgbClr val="002250"/>
            </a:solidFill>
          </a:ln>
        </p:spPr>
      </p:cxnSp>
      <p:sp>
        <p:nvSpPr>
          <p:cNvPr id="208" name="Text"/>
          <p:cNvSpPr txBox="1"/>
          <p:nvPr/>
        </p:nvSpPr>
        <p:spPr>
          <a:xfrm>
            <a:off x="11023600" y="5969000"/>
            <a:ext cx="1016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fr-FR" sz="900" b="1" spc="200" dirty="0">
                <a:solidFill>
                  <a:srgbClr val="002250"/>
                </a:solidFill>
              </a:rPr>
              <a:t>AGENCE</a:t>
            </a:r>
          </a:p>
          <a:p>
            <a:pPr algn="ctr">
              <a:buNone/>
            </a:pPr>
            <a:r>
              <a:rPr lang="fr-FR" sz="900" b="1" spc="200" dirty="0">
                <a:solidFill>
                  <a:srgbClr val="002250"/>
                </a:solidFill>
              </a:rPr>
              <a:t>BORCELLE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9D8F7E-C6F4-4388-65C1-62B1B3557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000" y="2540000"/>
            <a:ext cx="5842000" cy="2006600"/>
          </a:xfrm>
        </p:spPr>
        <p:txBody>
          <a:bodyPr/>
          <a:lstStyle/>
          <a:p>
            <a:r>
              <a:rPr lang="fr-FR" sz="3800" dirty="0"/>
              <a:t>Faire grandir les marques qui le méritent.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8EA2E2F-93B2-1CF2-FAD7-128EA072A7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000" y="4978400"/>
            <a:ext cx="6350000" cy="355600"/>
          </a:xfrm>
        </p:spPr>
        <p:txBody>
          <a:bodyPr/>
          <a:lstStyle/>
          <a:p>
            <a:pPr algn="l">
              <a:buNone/>
            </a:pPr>
            <a:r>
              <a:rPr lang="fr-FR" sz="1300" b="0" cap="all" spc="150" dirty="0">
                <a:solidFill>
                  <a:srgbClr val="FFFFFF"/>
                </a:solidFill>
              </a:rPr>
              <a:t>Présentation de l’entreprise  ·  Octobre 2026</a:t>
            </a:r>
          </a:p>
        </p:txBody>
      </p:sp>
    </p:spTree>
    <p:extLst>
      <p:ext uri="{BB962C8B-B14F-4D97-AF65-F5344CB8AC3E}">
        <p14:creationId xmlns:p14="http://schemas.microsoft.com/office/powerpoint/2010/main" val="1022485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Photo" descr="Équipe au travail"/>
          <p:cNvPicPr>
            <a:picLocks noChangeAspect="1"/>
          </p:cNvPicPr>
          <p:nvPr/>
        </p:nvPicPr>
        <p:blipFill>
          <a:blip r:embed="rId2"/>
          <a:srcRect l="18444" r="43037"/>
          <a:stretch>
            <a:fillRect/>
          </a:stretch>
        </p:blipFill>
        <p:spPr>
          <a:xfrm>
            <a:off x="0" y="0"/>
            <a:ext cx="3962400" cy="6858000"/>
          </a:xfrm>
          <a:prstGeom prst="rect">
            <a:avLst/>
          </a:prstGeom>
        </p:spPr>
      </p:pic>
      <p:sp>
        <p:nvSpPr>
          <p:cNvPr id="201" name="Shape"/>
          <p:cNvSpPr/>
          <p:nvPr/>
        </p:nvSpPr>
        <p:spPr>
          <a:xfrm>
            <a:off x="0" y="0"/>
            <a:ext cx="3962400" cy="6858000"/>
          </a:xfrm>
          <a:prstGeom prst="rect">
            <a:avLst/>
          </a:prstGeom>
          <a:solidFill>
            <a:srgbClr val="002250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2" name="Shape"/>
          <p:cNvSpPr/>
          <p:nvPr/>
        </p:nvSpPr>
        <p:spPr>
          <a:xfrm>
            <a:off x="3962400" y="0"/>
            <a:ext cx="762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3" name="Text"/>
          <p:cNvSpPr txBox="1"/>
          <p:nvPr/>
        </p:nvSpPr>
        <p:spPr>
          <a:xfrm>
            <a:off x="0" y="5537200"/>
            <a:ext cx="2794000" cy="863600"/>
          </a:xfrm>
          <a:prstGeom prst="rect">
            <a:avLst/>
          </a:prstGeom>
          <a:solidFill>
            <a:srgbClr val="002250"/>
          </a:solidFill>
        </p:spPr>
        <p:txBody>
          <a:bodyPr wrap="square" lIns="457200" tIns="0" rIns="0" bIns="0" anchor="ctr">
            <a:noAutofit/>
          </a:bodyPr>
          <a:lstStyle/>
          <a:p>
            <a:pPr algn="l">
              <a:buNone/>
            </a:pPr>
            <a:r>
              <a:rPr lang="fr-FR" sz="1200" b="1" cap="all" spc="150" dirty="0">
                <a:solidFill>
                  <a:srgbClr val="FFFFFF"/>
                </a:solidFill>
              </a:rPr>
              <a:t>5 parties</a:t>
            </a:r>
          </a:p>
          <a:p>
            <a:pPr algn="l">
              <a:buNone/>
            </a:pPr>
            <a:r>
              <a:rPr lang="fr-FR" sz="1400" b="0" dirty="0">
                <a:solidFill>
                  <a:srgbClr val="FFFFFF"/>
                </a:solidFill>
              </a:rPr>
              <a:t>13 diapositives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D02D6B4-CF7F-077A-3DE4-7749415FB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0" y="457200"/>
            <a:ext cx="6858000" cy="914400"/>
          </a:xfrm>
        </p:spPr>
        <p:txBody>
          <a:bodyPr/>
          <a:lstStyle/>
          <a:p>
            <a:r>
              <a:rPr lang="fr-FR" sz="4000" dirty="0"/>
              <a:t>Sommaire</a:t>
            </a:r>
          </a:p>
        </p:txBody>
      </p:sp>
      <p:sp>
        <p:nvSpPr>
          <p:cNvPr id="204" name="Shape"/>
          <p:cNvSpPr/>
          <p:nvPr/>
        </p:nvSpPr>
        <p:spPr>
          <a:xfrm>
            <a:off x="4724400" y="1498600"/>
            <a:ext cx="6096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5" name="Text"/>
          <p:cNvSpPr txBox="1"/>
          <p:nvPr/>
        </p:nvSpPr>
        <p:spPr>
          <a:xfrm>
            <a:off x="4724400" y="1879600"/>
            <a:ext cx="711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2600" b="1" dirty="0">
                <a:solidFill>
                  <a:srgbClr val="B38C77"/>
                </a:solidFill>
              </a:rPr>
              <a:t>01</a:t>
            </a:r>
          </a:p>
        </p:txBody>
      </p:sp>
      <p:sp>
        <p:nvSpPr>
          <p:cNvPr id="206" name="Text"/>
          <p:cNvSpPr txBox="1"/>
          <p:nvPr/>
        </p:nvSpPr>
        <p:spPr>
          <a:xfrm>
            <a:off x="5588000" y="1930400"/>
            <a:ext cx="5080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900" b="1" dirty="0">
                <a:solidFill>
                  <a:srgbClr val="002250"/>
                </a:solidFill>
              </a:rPr>
              <a:t>Qui nous sommes</a:t>
            </a:r>
          </a:p>
        </p:txBody>
      </p:sp>
      <p:sp>
        <p:nvSpPr>
          <p:cNvPr id="207" name="Text"/>
          <p:cNvSpPr txBox="1"/>
          <p:nvPr/>
        </p:nvSpPr>
        <p:spPr>
          <a:xfrm>
            <a:off x="5588000" y="22352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400" b="0" dirty="0">
                <a:solidFill>
                  <a:srgbClr val="5B6B8C"/>
                </a:solidFill>
              </a:rPr>
              <a:t>Une agence de 24 experts, née à Lyon</a:t>
            </a:r>
          </a:p>
        </p:txBody>
      </p:sp>
      <p:sp>
        <p:nvSpPr>
          <p:cNvPr id="208" name="Text"/>
          <p:cNvSpPr txBox="1"/>
          <p:nvPr/>
        </p:nvSpPr>
        <p:spPr>
          <a:xfrm>
            <a:off x="10820400" y="1879600"/>
            <a:ext cx="7620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fr-FR" sz="1400" b="1" dirty="0">
                <a:solidFill>
                  <a:srgbClr val="002250"/>
                </a:solidFill>
              </a:rPr>
              <a:t>p. 03</a:t>
            </a:r>
          </a:p>
        </p:txBody>
      </p:sp>
      <p:cxnSp>
        <p:nvCxnSpPr>
          <p:cNvPr id="209" name="Line"/>
          <p:cNvCxnSpPr/>
          <p:nvPr/>
        </p:nvCxnSpPr>
        <p:spPr>
          <a:xfrm>
            <a:off x="4724400" y="2641600"/>
            <a:ext cx="6858000" cy="0"/>
          </a:xfrm>
          <a:prstGeom prst="line">
            <a:avLst/>
          </a:prstGeom>
          <a:ln w="9525">
            <a:solidFill>
              <a:srgbClr val="D9DCE3"/>
            </a:solidFill>
          </a:ln>
        </p:spPr>
      </p:cxnSp>
      <p:sp>
        <p:nvSpPr>
          <p:cNvPr id="210" name="Text"/>
          <p:cNvSpPr txBox="1"/>
          <p:nvPr/>
        </p:nvSpPr>
        <p:spPr>
          <a:xfrm>
            <a:off x="4724400" y="2743200"/>
            <a:ext cx="711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2600" b="1" dirty="0">
                <a:solidFill>
                  <a:srgbClr val="B38C77"/>
                </a:solidFill>
              </a:rPr>
              <a:t>02</a:t>
            </a:r>
          </a:p>
        </p:txBody>
      </p:sp>
      <p:sp>
        <p:nvSpPr>
          <p:cNvPr id="211" name="Text"/>
          <p:cNvSpPr txBox="1"/>
          <p:nvPr/>
        </p:nvSpPr>
        <p:spPr>
          <a:xfrm>
            <a:off x="5588000" y="2794000"/>
            <a:ext cx="5080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900" b="1" dirty="0">
                <a:solidFill>
                  <a:srgbClr val="002250"/>
                </a:solidFill>
              </a:rPr>
              <a:t>Nos services</a:t>
            </a:r>
          </a:p>
        </p:txBody>
      </p:sp>
      <p:sp>
        <p:nvSpPr>
          <p:cNvPr id="212" name="Text"/>
          <p:cNvSpPr txBox="1"/>
          <p:nvPr/>
        </p:nvSpPr>
        <p:spPr>
          <a:xfrm>
            <a:off x="5588000" y="30988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400" b="0" dirty="0">
                <a:solidFill>
                  <a:srgbClr val="5B6B8C"/>
                </a:solidFill>
              </a:rPr>
              <a:t>Quatre expertises, un seul interlocuteur</a:t>
            </a:r>
          </a:p>
        </p:txBody>
      </p:sp>
      <p:sp>
        <p:nvSpPr>
          <p:cNvPr id="213" name="Text"/>
          <p:cNvSpPr txBox="1"/>
          <p:nvPr/>
        </p:nvSpPr>
        <p:spPr>
          <a:xfrm>
            <a:off x="10820400" y="2743200"/>
            <a:ext cx="7620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fr-FR" sz="1400" b="1" dirty="0">
                <a:solidFill>
                  <a:srgbClr val="002250"/>
                </a:solidFill>
              </a:rPr>
              <a:t>p. 05</a:t>
            </a:r>
          </a:p>
        </p:txBody>
      </p:sp>
      <p:cxnSp>
        <p:nvCxnSpPr>
          <p:cNvPr id="214" name="Line"/>
          <p:cNvCxnSpPr/>
          <p:nvPr/>
        </p:nvCxnSpPr>
        <p:spPr>
          <a:xfrm>
            <a:off x="4724400" y="3505200"/>
            <a:ext cx="6858000" cy="0"/>
          </a:xfrm>
          <a:prstGeom prst="line">
            <a:avLst/>
          </a:prstGeom>
          <a:ln w="9525">
            <a:solidFill>
              <a:srgbClr val="D9DCE3"/>
            </a:solidFill>
          </a:ln>
        </p:spPr>
      </p:cxnSp>
      <p:sp>
        <p:nvSpPr>
          <p:cNvPr id="215" name="Text"/>
          <p:cNvSpPr txBox="1"/>
          <p:nvPr/>
        </p:nvSpPr>
        <p:spPr>
          <a:xfrm>
            <a:off x="4724400" y="3606800"/>
            <a:ext cx="711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2600" b="1" dirty="0">
                <a:solidFill>
                  <a:srgbClr val="B38C77"/>
                </a:solidFill>
              </a:rPr>
              <a:t>03</a:t>
            </a:r>
          </a:p>
        </p:txBody>
      </p:sp>
      <p:sp>
        <p:nvSpPr>
          <p:cNvPr id="216" name="Text"/>
          <p:cNvSpPr txBox="1"/>
          <p:nvPr/>
        </p:nvSpPr>
        <p:spPr>
          <a:xfrm>
            <a:off x="5588000" y="3657600"/>
            <a:ext cx="5080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900" b="1" dirty="0">
                <a:solidFill>
                  <a:srgbClr val="002250"/>
                </a:solidFill>
              </a:rPr>
              <a:t>Notre équipe</a:t>
            </a:r>
          </a:p>
        </p:txBody>
      </p:sp>
      <p:sp>
        <p:nvSpPr>
          <p:cNvPr id="217" name="Text"/>
          <p:cNvSpPr txBox="1"/>
          <p:nvPr/>
        </p:nvSpPr>
        <p:spPr>
          <a:xfrm>
            <a:off x="5588000" y="39624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400" b="0" dirty="0">
                <a:solidFill>
                  <a:srgbClr val="5B6B8C"/>
                </a:solidFill>
              </a:rPr>
              <a:t>Trois pôles au service de chaque client</a:t>
            </a:r>
          </a:p>
        </p:txBody>
      </p:sp>
      <p:sp>
        <p:nvSpPr>
          <p:cNvPr id="218" name="Text"/>
          <p:cNvSpPr txBox="1"/>
          <p:nvPr/>
        </p:nvSpPr>
        <p:spPr>
          <a:xfrm>
            <a:off x="10820400" y="3606800"/>
            <a:ext cx="7620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fr-FR" sz="1400" b="1" dirty="0">
                <a:solidFill>
                  <a:srgbClr val="002250"/>
                </a:solidFill>
              </a:rPr>
              <a:t>p. 07</a:t>
            </a:r>
          </a:p>
        </p:txBody>
      </p:sp>
      <p:cxnSp>
        <p:nvCxnSpPr>
          <p:cNvPr id="219" name="Line"/>
          <p:cNvCxnSpPr/>
          <p:nvPr/>
        </p:nvCxnSpPr>
        <p:spPr>
          <a:xfrm>
            <a:off x="4724400" y="4368800"/>
            <a:ext cx="6858000" cy="0"/>
          </a:xfrm>
          <a:prstGeom prst="line">
            <a:avLst/>
          </a:prstGeom>
          <a:ln w="9525">
            <a:solidFill>
              <a:srgbClr val="D9DCE3"/>
            </a:solidFill>
          </a:ln>
        </p:spPr>
      </p:cxnSp>
      <p:sp>
        <p:nvSpPr>
          <p:cNvPr id="220" name="Text"/>
          <p:cNvSpPr txBox="1"/>
          <p:nvPr/>
        </p:nvSpPr>
        <p:spPr>
          <a:xfrm>
            <a:off x="4724400" y="4470400"/>
            <a:ext cx="711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2600" b="1" dirty="0">
                <a:solidFill>
                  <a:srgbClr val="B38C77"/>
                </a:solidFill>
              </a:rPr>
              <a:t>04</a:t>
            </a:r>
          </a:p>
        </p:txBody>
      </p:sp>
      <p:sp>
        <p:nvSpPr>
          <p:cNvPr id="221" name="Text"/>
          <p:cNvSpPr txBox="1"/>
          <p:nvPr/>
        </p:nvSpPr>
        <p:spPr>
          <a:xfrm>
            <a:off x="5588000" y="4521200"/>
            <a:ext cx="5080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900" b="1" dirty="0">
                <a:solidFill>
                  <a:srgbClr val="002250"/>
                </a:solidFill>
              </a:rPr>
              <a:t>Nos projets</a:t>
            </a:r>
          </a:p>
        </p:txBody>
      </p:sp>
      <p:sp>
        <p:nvSpPr>
          <p:cNvPr id="222" name="Text"/>
          <p:cNvSpPr txBox="1"/>
          <p:nvPr/>
        </p:nvSpPr>
        <p:spPr>
          <a:xfrm>
            <a:off x="5588000" y="48260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400" b="0" dirty="0">
                <a:solidFill>
                  <a:srgbClr val="5B6B8C"/>
                </a:solidFill>
              </a:rPr>
              <a:t>Des résultats mesurés, client par client</a:t>
            </a:r>
          </a:p>
        </p:txBody>
      </p:sp>
      <p:sp>
        <p:nvSpPr>
          <p:cNvPr id="223" name="Text"/>
          <p:cNvSpPr txBox="1"/>
          <p:nvPr/>
        </p:nvSpPr>
        <p:spPr>
          <a:xfrm>
            <a:off x="10820400" y="4470400"/>
            <a:ext cx="7620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fr-FR" sz="1400" b="1" dirty="0">
                <a:solidFill>
                  <a:srgbClr val="002250"/>
                </a:solidFill>
              </a:rPr>
              <a:t>p. 09</a:t>
            </a:r>
          </a:p>
        </p:txBody>
      </p:sp>
      <p:cxnSp>
        <p:nvCxnSpPr>
          <p:cNvPr id="224" name="Line"/>
          <p:cNvCxnSpPr/>
          <p:nvPr/>
        </p:nvCxnSpPr>
        <p:spPr>
          <a:xfrm>
            <a:off x="4724400" y="5232400"/>
            <a:ext cx="6858000" cy="0"/>
          </a:xfrm>
          <a:prstGeom prst="line">
            <a:avLst/>
          </a:prstGeom>
          <a:ln w="9525">
            <a:solidFill>
              <a:srgbClr val="D9DCE3"/>
            </a:solidFill>
          </a:ln>
        </p:spPr>
      </p:cxnSp>
      <p:sp>
        <p:nvSpPr>
          <p:cNvPr id="225" name="Text"/>
          <p:cNvSpPr txBox="1"/>
          <p:nvPr/>
        </p:nvSpPr>
        <p:spPr>
          <a:xfrm>
            <a:off x="4724400" y="5334000"/>
            <a:ext cx="7112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2600" b="1" dirty="0">
                <a:solidFill>
                  <a:srgbClr val="B38C77"/>
                </a:solidFill>
              </a:rPr>
              <a:t>05</a:t>
            </a:r>
          </a:p>
        </p:txBody>
      </p:sp>
      <p:sp>
        <p:nvSpPr>
          <p:cNvPr id="226" name="Text"/>
          <p:cNvSpPr txBox="1"/>
          <p:nvPr/>
        </p:nvSpPr>
        <p:spPr>
          <a:xfrm>
            <a:off x="5588000" y="5384800"/>
            <a:ext cx="5080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900" b="1" dirty="0">
                <a:solidFill>
                  <a:srgbClr val="002250"/>
                </a:solidFill>
              </a:rPr>
              <a:t>Pourquoi nous choisir</a:t>
            </a:r>
          </a:p>
        </p:txBody>
      </p:sp>
      <p:sp>
        <p:nvSpPr>
          <p:cNvPr id="227" name="Text"/>
          <p:cNvSpPr txBox="1"/>
          <p:nvPr/>
        </p:nvSpPr>
        <p:spPr>
          <a:xfrm>
            <a:off x="5588000" y="5689600"/>
            <a:ext cx="508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400" b="0" dirty="0">
                <a:solidFill>
                  <a:srgbClr val="5B6B8C"/>
                </a:solidFill>
              </a:rPr>
              <a:t>Ce qui fait revenir 9 clients sur 10</a:t>
            </a:r>
          </a:p>
        </p:txBody>
      </p:sp>
      <p:sp>
        <p:nvSpPr>
          <p:cNvPr id="228" name="Text"/>
          <p:cNvSpPr txBox="1"/>
          <p:nvPr/>
        </p:nvSpPr>
        <p:spPr>
          <a:xfrm>
            <a:off x="10820400" y="5334000"/>
            <a:ext cx="7620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buNone/>
            </a:pPr>
            <a:r>
              <a:rPr lang="fr-FR" sz="1400" b="1" dirty="0">
                <a:solidFill>
                  <a:srgbClr val="002250"/>
                </a:solidFill>
              </a:rPr>
              <a:t>p. 11</a:t>
            </a:r>
          </a:p>
        </p:txBody>
      </p:sp>
      <p:cxnSp>
        <p:nvCxnSpPr>
          <p:cNvPr id="229" name="Line"/>
          <p:cNvCxnSpPr/>
          <p:nvPr/>
        </p:nvCxnSpPr>
        <p:spPr>
          <a:xfrm>
            <a:off x="4724400" y="6096000"/>
            <a:ext cx="6858000" cy="0"/>
          </a:xfrm>
          <a:prstGeom prst="line">
            <a:avLst/>
          </a:prstGeom>
          <a:ln w="9525">
            <a:solidFill>
              <a:srgbClr val="D9DCE3"/>
            </a:solidFill>
          </a:ln>
        </p:spPr>
      </p:cxnSp>
    </p:spTree>
    <p:extLst>
      <p:ext uri="{BB962C8B-B14F-4D97-AF65-F5344CB8AC3E}">
        <p14:creationId xmlns:p14="http://schemas.microsoft.com/office/powerpoint/2010/main" val="3182078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9292E8-1E4D-1314-6267-521CFAC7E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75000"/>
            <a:ext cx="5334000" cy="1397000"/>
          </a:xfrm>
        </p:spPr>
        <p:txBody>
          <a:bodyPr/>
          <a:lstStyle/>
          <a:p>
            <a:r>
              <a:rPr lang="fr-FR" dirty="0"/>
              <a:t>Qui nous sommes.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54A277-628D-98F4-2A26-C806D43DB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01</a:t>
            </a:r>
          </a:p>
        </p:txBody>
      </p:sp>
      <p:pic>
        <p:nvPicPr>
          <p:cNvPr id="200" name="Section photo" descr="Réunion d’équipe"/>
          <p:cNvPicPr>
            <a:picLocks noChangeAspect="1"/>
          </p:cNvPicPr>
          <p:nvPr/>
        </p:nvPicPr>
        <p:blipFill>
          <a:blip r:embed="rId2"/>
          <a:srcRect l="21648" r="26459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201" name="Corner block"/>
          <p:cNvSpPr/>
          <p:nvPr/>
        </p:nvSpPr>
        <p:spPr>
          <a:xfrm>
            <a:off x="6451600" y="4978400"/>
            <a:ext cx="812800" cy="812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2" name="Promise"/>
          <p:cNvSpPr txBox="1"/>
          <p:nvPr/>
        </p:nvSpPr>
        <p:spPr>
          <a:xfrm>
            <a:off x="609600" y="4572000"/>
            <a:ext cx="5080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fr-FR" sz="1600" b="0" dirty="0">
                <a:solidFill>
                  <a:srgbClr val="D9DCE3"/>
                </a:solidFill>
              </a:rPr>
              <a:t>Une agence lyonnaise de 24 experts qui accompagne les PME depuis 2014.</a:t>
            </a:r>
          </a:p>
        </p:txBody>
      </p:sp>
      <p:sp>
        <p:nvSpPr>
          <p:cNvPr id="203" name="Part label"/>
          <p:cNvSpPr txBox="1"/>
          <p:nvPr/>
        </p:nvSpPr>
        <p:spPr>
          <a:xfrm>
            <a:off x="609600" y="5588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000" b="1" spc="200" dirty="0">
                <a:solidFill>
                  <a:srgbClr val="B38C77"/>
                </a:solidFill>
              </a:rPr>
              <a:t>PARTIE 1 / 5</a:t>
            </a:r>
          </a:p>
        </p:txBody>
      </p:sp>
      <p:sp>
        <p:nvSpPr>
          <p:cNvPr id="204" name="Progress 1"/>
          <p:cNvSpPr/>
          <p:nvPr/>
        </p:nvSpPr>
        <p:spPr>
          <a:xfrm>
            <a:off x="609600" y="5969000"/>
            <a:ext cx="1778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5" name="Progress 2"/>
          <p:cNvSpPr/>
          <p:nvPr/>
        </p:nvSpPr>
        <p:spPr>
          <a:xfrm>
            <a:off x="8890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6" name="Progress 3"/>
          <p:cNvSpPr/>
          <p:nvPr/>
        </p:nvSpPr>
        <p:spPr>
          <a:xfrm>
            <a:off x="11684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7" name="Progress 4"/>
          <p:cNvSpPr/>
          <p:nvPr/>
        </p:nvSpPr>
        <p:spPr>
          <a:xfrm>
            <a:off x="14478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8" name="Progress 5"/>
          <p:cNvSpPr/>
          <p:nvPr/>
        </p:nvSpPr>
        <p:spPr>
          <a:xfrm>
            <a:off x="17272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9267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D8CDE8-C070-E2F4-ABC8-2BE721480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Depuis 2014, nous faisons grandir les PME de la région lyonnaise</a:t>
            </a:r>
          </a:p>
        </p:txBody>
      </p:sp>
      <p:sp>
        <p:nvSpPr>
          <p:cNvPr id="200" name="Text"/>
          <p:cNvSpPr txBox="1"/>
          <p:nvPr/>
        </p:nvSpPr>
        <p:spPr>
          <a:xfrm>
            <a:off x="609600" y="1905000"/>
            <a:ext cx="5207000" cy="121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fr-FR" sz="1500" b="0" dirty="0">
                <a:solidFill>
                  <a:srgbClr val="002250"/>
                </a:solidFill>
              </a:rPr>
              <a:t>Agence Borcelle est née d’une conviction : une PME mérite la même rigueur marketing qu’un grand groupe, </a:t>
            </a:r>
            <a:r>
              <a:rPr lang="fr-FR" sz="1500" b="1" dirty="0">
                <a:solidFill>
                  <a:srgbClr val="002250"/>
                </a:solidFill>
              </a:rPr>
              <a:t>sans la lourdeur d’une grande agence.</a:t>
            </a:r>
          </a:p>
        </p:txBody>
      </p:sp>
      <p:sp>
        <p:nvSpPr>
          <p:cNvPr id="201" name="Shape"/>
          <p:cNvSpPr/>
          <p:nvPr/>
        </p:nvSpPr>
        <p:spPr>
          <a:xfrm>
            <a:off x="609600" y="3454400"/>
            <a:ext cx="1574800" cy="381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2" name="Text"/>
          <p:cNvSpPr txBox="1"/>
          <p:nvPr/>
        </p:nvSpPr>
        <p:spPr>
          <a:xfrm>
            <a:off x="609600" y="3606800"/>
            <a:ext cx="16510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3400" b="1" dirty="0">
                <a:solidFill>
                  <a:srgbClr val="B38C77"/>
                </a:solidFill>
              </a:rPr>
              <a:t>2014</a:t>
            </a:r>
          </a:p>
        </p:txBody>
      </p:sp>
      <p:sp>
        <p:nvSpPr>
          <p:cNvPr id="203" name="Text"/>
          <p:cNvSpPr txBox="1"/>
          <p:nvPr/>
        </p:nvSpPr>
        <p:spPr>
          <a:xfrm>
            <a:off x="609600" y="4292600"/>
            <a:ext cx="165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300" b="0" dirty="0">
                <a:solidFill>
                  <a:srgbClr val="5B6B8C"/>
                </a:solidFill>
              </a:rPr>
              <a:t>année de création</a:t>
            </a:r>
          </a:p>
        </p:txBody>
      </p:sp>
      <p:sp>
        <p:nvSpPr>
          <p:cNvPr id="204" name="Shape"/>
          <p:cNvSpPr/>
          <p:nvPr/>
        </p:nvSpPr>
        <p:spPr>
          <a:xfrm>
            <a:off x="2413000" y="3454400"/>
            <a:ext cx="1574800" cy="38100"/>
          </a:xfrm>
          <a:prstGeom prst="rect">
            <a:avLst/>
          </a:prstGeom>
          <a:solidFill>
            <a:srgbClr val="00225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5" name="Text"/>
          <p:cNvSpPr txBox="1"/>
          <p:nvPr/>
        </p:nvSpPr>
        <p:spPr>
          <a:xfrm>
            <a:off x="2413000" y="3606800"/>
            <a:ext cx="16510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3400" b="1" dirty="0">
                <a:solidFill>
                  <a:srgbClr val="002250"/>
                </a:solidFill>
              </a:rPr>
              <a:t>24</a:t>
            </a:r>
          </a:p>
        </p:txBody>
      </p:sp>
      <p:sp>
        <p:nvSpPr>
          <p:cNvPr id="206" name="Text"/>
          <p:cNvSpPr txBox="1"/>
          <p:nvPr/>
        </p:nvSpPr>
        <p:spPr>
          <a:xfrm>
            <a:off x="2413000" y="4292600"/>
            <a:ext cx="165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300" b="0" dirty="0">
                <a:solidFill>
                  <a:srgbClr val="5B6B8C"/>
                </a:solidFill>
              </a:rPr>
              <a:t>experts en interne</a:t>
            </a:r>
          </a:p>
        </p:txBody>
      </p:sp>
      <p:sp>
        <p:nvSpPr>
          <p:cNvPr id="207" name="Shape"/>
          <p:cNvSpPr/>
          <p:nvPr/>
        </p:nvSpPr>
        <p:spPr>
          <a:xfrm>
            <a:off x="4216400" y="3454400"/>
            <a:ext cx="1574800" cy="38100"/>
          </a:xfrm>
          <a:prstGeom prst="rect">
            <a:avLst/>
          </a:prstGeom>
          <a:solidFill>
            <a:srgbClr val="00225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8" name="Text"/>
          <p:cNvSpPr txBox="1"/>
          <p:nvPr/>
        </p:nvSpPr>
        <p:spPr>
          <a:xfrm>
            <a:off x="4216400" y="3606800"/>
            <a:ext cx="16510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3400" b="1" dirty="0">
                <a:solidFill>
                  <a:srgbClr val="002250"/>
                </a:solidFill>
              </a:rPr>
              <a:t>38</a:t>
            </a:r>
          </a:p>
        </p:txBody>
      </p:sp>
      <p:sp>
        <p:nvSpPr>
          <p:cNvPr id="209" name="Text"/>
          <p:cNvSpPr txBox="1"/>
          <p:nvPr/>
        </p:nvSpPr>
        <p:spPr>
          <a:xfrm>
            <a:off x="4216400" y="4292600"/>
            <a:ext cx="1651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300" b="0" dirty="0">
                <a:solidFill>
                  <a:srgbClr val="5B6B8C"/>
                </a:solidFill>
              </a:rPr>
              <a:t>clients actifs</a:t>
            </a:r>
          </a:p>
        </p:txBody>
      </p:sp>
      <p:sp>
        <p:nvSpPr>
          <p:cNvPr id="210" name="Text"/>
          <p:cNvSpPr txBox="1"/>
          <p:nvPr/>
        </p:nvSpPr>
        <p:spPr>
          <a:xfrm>
            <a:off x="609600" y="4876800"/>
            <a:ext cx="52070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300" b="1" cap="all" spc="100" dirty="0">
                <a:solidFill>
                  <a:srgbClr val="002250"/>
                </a:solidFill>
              </a:rPr>
              <a:t>Notre méthode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buNone/>
            </a:pPr>
            <a:r>
              <a:rPr lang="fr-FR" sz="1400" b="0" dirty="0">
                <a:solidFill>
                  <a:srgbClr val="002250"/>
                </a:solidFill>
              </a:rPr>
              <a:t>Un objectif chiffré en début de mission, un tableau de bord partagé chaque mois, un bilan à 12 mois.</a:t>
            </a:r>
          </a:p>
        </p:txBody>
      </p:sp>
      <p:pic>
        <p:nvPicPr>
          <p:cNvPr id="211" name="Photo" descr="Consultante au travail"/>
          <p:cNvPicPr>
            <a:picLocks noChangeAspect="1"/>
          </p:cNvPicPr>
          <p:nvPr/>
        </p:nvPicPr>
        <p:blipFill>
          <a:blip r:embed="rId2"/>
          <a:srcRect l="2273" r="2273"/>
          <a:stretch>
            <a:fillRect/>
          </a:stretch>
        </p:blipFill>
        <p:spPr>
          <a:xfrm>
            <a:off x="6350000" y="1854200"/>
            <a:ext cx="2667000" cy="4191000"/>
          </a:xfrm>
          <a:prstGeom prst="rect">
            <a:avLst/>
          </a:prstGeom>
        </p:spPr>
      </p:pic>
      <p:pic>
        <p:nvPicPr>
          <p:cNvPr id="212" name="Photo" descr="Salle de réunion de l’agence"/>
          <p:cNvPicPr>
            <a:picLocks noChangeAspect="1"/>
          </p:cNvPicPr>
          <p:nvPr/>
        </p:nvPicPr>
        <p:blipFill>
          <a:blip r:embed="rId3"/>
          <a:srcRect l="7330" r="7330"/>
          <a:stretch>
            <a:fillRect/>
          </a:stretch>
        </p:blipFill>
        <p:spPr>
          <a:xfrm>
            <a:off x="9169400" y="1854200"/>
            <a:ext cx="2413000" cy="2019300"/>
          </a:xfrm>
          <a:prstGeom prst="rect">
            <a:avLst/>
          </a:prstGeom>
        </p:spPr>
      </p:pic>
      <p:pic>
        <p:nvPicPr>
          <p:cNvPr id="213" name="Photo" descr="Tableaux de bord clients"/>
          <p:cNvPicPr>
            <a:picLocks noChangeAspect="1"/>
          </p:cNvPicPr>
          <p:nvPr/>
        </p:nvPicPr>
        <p:blipFill>
          <a:blip r:embed="rId4"/>
          <a:srcRect l="10410" r="10410"/>
          <a:stretch>
            <a:fillRect/>
          </a:stretch>
        </p:blipFill>
        <p:spPr>
          <a:xfrm>
            <a:off x="9169400" y="4025900"/>
            <a:ext cx="2413000" cy="2019300"/>
          </a:xfrm>
          <a:prstGeom prst="rect">
            <a:avLst/>
          </a:prstGeom>
        </p:spPr>
      </p:pic>
      <p:sp>
        <p:nvSpPr>
          <p:cNvPr id="214" name="Quote card"/>
          <p:cNvSpPr txBox="1"/>
          <p:nvPr/>
        </p:nvSpPr>
        <p:spPr>
          <a:xfrm>
            <a:off x="5969000" y="4826000"/>
            <a:ext cx="2946400" cy="1168400"/>
          </a:xfrm>
          <a:prstGeom prst="rect">
            <a:avLst/>
          </a:prstGeom>
          <a:solidFill>
            <a:srgbClr val="002250"/>
          </a:solidFill>
        </p:spPr>
        <p:txBody>
          <a:bodyPr wrap="square" lIns="177800" tIns="152400" rIns="177800" bIns="152400" anchor="ctr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fr-FR" sz="1400" b="1" dirty="0">
                <a:solidFill>
                  <a:srgbClr val="FFFFFF"/>
                </a:solidFill>
              </a:rPr>
              <a:t>« Notre métier : transformer un budget marketing en clients. »</a:t>
            </a:r>
          </a:p>
          <a:p>
            <a:pPr algn="l">
              <a:spcBef>
                <a:spcPts val="600"/>
              </a:spcBef>
              <a:buNone/>
            </a:pPr>
            <a:r>
              <a:rPr lang="fr-FR" sz="1100" b="0" dirty="0">
                <a:solidFill>
                  <a:srgbClr val="D9C7BB"/>
                </a:solidFill>
              </a:rPr>
              <a:t>Claire Morel, fondatrice</a:t>
            </a:r>
          </a:p>
        </p:txBody>
      </p:sp>
      <p:sp>
        <p:nvSpPr>
          <p:cNvPr id="215" name="Shape"/>
          <p:cNvSpPr/>
          <p:nvPr/>
        </p:nvSpPr>
        <p:spPr>
          <a:xfrm>
            <a:off x="5969000" y="4826000"/>
            <a:ext cx="63500" cy="11684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6" name="Section tracker"/>
          <p:cNvSpPr txBox="1"/>
          <p:nvPr/>
        </p:nvSpPr>
        <p:spPr>
          <a:xfrm>
            <a:off x="609600" y="62992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000" b="1" dirty="0">
                <a:solidFill>
                  <a:srgbClr val="B38C77"/>
                </a:solidFill>
              </a:rPr>
              <a:t>01  </a:t>
            </a:r>
            <a:r>
              <a:rPr lang="fr-FR" sz="1000" b="1" cap="all" spc="100" dirty="0">
                <a:solidFill>
                  <a:srgbClr val="5B6B8C"/>
                </a:solidFill>
              </a:rPr>
              <a:t>Qui nous sommes</a:t>
            </a:r>
          </a:p>
        </p:txBody>
      </p:sp>
      <p:sp>
        <p:nvSpPr>
          <p:cNvPr id="21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346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9292E8-1E4D-1314-6267-521CFAC7E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75000"/>
            <a:ext cx="5334000" cy="1397000"/>
          </a:xfrm>
        </p:spPr>
        <p:txBody>
          <a:bodyPr/>
          <a:lstStyle/>
          <a:p>
            <a:r>
              <a:rPr lang="fr-FR" dirty="0"/>
              <a:t>Nos services.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54A277-628D-98F4-2A26-C806D43DB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02</a:t>
            </a:r>
          </a:p>
        </p:txBody>
      </p:sp>
      <p:pic>
        <p:nvPicPr>
          <p:cNvPr id="200" name="Section photo" descr="Réunion d’équipe"/>
          <p:cNvPicPr>
            <a:picLocks noChangeAspect="1"/>
          </p:cNvPicPr>
          <p:nvPr/>
        </p:nvPicPr>
        <p:blipFill>
          <a:blip r:embed="rId2"/>
          <a:srcRect l="29821" r="18278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201" name="Corner block"/>
          <p:cNvSpPr/>
          <p:nvPr/>
        </p:nvSpPr>
        <p:spPr>
          <a:xfrm>
            <a:off x="6451600" y="4978400"/>
            <a:ext cx="812800" cy="812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2" name="Promise"/>
          <p:cNvSpPr txBox="1"/>
          <p:nvPr/>
        </p:nvSpPr>
        <p:spPr>
          <a:xfrm>
            <a:off x="609600" y="4572000"/>
            <a:ext cx="5080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fr-FR" sz="1600" b="0" dirty="0">
                <a:solidFill>
                  <a:srgbClr val="D9DCE3"/>
                </a:solidFill>
              </a:rPr>
              <a:t>Stratégie, digital, réseaux sociaux et suivi : quatre métiers, un seul interlocuteur.</a:t>
            </a:r>
          </a:p>
        </p:txBody>
      </p:sp>
      <p:sp>
        <p:nvSpPr>
          <p:cNvPr id="203" name="Part label"/>
          <p:cNvSpPr txBox="1"/>
          <p:nvPr/>
        </p:nvSpPr>
        <p:spPr>
          <a:xfrm>
            <a:off x="609600" y="5588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000" b="1" spc="200" dirty="0">
                <a:solidFill>
                  <a:srgbClr val="B38C77"/>
                </a:solidFill>
              </a:rPr>
              <a:t>PARTIE 2 / 5</a:t>
            </a:r>
          </a:p>
        </p:txBody>
      </p:sp>
      <p:sp>
        <p:nvSpPr>
          <p:cNvPr id="204" name="Progress 1"/>
          <p:cNvSpPr/>
          <p:nvPr/>
        </p:nvSpPr>
        <p:spPr>
          <a:xfrm>
            <a:off x="6096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5" name="Progress 2"/>
          <p:cNvSpPr/>
          <p:nvPr/>
        </p:nvSpPr>
        <p:spPr>
          <a:xfrm>
            <a:off x="889000" y="5969000"/>
            <a:ext cx="1778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6" name="Progress 3"/>
          <p:cNvSpPr/>
          <p:nvPr/>
        </p:nvSpPr>
        <p:spPr>
          <a:xfrm>
            <a:off x="11684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7" name="Progress 4"/>
          <p:cNvSpPr/>
          <p:nvPr/>
        </p:nvSpPr>
        <p:spPr>
          <a:xfrm>
            <a:off x="14478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8" name="Progress 5"/>
          <p:cNvSpPr/>
          <p:nvPr/>
        </p:nvSpPr>
        <p:spPr>
          <a:xfrm>
            <a:off x="17272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8666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02A11-7739-2B61-3D3D-6D1AAD747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5791200" cy="1066800"/>
          </a:xfrm>
        </p:spPr>
        <p:txBody>
          <a:bodyPr/>
          <a:lstStyle/>
          <a:p>
            <a:r>
              <a:rPr lang="fr-FR" sz="2600" dirty="0"/>
              <a:t>Quatre expertises couvrent toute la chaîne, de la stratégie au suivi</a:t>
            </a:r>
          </a:p>
        </p:txBody>
      </p:sp>
      <p:sp>
        <p:nvSpPr>
          <p:cNvPr id="200" name="Text"/>
          <p:cNvSpPr txBox="1"/>
          <p:nvPr/>
        </p:nvSpPr>
        <p:spPr>
          <a:xfrm>
            <a:off x="609600" y="1854200"/>
            <a:ext cx="57150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lang="fr-FR" sz="1500" b="1" dirty="0">
                <a:solidFill>
                  <a:srgbClr val="002250"/>
                </a:solidFill>
              </a:rPr>
              <a:t>Vous n’avez pas à coordonner quatre prestataires. </a:t>
            </a:r>
            <a:r>
              <a:rPr lang="fr-FR" sz="1500" b="0" dirty="0">
                <a:solidFill>
                  <a:srgbClr val="002250"/>
                </a:solidFill>
              </a:rPr>
              <a:t>Un référent pilote l’ensemble et rend compte chaque mois des résultats obtenus.</a:t>
            </a:r>
          </a:p>
        </p:txBody>
      </p:sp>
      <p:pic>
        <p:nvPicPr>
          <p:cNvPr id="201" name="Photo" descr="Campagne de marketing digital"/>
          <p:cNvPicPr>
            <a:picLocks noChangeAspect="1"/>
          </p:cNvPicPr>
          <p:nvPr/>
        </p:nvPicPr>
        <p:blipFill>
          <a:blip r:embed="rId2"/>
          <a:srcRect t="3259" b="3259"/>
          <a:stretch>
            <a:fillRect/>
          </a:stretch>
        </p:blipFill>
        <p:spPr>
          <a:xfrm>
            <a:off x="6858000" y="0"/>
            <a:ext cx="5334000" cy="3327400"/>
          </a:xfrm>
          <a:prstGeom prst="rect">
            <a:avLst/>
          </a:prstGeom>
        </p:spPr>
      </p:pic>
      <p:sp>
        <p:nvSpPr>
          <p:cNvPr id="202" name="Badge"/>
          <p:cNvSpPr txBox="1"/>
          <p:nvPr/>
        </p:nvSpPr>
        <p:spPr>
          <a:xfrm>
            <a:off x="6604000" y="2667000"/>
            <a:ext cx="2489200" cy="812800"/>
          </a:xfrm>
          <a:prstGeom prst="rect">
            <a:avLst/>
          </a:prstGeom>
          <a:solidFill>
            <a:srgbClr val="8A6652"/>
          </a:solidFill>
        </p:spPr>
        <p:txBody>
          <a:bodyPr wrap="square" lIns="177800" tIns="0" rIns="177800" bIns="0" anchor="ctr">
            <a:noAutofit/>
          </a:bodyPr>
          <a:lstStyle/>
          <a:p>
            <a:pPr algn="l">
              <a:buNone/>
            </a:pPr>
            <a:r>
              <a:rPr lang="fr-FR" sz="1800" b="1" dirty="0">
                <a:solidFill>
                  <a:srgbClr val="FFFFFF"/>
                </a:solidFill>
              </a:rPr>
              <a:t>1 référent</a:t>
            </a:r>
          </a:p>
          <a:p>
            <a:pPr algn="l">
              <a:buNone/>
            </a:pPr>
            <a:r>
              <a:rPr lang="fr-FR" sz="1300" b="0" dirty="0">
                <a:solidFill>
                  <a:srgbClr val="FFFFFF"/>
                </a:solidFill>
              </a:rPr>
              <a:t>unique par client</a:t>
            </a:r>
          </a:p>
        </p:txBody>
      </p:sp>
      <p:sp>
        <p:nvSpPr>
          <p:cNvPr id="203" name="Step 1"/>
          <p:cNvSpPr/>
          <p:nvPr/>
        </p:nvSpPr>
        <p:spPr>
          <a:xfrm>
            <a:off x="609600" y="4064000"/>
            <a:ext cx="558800" cy="558800"/>
          </a:xfrm>
          <a:prstGeom prst="ellipse">
            <a:avLst/>
          </a:prstGeom>
          <a:solidFill>
            <a:srgbClr val="00225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fr-FR" sz="1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4" name="Text"/>
          <p:cNvSpPr txBox="1"/>
          <p:nvPr/>
        </p:nvSpPr>
        <p:spPr>
          <a:xfrm>
            <a:off x="609600" y="4749800"/>
            <a:ext cx="25400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700" b="1" dirty="0">
                <a:solidFill>
                  <a:srgbClr val="002250"/>
                </a:solidFill>
              </a:rPr>
              <a:t>Stratégie</a:t>
            </a:r>
          </a:p>
        </p:txBody>
      </p:sp>
      <p:sp>
        <p:nvSpPr>
          <p:cNvPr id="205" name="Text"/>
          <p:cNvSpPr txBox="1"/>
          <p:nvPr/>
        </p:nvSpPr>
        <p:spPr>
          <a:xfrm>
            <a:off x="609600" y="5130800"/>
            <a:ext cx="24892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fr-FR" sz="1400" b="0" dirty="0">
                <a:solidFill>
                  <a:srgbClr val="2E3E5C"/>
                </a:solidFill>
              </a:rPr>
              <a:t>Positionnement, cibles et plan de communication annuel.</a:t>
            </a:r>
          </a:p>
        </p:txBody>
      </p:sp>
      <p:cxnSp>
        <p:nvCxnSpPr>
          <p:cNvPr id="206" name="Line"/>
          <p:cNvCxnSpPr/>
          <p:nvPr/>
        </p:nvCxnSpPr>
        <p:spPr>
          <a:xfrm>
            <a:off x="1447800" y="4343400"/>
            <a:ext cx="1778000" cy="0"/>
          </a:xfrm>
          <a:prstGeom prst="line">
            <a:avLst/>
          </a:prstGeom>
          <a:ln w="12700">
            <a:solidFill>
              <a:srgbClr val="C9CED8"/>
            </a:solidFill>
          </a:ln>
        </p:spPr>
      </p:cxnSp>
      <p:sp>
        <p:nvSpPr>
          <p:cNvPr id="207" name="Step 2"/>
          <p:cNvSpPr/>
          <p:nvPr/>
        </p:nvSpPr>
        <p:spPr>
          <a:xfrm>
            <a:off x="3429000" y="4064000"/>
            <a:ext cx="558800" cy="558800"/>
          </a:xfrm>
          <a:prstGeom prst="ellipse">
            <a:avLst/>
          </a:prstGeom>
          <a:noFill/>
          <a:ln w="19050">
            <a:solidFill>
              <a:srgbClr val="00225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fr-FR" sz="1800" b="1" dirty="0">
                <a:solidFill>
                  <a:srgbClr val="002250"/>
                </a:solidFill>
              </a:rPr>
              <a:t>2</a:t>
            </a:r>
          </a:p>
        </p:txBody>
      </p:sp>
      <p:sp>
        <p:nvSpPr>
          <p:cNvPr id="208" name="Text"/>
          <p:cNvSpPr txBox="1"/>
          <p:nvPr/>
        </p:nvSpPr>
        <p:spPr>
          <a:xfrm>
            <a:off x="3429000" y="4749800"/>
            <a:ext cx="25400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700" b="1" dirty="0">
                <a:solidFill>
                  <a:srgbClr val="002250"/>
                </a:solidFill>
              </a:rPr>
              <a:t>Marketing digital</a:t>
            </a:r>
          </a:p>
        </p:txBody>
      </p:sp>
      <p:sp>
        <p:nvSpPr>
          <p:cNvPr id="209" name="Text"/>
          <p:cNvSpPr txBox="1"/>
          <p:nvPr/>
        </p:nvSpPr>
        <p:spPr>
          <a:xfrm>
            <a:off x="3429000" y="5130800"/>
            <a:ext cx="24892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fr-FR" sz="1400" b="0" dirty="0">
                <a:solidFill>
                  <a:srgbClr val="2E3E5C"/>
                </a:solidFill>
              </a:rPr>
              <a:t>Campagnes payantes et SEO, pilotées au coût par client.</a:t>
            </a:r>
          </a:p>
        </p:txBody>
      </p:sp>
      <p:cxnSp>
        <p:nvCxnSpPr>
          <p:cNvPr id="210" name="Line"/>
          <p:cNvCxnSpPr/>
          <p:nvPr/>
        </p:nvCxnSpPr>
        <p:spPr>
          <a:xfrm>
            <a:off x="4267200" y="4343400"/>
            <a:ext cx="1778000" cy="0"/>
          </a:xfrm>
          <a:prstGeom prst="line">
            <a:avLst/>
          </a:prstGeom>
          <a:ln w="12700">
            <a:solidFill>
              <a:srgbClr val="C9CED8"/>
            </a:solidFill>
          </a:ln>
        </p:spPr>
      </p:cxnSp>
      <p:sp>
        <p:nvSpPr>
          <p:cNvPr id="211" name="Step 3"/>
          <p:cNvSpPr/>
          <p:nvPr/>
        </p:nvSpPr>
        <p:spPr>
          <a:xfrm>
            <a:off x="6248400" y="4064000"/>
            <a:ext cx="558800" cy="558800"/>
          </a:xfrm>
          <a:prstGeom prst="ellipse">
            <a:avLst/>
          </a:prstGeom>
          <a:solidFill>
            <a:srgbClr val="002250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fr-FR" sz="1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2" name="Text"/>
          <p:cNvSpPr txBox="1"/>
          <p:nvPr/>
        </p:nvSpPr>
        <p:spPr>
          <a:xfrm>
            <a:off x="6248400" y="4749800"/>
            <a:ext cx="25400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700" b="1" dirty="0">
                <a:solidFill>
                  <a:srgbClr val="002250"/>
                </a:solidFill>
              </a:rPr>
              <a:t>Réseaux sociaux</a:t>
            </a:r>
          </a:p>
        </p:txBody>
      </p:sp>
      <p:sp>
        <p:nvSpPr>
          <p:cNvPr id="213" name="Text"/>
          <p:cNvSpPr txBox="1"/>
          <p:nvPr/>
        </p:nvSpPr>
        <p:spPr>
          <a:xfrm>
            <a:off x="6248400" y="5130800"/>
            <a:ext cx="24892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fr-FR" sz="1400" b="0" dirty="0">
                <a:solidFill>
                  <a:srgbClr val="2E3E5C"/>
                </a:solidFill>
              </a:rPr>
              <a:t>Ligne éditoriale, création et animation des communautés.</a:t>
            </a:r>
          </a:p>
        </p:txBody>
      </p:sp>
      <p:cxnSp>
        <p:nvCxnSpPr>
          <p:cNvPr id="214" name="Line"/>
          <p:cNvCxnSpPr/>
          <p:nvPr/>
        </p:nvCxnSpPr>
        <p:spPr>
          <a:xfrm>
            <a:off x="7086600" y="4343400"/>
            <a:ext cx="1778000" cy="0"/>
          </a:xfrm>
          <a:prstGeom prst="line">
            <a:avLst/>
          </a:prstGeom>
          <a:ln w="12700">
            <a:solidFill>
              <a:srgbClr val="C9CED8"/>
            </a:solidFill>
          </a:ln>
        </p:spPr>
      </p:cxnSp>
      <p:sp>
        <p:nvSpPr>
          <p:cNvPr id="215" name="Step 4"/>
          <p:cNvSpPr/>
          <p:nvPr/>
        </p:nvSpPr>
        <p:spPr>
          <a:xfrm>
            <a:off x="9067800" y="4064000"/>
            <a:ext cx="558800" cy="558800"/>
          </a:xfrm>
          <a:prstGeom prst="ellipse">
            <a:avLst/>
          </a:prstGeom>
          <a:noFill/>
          <a:ln w="19050">
            <a:solidFill>
              <a:srgbClr val="00225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fr-FR" sz="1800" b="1" dirty="0">
                <a:solidFill>
                  <a:srgbClr val="002250"/>
                </a:solidFill>
              </a:rPr>
              <a:t>4</a:t>
            </a:r>
          </a:p>
        </p:txBody>
      </p:sp>
      <p:sp>
        <p:nvSpPr>
          <p:cNvPr id="216" name="Text"/>
          <p:cNvSpPr txBox="1"/>
          <p:nvPr/>
        </p:nvSpPr>
        <p:spPr>
          <a:xfrm>
            <a:off x="9067800" y="4749800"/>
            <a:ext cx="25400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700" b="1" dirty="0">
                <a:solidFill>
                  <a:srgbClr val="002250"/>
                </a:solidFill>
              </a:rPr>
              <a:t>Suivi client</a:t>
            </a:r>
          </a:p>
        </p:txBody>
      </p:sp>
      <p:sp>
        <p:nvSpPr>
          <p:cNvPr id="217" name="Text"/>
          <p:cNvSpPr txBox="1"/>
          <p:nvPr/>
        </p:nvSpPr>
        <p:spPr>
          <a:xfrm>
            <a:off x="9067800" y="5130800"/>
            <a:ext cx="24892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fr-FR" sz="1400" b="0" dirty="0">
                <a:solidFill>
                  <a:srgbClr val="2E3E5C"/>
                </a:solidFill>
              </a:rPr>
              <a:t>Rapport mensuel et bilan trimestriel avec vos équipes.</a:t>
            </a:r>
          </a:p>
        </p:txBody>
      </p:sp>
      <p:sp>
        <p:nvSpPr>
          <p:cNvPr id="218" name="Section tracker"/>
          <p:cNvSpPr txBox="1"/>
          <p:nvPr/>
        </p:nvSpPr>
        <p:spPr>
          <a:xfrm>
            <a:off x="609600" y="62992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000" b="1" dirty="0">
                <a:solidFill>
                  <a:srgbClr val="B38C77"/>
                </a:solidFill>
              </a:rPr>
              <a:t>02  </a:t>
            </a:r>
            <a:r>
              <a:rPr lang="fr-FR" sz="1000" b="1" cap="all" spc="100" dirty="0">
                <a:solidFill>
                  <a:srgbClr val="5B6B8C"/>
                </a:solidFill>
              </a:rPr>
              <a:t>Nos services</a:t>
            </a:r>
          </a:p>
        </p:txBody>
      </p:sp>
      <p:sp>
        <p:nvSpPr>
          <p:cNvPr id="21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394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9292E8-1E4D-1314-6267-521CFAC7E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75000"/>
            <a:ext cx="5334000" cy="1397000"/>
          </a:xfrm>
        </p:spPr>
        <p:txBody>
          <a:bodyPr/>
          <a:lstStyle/>
          <a:p>
            <a:r>
              <a:rPr lang="fr-FR" dirty="0"/>
              <a:t>Notre équipe.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54A277-628D-98F4-2A26-C806D43DB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03</a:t>
            </a:r>
          </a:p>
        </p:txBody>
      </p:sp>
      <p:pic>
        <p:nvPicPr>
          <p:cNvPr id="200" name="Section photo" descr="Réunion d’équipe"/>
          <p:cNvPicPr>
            <a:picLocks noChangeAspect="1"/>
          </p:cNvPicPr>
          <p:nvPr/>
        </p:nvPicPr>
        <p:blipFill>
          <a:blip r:embed="rId2"/>
          <a:srcRect l="24056" r="24056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201" name="Corner block"/>
          <p:cNvSpPr/>
          <p:nvPr/>
        </p:nvSpPr>
        <p:spPr>
          <a:xfrm>
            <a:off x="6451600" y="4978400"/>
            <a:ext cx="812800" cy="812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2" name="Promise"/>
          <p:cNvSpPr txBox="1"/>
          <p:nvPr/>
        </p:nvSpPr>
        <p:spPr>
          <a:xfrm>
            <a:off x="609600" y="4572000"/>
            <a:ext cx="5080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fr-FR" sz="1600" b="0" dirty="0">
                <a:solidFill>
                  <a:srgbClr val="D9DCE3"/>
                </a:solidFill>
              </a:rPr>
              <a:t>24 experts répartis en trois pôles, avec un référent unique pour chaque client.</a:t>
            </a:r>
          </a:p>
        </p:txBody>
      </p:sp>
      <p:sp>
        <p:nvSpPr>
          <p:cNvPr id="203" name="Part label"/>
          <p:cNvSpPr txBox="1"/>
          <p:nvPr/>
        </p:nvSpPr>
        <p:spPr>
          <a:xfrm>
            <a:off x="609600" y="5588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000" b="1" spc="200" dirty="0">
                <a:solidFill>
                  <a:srgbClr val="B38C77"/>
                </a:solidFill>
              </a:rPr>
              <a:t>PARTIE 3 / 5</a:t>
            </a:r>
          </a:p>
        </p:txBody>
      </p:sp>
      <p:sp>
        <p:nvSpPr>
          <p:cNvPr id="204" name="Progress 1"/>
          <p:cNvSpPr/>
          <p:nvPr/>
        </p:nvSpPr>
        <p:spPr>
          <a:xfrm>
            <a:off x="6096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5" name="Progress 2"/>
          <p:cNvSpPr/>
          <p:nvPr/>
        </p:nvSpPr>
        <p:spPr>
          <a:xfrm>
            <a:off x="8890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6" name="Progress 3"/>
          <p:cNvSpPr/>
          <p:nvPr/>
        </p:nvSpPr>
        <p:spPr>
          <a:xfrm>
            <a:off x="1168400" y="5969000"/>
            <a:ext cx="1778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7" name="Progress 4"/>
          <p:cNvSpPr/>
          <p:nvPr/>
        </p:nvSpPr>
        <p:spPr>
          <a:xfrm>
            <a:off x="14478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8" name="Progress 5"/>
          <p:cNvSpPr/>
          <p:nvPr/>
        </p:nvSpPr>
        <p:spPr>
          <a:xfrm>
            <a:off x="17272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3372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DA3AE1-5E9E-1A53-6AC0-9069732DC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6096000" cy="1066800"/>
          </a:xfrm>
        </p:spPr>
        <p:txBody>
          <a:bodyPr/>
          <a:lstStyle/>
          <a:p>
            <a:r>
              <a:rPr lang="fr-FR" sz="2600" dirty="0"/>
              <a:t>Trois pôles, 24 experts et un référent unique par client</a:t>
            </a:r>
          </a:p>
        </p:txBody>
      </p:sp>
      <p:cxnSp>
        <p:nvCxnSpPr>
          <p:cNvPr id="200" name="Line"/>
          <p:cNvCxnSpPr/>
          <p:nvPr/>
        </p:nvCxnSpPr>
        <p:spPr>
          <a:xfrm>
            <a:off x="7112000" y="558800"/>
            <a:ext cx="0" cy="939800"/>
          </a:xfrm>
          <a:prstGeom prst="line">
            <a:avLst/>
          </a:prstGeom>
          <a:ln w="19050">
            <a:solidFill>
              <a:srgbClr val="B38C77"/>
            </a:solidFill>
          </a:ln>
        </p:spPr>
      </p:cxnSp>
      <p:sp>
        <p:nvSpPr>
          <p:cNvPr id="201" name="Text"/>
          <p:cNvSpPr txBox="1"/>
          <p:nvPr/>
        </p:nvSpPr>
        <p:spPr>
          <a:xfrm>
            <a:off x="7315200" y="508000"/>
            <a:ext cx="4267200" cy="1041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fr-FR" sz="1400" b="0" dirty="0">
                <a:solidFill>
                  <a:srgbClr val="002250"/>
                </a:solidFill>
              </a:rPr>
              <a:t>Chaque client est suivi par un référent qui mobilise les trois pôles selon ses objectifs. </a:t>
            </a:r>
            <a:r>
              <a:rPr lang="fr-FR" sz="1400" b="1" dirty="0">
                <a:solidFill>
                  <a:srgbClr val="002250"/>
                </a:solidFill>
              </a:rPr>
              <a:t>Pas de sous-traitance.</a:t>
            </a:r>
          </a:p>
        </p:txBody>
      </p:sp>
      <p:pic>
        <p:nvPicPr>
          <p:cNvPr id="202" name="Photo" descr="Julien Mercier, Pôle Communication"/>
          <p:cNvPicPr>
            <a:picLocks noChangeAspect="1"/>
          </p:cNvPicPr>
          <p:nvPr/>
        </p:nvPicPr>
        <p:blipFill>
          <a:blip r:embed="rId2"/>
          <a:srcRect l="7649" r="7649"/>
          <a:stretch>
            <a:fillRect/>
          </a:stretch>
        </p:blipFill>
        <p:spPr>
          <a:xfrm>
            <a:off x="609600" y="1854200"/>
            <a:ext cx="3454400" cy="2717800"/>
          </a:xfrm>
          <a:prstGeom prst="rect">
            <a:avLst/>
          </a:prstGeom>
        </p:spPr>
      </p:pic>
      <p:sp>
        <p:nvSpPr>
          <p:cNvPr id="203" name="Name card"/>
          <p:cNvSpPr txBox="1"/>
          <p:nvPr/>
        </p:nvSpPr>
        <p:spPr>
          <a:xfrm>
            <a:off x="812800" y="4089400"/>
            <a:ext cx="3048000" cy="939800"/>
          </a:xfrm>
          <a:prstGeom prst="rect">
            <a:avLst/>
          </a:prstGeom>
          <a:solidFill>
            <a:srgbClr val="FFFFFF"/>
          </a:solidFill>
        </p:spPr>
        <p:txBody>
          <a:bodyPr wrap="square" lIns="177800" tIns="0" rIns="177800" bIns="0" anchor="ctr">
            <a:noAutofit/>
          </a:bodyPr>
          <a:lstStyle/>
          <a:p>
            <a:pPr algn="l">
              <a:buNone/>
            </a:pPr>
            <a:r>
              <a:rPr lang="fr-FR" sz="1000" b="1" cap="all" spc="150" dirty="0">
                <a:solidFill>
                  <a:srgbClr val="B38C77"/>
                </a:solidFill>
              </a:rPr>
              <a:t>Pôle Communication</a:t>
            </a:r>
          </a:p>
          <a:p>
            <a:pPr algn="l">
              <a:spcBef>
                <a:spcPts val="200"/>
              </a:spcBef>
              <a:buNone/>
            </a:pPr>
            <a:r>
              <a:rPr lang="fr-FR" sz="1600" b="1" dirty="0">
                <a:solidFill>
                  <a:srgbClr val="002250"/>
                </a:solidFill>
              </a:rPr>
              <a:t>Julien Mercier</a:t>
            </a:r>
          </a:p>
          <a:p>
            <a:pPr algn="l">
              <a:buNone/>
            </a:pPr>
            <a:r>
              <a:rPr lang="fr-FR" sz="1300" b="0" dirty="0">
                <a:solidFill>
                  <a:srgbClr val="5B6B8C"/>
                </a:solidFill>
              </a:rPr>
              <a:t>Directeur · 8 experts</a:t>
            </a:r>
          </a:p>
        </p:txBody>
      </p:sp>
      <p:sp>
        <p:nvSpPr>
          <p:cNvPr id="204" name="Shape"/>
          <p:cNvSpPr/>
          <p:nvPr/>
        </p:nvSpPr>
        <p:spPr>
          <a:xfrm>
            <a:off x="812800" y="4089400"/>
            <a:ext cx="3048000" cy="38100"/>
          </a:xfrm>
          <a:prstGeom prst="rect">
            <a:avLst/>
          </a:prstGeom>
          <a:solidFill>
            <a:srgbClr val="00225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5" name="Text"/>
          <p:cNvSpPr txBox="1"/>
          <p:nvPr/>
        </p:nvSpPr>
        <p:spPr>
          <a:xfrm>
            <a:off x="812800" y="5181600"/>
            <a:ext cx="3048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fr-FR" sz="1400" b="0" dirty="0">
                <a:solidFill>
                  <a:srgbClr val="2E3E5C"/>
                </a:solidFill>
              </a:rPr>
              <a:t>Image de marque, relations presse, événements.</a:t>
            </a:r>
          </a:p>
        </p:txBody>
      </p:sp>
      <p:pic>
        <p:nvPicPr>
          <p:cNvPr id="206" name="Photo" descr="Awa Diallo, Pôle Marketing"/>
          <p:cNvPicPr>
            <a:picLocks noChangeAspect="1"/>
          </p:cNvPicPr>
          <p:nvPr/>
        </p:nvPicPr>
        <p:blipFill>
          <a:blip r:embed="rId3"/>
          <a:srcRect l="7632" r="7632"/>
          <a:stretch>
            <a:fillRect/>
          </a:stretch>
        </p:blipFill>
        <p:spPr>
          <a:xfrm>
            <a:off x="4368800" y="1854200"/>
            <a:ext cx="3454400" cy="2717800"/>
          </a:xfrm>
          <a:prstGeom prst="rect">
            <a:avLst/>
          </a:prstGeom>
        </p:spPr>
      </p:pic>
      <p:sp>
        <p:nvSpPr>
          <p:cNvPr id="207" name="Name card"/>
          <p:cNvSpPr txBox="1"/>
          <p:nvPr/>
        </p:nvSpPr>
        <p:spPr>
          <a:xfrm>
            <a:off x="4572000" y="4089400"/>
            <a:ext cx="3048000" cy="939800"/>
          </a:xfrm>
          <a:prstGeom prst="rect">
            <a:avLst/>
          </a:prstGeom>
          <a:solidFill>
            <a:srgbClr val="FFFFFF"/>
          </a:solidFill>
        </p:spPr>
        <p:txBody>
          <a:bodyPr wrap="square" lIns="177800" tIns="0" rIns="177800" bIns="0" anchor="ctr">
            <a:noAutofit/>
          </a:bodyPr>
          <a:lstStyle/>
          <a:p>
            <a:pPr algn="l">
              <a:buNone/>
            </a:pPr>
            <a:r>
              <a:rPr lang="fr-FR" sz="1000" b="1" cap="all" spc="150" dirty="0">
                <a:solidFill>
                  <a:srgbClr val="B38C77"/>
                </a:solidFill>
              </a:rPr>
              <a:t>Pôle Marketing</a:t>
            </a:r>
          </a:p>
          <a:p>
            <a:pPr algn="l">
              <a:spcBef>
                <a:spcPts val="200"/>
              </a:spcBef>
              <a:buNone/>
            </a:pPr>
            <a:r>
              <a:rPr lang="fr-FR" sz="1600" b="1" dirty="0">
                <a:solidFill>
                  <a:srgbClr val="002250"/>
                </a:solidFill>
              </a:rPr>
              <a:t>Awa Diallo</a:t>
            </a:r>
          </a:p>
          <a:p>
            <a:pPr algn="l">
              <a:buNone/>
            </a:pPr>
            <a:r>
              <a:rPr lang="fr-FR" sz="1300" b="0" dirty="0">
                <a:solidFill>
                  <a:srgbClr val="5B6B8C"/>
                </a:solidFill>
              </a:rPr>
              <a:t>Directrice · 9 experts</a:t>
            </a:r>
          </a:p>
        </p:txBody>
      </p:sp>
      <p:sp>
        <p:nvSpPr>
          <p:cNvPr id="208" name="Shape"/>
          <p:cNvSpPr/>
          <p:nvPr/>
        </p:nvSpPr>
        <p:spPr>
          <a:xfrm>
            <a:off x="4572000" y="4089400"/>
            <a:ext cx="3048000" cy="38100"/>
          </a:xfrm>
          <a:prstGeom prst="rect">
            <a:avLst/>
          </a:prstGeom>
          <a:solidFill>
            <a:srgbClr val="00225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9" name="Text"/>
          <p:cNvSpPr txBox="1"/>
          <p:nvPr/>
        </p:nvSpPr>
        <p:spPr>
          <a:xfrm>
            <a:off x="4572000" y="5181600"/>
            <a:ext cx="3048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fr-FR" sz="1400" b="0" dirty="0">
                <a:solidFill>
                  <a:srgbClr val="2E3E5C"/>
                </a:solidFill>
              </a:rPr>
              <a:t>Campagnes, SEO, données et performance.</a:t>
            </a:r>
          </a:p>
        </p:txBody>
      </p:sp>
      <p:pic>
        <p:nvPicPr>
          <p:cNvPr id="210" name="Photo" descr="Sophie Laurent, Pôle Commercial"/>
          <p:cNvPicPr>
            <a:picLocks noChangeAspect="1"/>
          </p:cNvPicPr>
          <p:nvPr/>
        </p:nvPicPr>
        <p:blipFill>
          <a:blip r:embed="rId4"/>
          <a:srcRect l="7616" r="7616"/>
          <a:stretch>
            <a:fillRect/>
          </a:stretch>
        </p:blipFill>
        <p:spPr>
          <a:xfrm>
            <a:off x="8128000" y="1854200"/>
            <a:ext cx="3454400" cy="2717800"/>
          </a:xfrm>
          <a:prstGeom prst="rect">
            <a:avLst/>
          </a:prstGeom>
        </p:spPr>
      </p:pic>
      <p:sp>
        <p:nvSpPr>
          <p:cNvPr id="211" name="Name card"/>
          <p:cNvSpPr txBox="1"/>
          <p:nvPr/>
        </p:nvSpPr>
        <p:spPr>
          <a:xfrm>
            <a:off x="8331200" y="4089400"/>
            <a:ext cx="3048000" cy="939800"/>
          </a:xfrm>
          <a:prstGeom prst="rect">
            <a:avLst/>
          </a:prstGeom>
          <a:solidFill>
            <a:srgbClr val="FFFFFF"/>
          </a:solidFill>
        </p:spPr>
        <p:txBody>
          <a:bodyPr wrap="square" lIns="177800" tIns="0" rIns="177800" bIns="0" anchor="ctr">
            <a:noAutofit/>
          </a:bodyPr>
          <a:lstStyle/>
          <a:p>
            <a:pPr algn="l">
              <a:buNone/>
            </a:pPr>
            <a:r>
              <a:rPr lang="fr-FR" sz="1000" b="1" cap="all" spc="150" dirty="0">
                <a:solidFill>
                  <a:srgbClr val="B38C77"/>
                </a:solidFill>
              </a:rPr>
              <a:t>Pôle Commercial</a:t>
            </a:r>
          </a:p>
          <a:p>
            <a:pPr algn="l">
              <a:spcBef>
                <a:spcPts val="200"/>
              </a:spcBef>
              <a:buNone/>
            </a:pPr>
            <a:r>
              <a:rPr lang="fr-FR" sz="1600" b="1" dirty="0">
                <a:solidFill>
                  <a:srgbClr val="002250"/>
                </a:solidFill>
              </a:rPr>
              <a:t>Sophie Laurent</a:t>
            </a:r>
          </a:p>
          <a:p>
            <a:pPr algn="l">
              <a:buNone/>
            </a:pPr>
            <a:r>
              <a:rPr lang="fr-FR" sz="1300" b="0" dirty="0">
                <a:solidFill>
                  <a:srgbClr val="5B6B8C"/>
                </a:solidFill>
              </a:rPr>
              <a:t>Directrice · 7 experts</a:t>
            </a:r>
          </a:p>
        </p:txBody>
      </p:sp>
      <p:sp>
        <p:nvSpPr>
          <p:cNvPr id="212" name="Shape"/>
          <p:cNvSpPr/>
          <p:nvPr/>
        </p:nvSpPr>
        <p:spPr>
          <a:xfrm>
            <a:off x="8331200" y="4089400"/>
            <a:ext cx="3048000" cy="38100"/>
          </a:xfrm>
          <a:prstGeom prst="rect">
            <a:avLst/>
          </a:prstGeom>
          <a:solidFill>
            <a:srgbClr val="00225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3" name="Text"/>
          <p:cNvSpPr txBox="1"/>
          <p:nvPr/>
        </p:nvSpPr>
        <p:spPr>
          <a:xfrm>
            <a:off x="8331200" y="5181600"/>
            <a:ext cx="3048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fr-FR" sz="1400" b="0" dirty="0">
                <a:solidFill>
                  <a:srgbClr val="2E3E5C"/>
                </a:solidFill>
              </a:rPr>
              <a:t>Offres, outils de vente, fidélisation.</a:t>
            </a:r>
          </a:p>
        </p:txBody>
      </p:sp>
      <p:sp>
        <p:nvSpPr>
          <p:cNvPr id="214" name="Section tracker"/>
          <p:cNvSpPr txBox="1"/>
          <p:nvPr/>
        </p:nvSpPr>
        <p:spPr>
          <a:xfrm>
            <a:off x="609600" y="62992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000" b="1" dirty="0">
                <a:solidFill>
                  <a:srgbClr val="B38C77"/>
                </a:solidFill>
              </a:rPr>
              <a:t>03  </a:t>
            </a:r>
            <a:r>
              <a:rPr lang="fr-FR" sz="1000" b="1" cap="all" spc="100" dirty="0">
                <a:solidFill>
                  <a:srgbClr val="5B6B8C"/>
                </a:solidFill>
              </a:rPr>
              <a:t>Notre équipe</a:t>
            </a:r>
          </a:p>
        </p:txBody>
      </p:sp>
      <p:sp>
        <p:nvSpPr>
          <p:cNvPr id="21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8272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9292E8-1E4D-1314-6267-521CFAC7E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75000"/>
            <a:ext cx="5334000" cy="1397000"/>
          </a:xfrm>
        </p:spPr>
        <p:txBody>
          <a:bodyPr/>
          <a:lstStyle/>
          <a:p>
            <a:r>
              <a:rPr lang="fr-FR" dirty="0"/>
              <a:t>Nos projets.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54A277-628D-98F4-2A26-C806D43DB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04</a:t>
            </a:r>
          </a:p>
        </p:txBody>
      </p:sp>
      <p:pic>
        <p:nvPicPr>
          <p:cNvPr id="200" name="Section photo" descr="Réunion d’équipe"/>
          <p:cNvPicPr>
            <a:picLocks noChangeAspect="1"/>
          </p:cNvPicPr>
          <p:nvPr/>
        </p:nvPicPr>
        <p:blipFill>
          <a:blip r:embed="rId2"/>
          <a:srcRect l="34851" r="21360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201" name="Corner block"/>
          <p:cNvSpPr/>
          <p:nvPr/>
        </p:nvSpPr>
        <p:spPr>
          <a:xfrm>
            <a:off x="6451600" y="4978400"/>
            <a:ext cx="812800" cy="812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2" name="Promise"/>
          <p:cNvSpPr txBox="1"/>
          <p:nvPr/>
        </p:nvSpPr>
        <p:spPr>
          <a:xfrm>
            <a:off x="609600" y="4572000"/>
            <a:ext cx="5080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fr-FR" sz="1600" b="0" dirty="0">
                <a:solidFill>
                  <a:srgbClr val="D9DCE3"/>
                </a:solidFill>
              </a:rPr>
              <a:t>Chaque mission démarre par un objectif chiffré et se termine par un bilan mesuré.</a:t>
            </a:r>
          </a:p>
        </p:txBody>
      </p:sp>
      <p:sp>
        <p:nvSpPr>
          <p:cNvPr id="203" name="Part label"/>
          <p:cNvSpPr txBox="1"/>
          <p:nvPr/>
        </p:nvSpPr>
        <p:spPr>
          <a:xfrm>
            <a:off x="609600" y="5588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000" b="1" spc="200" dirty="0">
                <a:solidFill>
                  <a:srgbClr val="B38C77"/>
                </a:solidFill>
              </a:rPr>
              <a:t>PARTIE 4 / 5</a:t>
            </a:r>
          </a:p>
        </p:txBody>
      </p:sp>
      <p:sp>
        <p:nvSpPr>
          <p:cNvPr id="204" name="Progress 1"/>
          <p:cNvSpPr/>
          <p:nvPr/>
        </p:nvSpPr>
        <p:spPr>
          <a:xfrm>
            <a:off x="6096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5" name="Progress 2"/>
          <p:cNvSpPr/>
          <p:nvPr/>
        </p:nvSpPr>
        <p:spPr>
          <a:xfrm>
            <a:off x="8890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6" name="Progress 3"/>
          <p:cNvSpPr/>
          <p:nvPr/>
        </p:nvSpPr>
        <p:spPr>
          <a:xfrm>
            <a:off x="11684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7" name="Progress 4"/>
          <p:cNvSpPr/>
          <p:nvPr/>
        </p:nvSpPr>
        <p:spPr>
          <a:xfrm>
            <a:off x="1447800" y="5969000"/>
            <a:ext cx="1778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8" name="Progress 5"/>
          <p:cNvSpPr/>
          <p:nvPr/>
        </p:nvSpPr>
        <p:spPr>
          <a:xfrm>
            <a:off x="17272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4150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AB0EFD-7610-0A56-70F6-FF47B15D1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7366000" cy="1066800"/>
          </a:xfrm>
        </p:spPr>
        <p:txBody>
          <a:bodyPr/>
          <a:lstStyle/>
          <a:p>
            <a:r>
              <a:rPr lang="fr-FR" sz="2600" dirty="0"/>
              <a:t>Quatre projets récents, quatre résultats obtenus en moins d’un an</a:t>
            </a:r>
          </a:p>
        </p:txBody>
      </p:sp>
      <p:pic>
        <p:nvPicPr>
          <p:cNvPr id="200" name="Photo" descr="Carte du monde au mur de l’agence"/>
          <p:cNvPicPr>
            <a:picLocks noChangeAspect="1"/>
          </p:cNvPicPr>
          <p:nvPr/>
        </p:nvPicPr>
        <p:blipFill>
          <a:blip r:embed="rId2"/>
          <a:srcRect l="8889" r="8889"/>
          <a:stretch>
            <a:fillRect/>
          </a:stretch>
        </p:blipFill>
        <p:spPr>
          <a:xfrm>
            <a:off x="8432800" y="0"/>
            <a:ext cx="3759200" cy="6858000"/>
          </a:xfrm>
          <a:prstGeom prst="rect">
            <a:avLst/>
          </a:prstGeom>
        </p:spPr>
      </p:pic>
      <p:sp>
        <p:nvSpPr>
          <p:cNvPr id="201" name="Portfolio card"/>
          <p:cNvSpPr txBox="1"/>
          <p:nvPr/>
        </p:nvSpPr>
        <p:spPr>
          <a:xfrm>
            <a:off x="8128000" y="4826000"/>
            <a:ext cx="2794000" cy="1219200"/>
          </a:xfrm>
          <a:prstGeom prst="rect">
            <a:avLst/>
          </a:prstGeom>
          <a:solidFill>
            <a:srgbClr val="002250"/>
          </a:solidFill>
        </p:spPr>
        <p:txBody>
          <a:bodyPr wrap="square" lIns="203200" tIns="0" rIns="203200" bIns="0" anchor="ctr">
            <a:noAutofit/>
          </a:bodyPr>
          <a:lstStyle/>
          <a:p>
            <a:pPr algn="l">
              <a:buNone/>
            </a:pPr>
            <a:r>
              <a:rPr lang="fr-FR" sz="2400" b="1" dirty="0">
                <a:solidFill>
                  <a:srgbClr val="FFFFFF"/>
                </a:solidFill>
              </a:rPr>
              <a:t>38 clients</a:t>
            </a:r>
          </a:p>
          <a:p>
            <a:pPr algn="l">
              <a:lnSpc>
                <a:spcPct val="110000"/>
              </a:lnSpc>
              <a:buNone/>
            </a:pPr>
            <a:r>
              <a:rPr lang="fr-FR" sz="1300" b="0" dirty="0">
                <a:solidFill>
                  <a:srgbClr val="FFFFFF"/>
                </a:solidFill>
              </a:rPr>
              <a:t>dans 6 secteurs, de l’artisanat à la santé</a:t>
            </a:r>
          </a:p>
        </p:txBody>
      </p:sp>
      <p:sp>
        <p:nvSpPr>
          <p:cNvPr id="202" name="Shape"/>
          <p:cNvSpPr/>
          <p:nvPr/>
        </p:nvSpPr>
        <p:spPr>
          <a:xfrm>
            <a:off x="8128000" y="4826000"/>
            <a:ext cx="76200" cy="12192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3" name="Text"/>
          <p:cNvSpPr txBox="1"/>
          <p:nvPr/>
        </p:nvSpPr>
        <p:spPr>
          <a:xfrm>
            <a:off x="609600" y="1905000"/>
            <a:ext cx="3429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500" b="1" dirty="0">
                <a:solidFill>
                  <a:srgbClr val="002250"/>
                </a:solidFill>
              </a:rPr>
              <a:t>Maison Duval</a:t>
            </a:r>
            <a:r>
              <a:rPr lang="fr-FR" sz="1200" b="0" dirty="0">
                <a:solidFill>
                  <a:srgbClr val="5B6B8C"/>
                </a:solidFill>
              </a:rPr>
              <a:t>   Boulangerie</a:t>
            </a:r>
          </a:p>
        </p:txBody>
      </p:sp>
      <p:sp>
        <p:nvSpPr>
          <p:cNvPr id="204" name="Text"/>
          <p:cNvSpPr txBox="1"/>
          <p:nvPr/>
        </p:nvSpPr>
        <p:spPr>
          <a:xfrm>
            <a:off x="609600" y="2235200"/>
            <a:ext cx="3429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4000" b="1" dirty="0">
                <a:solidFill>
                  <a:srgbClr val="B38C77"/>
                </a:solidFill>
              </a:rPr>
              <a:t>+42 %</a:t>
            </a:r>
          </a:p>
        </p:txBody>
      </p:sp>
      <p:sp>
        <p:nvSpPr>
          <p:cNvPr id="205" name="Text"/>
          <p:cNvSpPr txBox="1"/>
          <p:nvPr/>
        </p:nvSpPr>
        <p:spPr>
          <a:xfrm>
            <a:off x="609600" y="3022600"/>
            <a:ext cx="3175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fr-FR" sz="1400" b="0" dirty="0">
                <a:solidFill>
                  <a:srgbClr val="2E3E5C"/>
                </a:solidFill>
              </a:rPr>
              <a:t>de commandes en ligne en 9 mois</a:t>
            </a:r>
          </a:p>
        </p:txBody>
      </p:sp>
      <p:sp>
        <p:nvSpPr>
          <p:cNvPr id="206" name="Text"/>
          <p:cNvSpPr txBox="1"/>
          <p:nvPr/>
        </p:nvSpPr>
        <p:spPr>
          <a:xfrm>
            <a:off x="4368800" y="1905000"/>
            <a:ext cx="3429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500" b="1" dirty="0">
                <a:solidFill>
                  <a:srgbClr val="002250"/>
                </a:solidFill>
              </a:rPr>
              <a:t>Atelier Rhône</a:t>
            </a:r>
            <a:r>
              <a:rPr lang="fr-FR" sz="1200" b="0" dirty="0">
                <a:solidFill>
                  <a:srgbClr val="5B6B8C"/>
                </a:solidFill>
              </a:rPr>
              <a:t>   Menuiserie sur mesure</a:t>
            </a:r>
          </a:p>
        </p:txBody>
      </p:sp>
      <p:sp>
        <p:nvSpPr>
          <p:cNvPr id="207" name="Text"/>
          <p:cNvSpPr txBox="1"/>
          <p:nvPr/>
        </p:nvSpPr>
        <p:spPr>
          <a:xfrm>
            <a:off x="4368800" y="2235200"/>
            <a:ext cx="3429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4000" b="1" dirty="0">
                <a:solidFill>
                  <a:srgbClr val="002250"/>
                </a:solidFill>
              </a:rPr>
              <a:t>×2</a:t>
            </a:r>
          </a:p>
        </p:txBody>
      </p:sp>
      <p:sp>
        <p:nvSpPr>
          <p:cNvPr id="208" name="Text"/>
          <p:cNvSpPr txBox="1"/>
          <p:nvPr/>
        </p:nvSpPr>
        <p:spPr>
          <a:xfrm>
            <a:off x="4368800" y="3022600"/>
            <a:ext cx="3175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fr-FR" sz="1400" b="0" dirty="0">
                <a:solidFill>
                  <a:srgbClr val="2E3E5C"/>
                </a:solidFill>
              </a:rPr>
              <a:t>demandes de devis via le site</a:t>
            </a:r>
          </a:p>
        </p:txBody>
      </p:sp>
      <p:sp>
        <p:nvSpPr>
          <p:cNvPr id="209" name="Text"/>
          <p:cNvSpPr txBox="1"/>
          <p:nvPr/>
        </p:nvSpPr>
        <p:spPr>
          <a:xfrm>
            <a:off x="609600" y="3962400"/>
            <a:ext cx="3429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500" b="1" dirty="0">
                <a:solidFill>
                  <a:srgbClr val="002250"/>
                </a:solidFill>
              </a:rPr>
              <a:t>Clinique Vétéo</a:t>
            </a:r>
            <a:r>
              <a:rPr lang="fr-FR" sz="1200" b="0" dirty="0">
                <a:solidFill>
                  <a:srgbClr val="5B6B8C"/>
                </a:solidFill>
              </a:rPr>
              <a:t>   Santé animale</a:t>
            </a:r>
          </a:p>
        </p:txBody>
      </p:sp>
      <p:sp>
        <p:nvSpPr>
          <p:cNvPr id="210" name="Text"/>
          <p:cNvSpPr txBox="1"/>
          <p:nvPr/>
        </p:nvSpPr>
        <p:spPr>
          <a:xfrm>
            <a:off x="609600" y="4292600"/>
            <a:ext cx="3429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4000" b="1" dirty="0">
                <a:solidFill>
                  <a:srgbClr val="002250"/>
                </a:solidFill>
              </a:rPr>
              <a:t>−35 %</a:t>
            </a:r>
          </a:p>
        </p:txBody>
      </p:sp>
      <p:sp>
        <p:nvSpPr>
          <p:cNvPr id="211" name="Text"/>
          <p:cNvSpPr txBox="1"/>
          <p:nvPr/>
        </p:nvSpPr>
        <p:spPr>
          <a:xfrm>
            <a:off x="609600" y="5080000"/>
            <a:ext cx="3175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fr-FR" sz="1400" b="0" dirty="0">
                <a:solidFill>
                  <a:srgbClr val="2E3E5C"/>
                </a:solidFill>
              </a:rPr>
              <a:t>de coût par prospect</a:t>
            </a:r>
          </a:p>
        </p:txBody>
      </p:sp>
      <p:sp>
        <p:nvSpPr>
          <p:cNvPr id="212" name="Text"/>
          <p:cNvSpPr txBox="1"/>
          <p:nvPr/>
        </p:nvSpPr>
        <p:spPr>
          <a:xfrm>
            <a:off x="4368800" y="3962400"/>
            <a:ext cx="3429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500" b="1" dirty="0">
                <a:solidFill>
                  <a:srgbClr val="002250"/>
                </a:solidFill>
              </a:rPr>
              <a:t>Groupe Lumen</a:t>
            </a:r>
            <a:r>
              <a:rPr lang="fr-FR" sz="1200" b="0" dirty="0">
                <a:solidFill>
                  <a:srgbClr val="5B6B8C"/>
                </a:solidFill>
              </a:rPr>
              <a:t>   Immobilier</a:t>
            </a:r>
          </a:p>
        </p:txBody>
      </p:sp>
      <p:sp>
        <p:nvSpPr>
          <p:cNvPr id="213" name="Text"/>
          <p:cNvSpPr txBox="1"/>
          <p:nvPr/>
        </p:nvSpPr>
        <p:spPr>
          <a:xfrm>
            <a:off x="4368800" y="4292600"/>
            <a:ext cx="3429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4000" b="1" dirty="0">
                <a:solidFill>
                  <a:srgbClr val="002250"/>
                </a:solidFill>
              </a:rPr>
              <a:t>+18 000</a:t>
            </a:r>
          </a:p>
        </p:txBody>
      </p:sp>
      <p:sp>
        <p:nvSpPr>
          <p:cNvPr id="214" name="Text"/>
          <p:cNvSpPr txBox="1"/>
          <p:nvPr/>
        </p:nvSpPr>
        <p:spPr>
          <a:xfrm>
            <a:off x="4368800" y="5080000"/>
            <a:ext cx="3175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fr-FR" sz="1400" b="0" dirty="0">
                <a:solidFill>
                  <a:srgbClr val="2E3E5C"/>
                </a:solidFill>
              </a:rPr>
              <a:t>abonnés LinkedIn en un an</a:t>
            </a:r>
          </a:p>
        </p:txBody>
      </p:sp>
      <p:cxnSp>
        <p:nvCxnSpPr>
          <p:cNvPr id="215" name="Line"/>
          <p:cNvCxnSpPr/>
          <p:nvPr/>
        </p:nvCxnSpPr>
        <p:spPr>
          <a:xfrm>
            <a:off x="4165600" y="1905000"/>
            <a:ext cx="0" cy="3810000"/>
          </a:xfrm>
          <a:prstGeom prst="line">
            <a:avLst/>
          </a:prstGeom>
          <a:ln w="12700">
            <a:solidFill>
              <a:srgbClr val="C9CED8"/>
            </a:solidFill>
          </a:ln>
        </p:spPr>
      </p:cxnSp>
      <p:cxnSp>
        <p:nvCxnSpPr>
          <p:cNvPr id="216" name="Line"/>
          <p:cNvCxnSpPr/>
          <p:nvPr/>
        </p:nvCxnSpPr>
        <p:spPr>
          <a:xfrm>
            <a:off x="609600" y="3835400"/>
            <a:ext cx="7112000" cy="0"/>
          </a:xfrm>
          <a:prstGeom prst="line">
            <a:avLst/>
          </a:prstGeom>
          <a:ln w="12700">
            <a:solidFill>
              <a:srgbClr val="C9CED8"/>
            </a:solidFill>
          </a:ln>
        </p:spPr>
      </p:cxnSp>
      <p:sp>
        <p:nvSpPr>
          <p:cNvPr id="217" name="Grid marker"/>
          <p:cNvSpPr/>
          <p:nvPr/>
        </p:nvSpPr>
        <p:spPr>
          <a:xfrm>
            <a:off x="4038600" y="3708400"/>
            <a:ext cx="254000" cy="254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8" name="Text"/>
          <p:cNvSpPr txBox="1"/>
          <p:nvPr/>
        </p:nvSpPr>
        <p:spPr>
          <a:xfrm>
            <a:off x="609600" y="5994400"/>
            <a:ext cx="7112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000" b="0" dirty="0">
                <a:solidFill>
                  <a:srgbClr val="5B6B8C"/>
                </a:solidFill>
              </a:rPr>
              <a:t>Données illustratives. Résultats mesurés entre le début de la mission et le bilan à 12 mois.</a:t>
            </a:r>
          </a:p>
        </p:txBody>
      </p:sp>
      <p:sp>
        <p:nvSpPr>
          <p:cNvPr id="219" name="Section tracker"/>
          <p:cNvSpPr txBox="1"/>
          <p:nvPr/>
        </p:nvSpPr>
        <p:spPr>
          <a:xfrm>
            <a:off x="609600" y="62992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000" b="1" dirty="0">
                <a:solidFill>
                  <a:srgbClr val="B38C77"/>
                </a:solidFill>
              </a:rPr>
              <a:t>04  </a:t>
            </a:r>
            <a:r>
              <a:rPr lang="fr-FR" sz="1000" b="1" cap="all" spc="100" dirty="0">
                <a:solidFill>
                  <a:srgbClr val="5B6B8C"/>
                </a:solidFill>
              </a:rPr>
              <a:t>Nos projets</a:t>
            </a:r>
          </a:p>
        </p:txBody>
      </p:sp>
      <p:sp>
        <p:nvSpPr>
          <p:cNvPr id="220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3488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9292E8-1E4D-1314-6267-521CFAC7E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75000"/>
            <a:ext cx="5334000" cy="1397000"/>
          </a:xfrm>
        </p:spPr>
        <p:txBody>
          <a:bodyPr/>
          <a:lstStyle/>
          <a:p>
            <a:r>
              <a:rPr lang="fr-FR" dirty="0"/>
              <a:t>Pourquoi nous choisir.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54A277-628D-98F4-2A26-C806D43DB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05</a:t>
            </a:r>
          </a:p>
        </p:txBody>
      </p:sp>
      <p:pic>
        <p:nvPicPr>
          <p:cNvPr id="200" name="Section photo" descr="Réunion d’équipe"/>
          <p:cNvPicPr>
            <a:picLocks noChangeAspect="1"/>
          </p:cNvPicPr>
          <p:nvPr/>
        </p:nvPicPr>
        <p:blipFill>
          <a:blip r:embed="rId2"/>
          <a:srcRect l="26559" r="21730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201" name="Corner block"/>
          <p:cNvSpPr/>
          <p:nvPr/>
        </p:nvSpPr>
        <p:spPr>
          <a:xfrm>
            <a:off x="6451600" y="4978400"/>
            <a:ext cx="812800" cy="812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2" name="Promise"/>
          <p:cNvSpPr txBox="1"/>
          <p:nvPr/>
        </p:nvSpPr>
        <p:spPr>
          <a:xfrm>
            <a:off x="609600" y="4572000"/>
            <a:ext cx="5080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fr-FR" sz="1600" b="0" dirty="0">
                <a:solidFill>
                  <a:srgbClr val="D9DCE3"/>
                </a:solidFill>
              </a:rPr>
              <a:t>Neuf clients sur dix renouvellent leur contrat après la première année.</a:t>
            </a:r>
          </a:p>
        </p:txBody>
      </p:sp>
      <p:sp>
        <p:nvSpPr>
          <p:cNvPr id="203" name="Part label"/>
          <p:cNvSpPr txBox="1"/>
          <p:nvPr/>
        </p:nvSpPr>
        <p:spPr>
          <a:xfrm>
            <a:off x="609600" y="558800"/>
            <a:ext cx="3810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000" b="1" spc="200" dirty="0">
                <a:solidFill>
                  <a:srgbClr val="B38C77"/>
                </a:solidFill>
              </a:rPr>
              <a:t>PARTIE 5 / 5</a:t>
            </a:r>
          </a:p>
        </p:txBody>
      </p:sp>
      <p:sp>
        <p:nvSpPr>
          <p:cNvPr id="204" name="Progress 1"/>
          <p:cNvSpPr/>
          <p:nvPr/>
        </p:nvSpPr>
        <p:spPr>
          <a:xfrm>
            <a:off x="6096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5" name="Progress 2"/>
          <p:cNvSpPr/>
          <p:nvPr/>
        </p:nvSpPr>
        <p:spPr>
          <a:xfrm>
            <a:off x="8890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6" name="Progress 3"/>
          <p:cNvSpPr/>
          <p:nvPr/>
        </p:nvSpPr>
        <p:spPr>
          <a:xfrm>
            <a:off x="11684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7" name="Progress 4"/>
          <p:cNvSpPr/>
          <p:nvPr/>
        </p:nvSpPr>
        <p:spPr>
          <a:xfrm>
            <a:off x="1447800" y="5969000"/>
            <a:ext cx="177800" cy="50800"/>
          </a:xfrm>
          <a:prstGeom prst="rect">
            <a:avLst/>
          </a:prstGeom>
          <a:solidFill>
            <a:srgbClr val="3A4F7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8" name="Progress 5"/>
          <p:cNvSpPr/>
          <p:nvPr/>
        </p:nvSpPr>
        <p:spPr>
          <a:xfrm>
            <a:off x="1727200" y="5969000"/>
            <a:ext cx="177800" cy="508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4180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2AF68B-908E-FFAD-00D9-0847BF848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5842000" cy="1066800"/>
          </a:xfrm>
        </p:spPr>
        <p:txBody>
          <a:bodyPr/>
          <a:lstStyle/>
          <a:p>
            <a:r>
              <a:rPr lang="fr-FR" sz="2600" dirty="0"/>
              <a:t>Neuf clients sur dix renouvellent après un an, pour quatre raisons</a:t>
            </a:r>
          </a:p>
        </p:txBody>
      </p:sp>
      <p:sp>
        <p:nvSpPr>
          <p:cNvPr id="200" name="KPI block"/>
          <p:cNvSpPr txBox="1"/>
          <p:nvPr/>
        </p:nvSpPr>
        <p:spPr>
          <a:xfrm>
            <a:off x="7112000" y="355600"/>
            <a:ext cx="2540000" cy="2540000"/>
          </a:xfrm>
          <a:prstGeom prst="rect">
            <a:avLst/>
          </a:prstGeom>
          <a:solidFill>
            <a:srgbClr val="002250"/>
          </a:solidFill>
        </p:spPr>
        <p:txBody>
          <a:bodyPr wrap="square" lIns="228600" tIns="0" rIns="228600" bIns="0" anchor="ctr">
            <a:noAutofit/>
          </a:bodyPr>
          <a:lstStyle/>
          <a:p>
            <a:pPr algn="l">
              <a:buNone/>
            </a:pPr>
            <a:r>
              <a:rPr lang="fr-FR" sz="4400" b="1" dirty="0">
                <a:solidFill>
                  <a:srgbClr val="B38C77"/>
                </a:solidFill>
              </a:rPr>
              <a:t>92 %</a:t>
            </a:r>
          </a:p>
          <a:p>
            <a:pPr algn="l">
              <a:lnSpc>
                <a:spcPct val="110000"/>
              </a:lnSpc>
              <a:buNone/>
            </a:pPr>
            <a:r>
              <a:rPr lang="fr-FR" sz="1400" b="0" dirty="0">
                <a:solidFill>
                  <a:srgbClr val="FFFFFF"/>
                </a:solidFill>
              </a:rPr>
              <a:t>de renouvellement après 12 mois</a:t>
            </a:r>
          </a:p>
          <a:p>
            <a:pPr algn="l">
              <a:spcBef>
                <a:spcPts val="800"/>
              </a:spcBef>
              <a:buNone/>
            </a:pPr>
            <a:r>
              <a:rPr lang="fr-FR" sz="1200" b="0" dirty="0">
                <a:solidFill>
                  <a:srgbClr val="C9CED8"/>
                </a:solidFill>
              </a:rPr>
              <a:t>moyenne du secteur : 70 %</a:t>
            </a:r>
          </a:p>
        </p:txBody>
      </p:sp>
      <p:pic>
        <p:nvPicPr>
          <p:cNvPr id="201" name="Photo" descr="Client de l’agence"/>
          <p:cNvPicPr>
            <a:picLocks noChangeAspect="1"/>
          </p:cNvPicPr>
          <p:nvPr/>
        </p:nvPicPr>
        <p:blipFill>
          <a:blip r:embed="rId2"/>
          <a:srcRect t="952" b="3810"/>
          <a:stretch>
            <a:fillRect/>
          </a:stretch>
        </p:blipFill>
        <p:spPr>
          <a:xfrm>
            <a:off x="9804400" y="355600"/>
            <a:ext cx="1778000" cy="2540000"/>
          </a:xfrm>
          <a:prstGeom prst="round2SameRect">
            <a:avLst/>
          </a:prstGeom>
        </p:spPr>
      </p:pic>
      <p:sp>
        <p:nvSpPr>
          <p:cNvPr id="202" name="Text"/>
          <p:cNvSpPr txBox="1"/>
          <p:nvPr/>
        </p:nvSpPr>
        <p:spPr>
          <a:xfrm>
            <a:off x="609600" y="1854200"/>
            <a:ext cx="5842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fr-FR" sz="1500" b="0" dirty="0">
                <a:solidFill>
                  <a:srgbClr val="002250"/>
                </a:solidFill>
              </a:rPr>
              <a:t>Nos clients restent parce que les résultats se voient, et parce qu’ils savent toujours qui appeler.</a:t>
            </a:r>
          </a:p>
        </p:txBody>
      </p:sp>
      <p:sp>
        <p:nvSpPr>
          <p:cNvPr id="203" name="Icon bg 1"/>
          <p:cNvSpPr/>
          <p:nvPr/>
        </p:nvSpPr>
        <p:spPr>
          <a:xfrm>
            <a:off x="609600" y="3327400"/>
            <a:ext cx="558800" cy="558800"/>
          </a:xfrm>
          <a:prstGeom prst="ellipse">
            <a:avLst/>
          </a:prstGeom>
          <a:solidFill>
            <a:srgbClr val="F3EF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4" name="Shape"/>
          <p:cNvSpPr/>
          <p:nvPr/>
        </p:nvSpPr>
        <p:spPr>
          <a:xfrm>
            <a:off x="609600" y="4038600"/>
            <a:ext cx="406400" cy="381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5" name="Text"/>
          <p:cNvSpPr txBox="1"/>
          <p:nvPr/>
        </p:nvSpPr>
        <p:spPr>
          <a:xfrm>
            <a:off x="609600" y="4165600"/>
            <a:ext cx="25400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fr-FR" sz="1600" b="1" dirty="0">
                <a:solidFill>
                  <a:srgbClr val="002250"/>
                </a:solidFill>
              </a:rPr>
              <a:t>Expertise et expérience</a:t>
            </a:r>
          </a:p>
        </p:txBody>
      </p:sp>
      <p:sp>
        <p:nvSpPr>
          <p:cNvPr id="206" name="Text"/>
          <p:cNvSpPr txBox="1"/>
          <p:nvPr/>
        </p:nvSpPr>
        <p:spPr>
          <a:xfrm>
            <a:off x="609600" y="4800600"/>
            <a:ext cx="24892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fr-FR" sz="1400" b="0" dirty="0">
                <a:solidFill>
                  <a:srgbClr val="2E3E5C"/>
                </a:solidFill>
              </a:rPr>
              <a:t>12 ans et 38 clients dans 6 secteurs d’activité.</a:t>
            </a:r>
          </a:p>
        </p:txBody>
      </p:sp>
      <p:sp>
        <p:nvSpPr>
          <p:cNvPr id="207" name="Icon bg 2"/>
          <p:cNvSpPr/>
          <p:nvPr/>
        </p:nvSpPr>
        <p:spPr>
          <a:xfrm>
            <a:off x="3429000" y="3327400"/>
            <a:ext cx="558800" cy="558800"/>
          </a:xfrm>
          <a:prstGeom prst="ellipse">
            <a:avLst/>
          </a:prstGeom>
          <a:solidFill>
            <a:srgbClr val="F3EF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8" name="Shape"/>
          <p:cNvSpPr/>
          <p:nvPr/>
        </p:nvSpPr>
        <p:spPr>
          <a:xfrm>
            <a:off x="3429000" y="4038600"/>
            <a:ext cx="406400" cy="381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9" name="Text"/>
          <p:cNvSpPr txBox="1"/>
          <p:nvPr/>
        </p:nvSpPr>
        <p:spPr>
          <a:xfrm>
            <a:off x="3429000" y="4165600"/>
            <a:ext cx="25400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fr-FR" sz="1600" b="1" dirty="0">
                <a:solidFill>
                  <a:srgbClr val="002250"/>
                </a:solidFill>
              </a:rPr>
              <a:t>Communication sur mesure</a:t>
            </a:r>
          </a:p>
        </p:txBody>
      </p:sp>
      <p:sp>
        <p:nvSpPr>
          <p:cNvPr id="210" name="Text"/>
          <p:cNvSpPr txBox="1"/>
          <p:nvPr/>
        </p:nvSpPr>
        <p:spPr>
          <a:xfrm>
            <a:off x="3429000" y="4800600"/>
            <a:ext cx="24892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fr-FR" sz="1400" b="0" dirty="0">
                <a:solidFill>
                  <a:srgbClr val="2E3E5C"/>
                </a:solidFill>
              </a:rPr>
              <a:t>Un plan construit sur vos objectifs, pas un forfait.</a:t>
            </a:r>
          </a:p>
        </p:txBody>
      </p:sp>
      <p:cxnSp>
        <p:nvCxnSpPr>
          <p:cNvPr id="211" name="Line"/>
          <p:cNvCxnSpPr/>
          <p:nvPr/>
        </p:nvCxnSpPr>
        <p:spPr>
          <a:xfrm>
            <a:off x="3276600" y="3327400"/>
            <a:ext cx="0" cy="2489200"/>
          </a:xfrm>
          <a:prstGeom prst="line">
            <a:avLst/>
          </a:prstGeom>
          <a:ln w="9525">
            <a:solidFill>
              <a:srgbClr val="D9DCE3"/>
            </a:solidFill>
          </a:ln>
        </p:spPr>
      </p:cxnSp>
      <p:sp>
        <p:nvSpPr>
          <p:cNvPr id="212" name="Icon bg 3"/>
          <p:cNvSpPr/>
          <p:nvPr/>
        </p:nvSpPr>
        <p:spPr>
          <a:xfrm>
            <a:off x="6248400" y="3327400"/>
            <a:ext cx="558800" cy="558800"/>
          </a:xfrm>
          <a:prstGeom prst="ellipse">
            <a:avLst/>
          </a:prstGeom>
          <a:solidFill>
            <a:srgbClr val="F3EF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3" name="Shape"/>
          <p:cNvSpPr/>
          <p:nvPr/>
        </p:nvSpPr>
        <p:spPr>
          <a:xfrm>
            <a:off x="6248400" y="4038600"/>
            <a:ext cx="406400" cy="381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4" name="Text"/>
          <p:cNvSpPr txBox="1"/>
          <p:nvPr/>
        </p:nvSpPr>
        <p:spPr>
          <a:xfrm>
            <a:off x="6248400" y="4165600"/>
            <a:ext cx="25400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fr-FR" sz="1600" b="1" dirty="0">
                <a:solidFill>
                  <a:srgbClr val="002250"/>
                </a:solidFill>
              </a:rPr>
              <a:t>Flexibilité et réactivité</a:t>
            </a:r>
          </a:p>
        </p:txBody>
      </p:sp>
      <p:sp>
        <p:nvSpPr>
          <p:cNvPr id="215" name="Text"/>
          <p:cNvSpPr txBox="1"/>
          <p:nvPr/>
        </p:nvSpPr>
        <p:spPr>
          <a:xfrm>
            <a:off x="6248400" y="4800600"/>
            <a:ext cx="24892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fr-FR" sz="1400" b="0" dirty="0">
                <a:solidFill>
                  <a:srgbClr val="2E3E5C"/>
                </a:solidFill>
              </a:rPr>
              <a:t>Réponse sous 24 h, campagnes ajustées chaque semaine.</a:t>
            </a:r>
          </a:p>
        </p:txBody>
      </p:sp>
      <p:cxnSp>
        <p:nvCxnSpPr>
          <p:cNvPr id="216" name="Line"/>
          <p:cNvCxnSpPr/>
          <p:nvPr/>
        </p:nvCxnSpPr>
        <p:spPr>
          <a:xfrm>
            <a:off x="6096000" y="3327400"/>
            <a:ext cx="0" cy="2489200"/>
          </a:xfrm>
          <a:prstGeom prst="line">
            <a:avLst/>
          </a:prstGeom>
          <a:ln w="9525">
            <a:solidFill>
              <a:srgbClr val="D9DCE3"/>
            </a:solidFill>
          </a:ln>
        </p:spPr>
      </p:cxnSp>
      <p:sp>
        <p:nvSpPr>
          <p:cNvPr id="217" name="Icon bg 4"/>
          <p:cNvSpPr/>
          <p:nvPr/>
        </p:nvSpPr>
        <p:spPr>
          <a:xfrm>
            <a:off x="9067800" y="3327400"/>
            <a:ext cx="558800" cy="558800"/>
          </a:xfrm>
          <a:prstGeom prst="ellipse">
            <a:avLst/>
          </a:prstGeom>
          <a:solidFill>
            <a:srgbClr val="F3EFE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8" name="Shape"/>
          <p:cNvSpPr/>
          <p:nvPr/>
        </p:nvSpPr>
        <p:spPr>
          <a:xfrm>
            <a:off x="9067800" y="4038600"/>
            <a:ext cx="406400" cy="381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9" name="Text"/>
          <p:cNvSpPr txBox="1"/>
          <p:nvPr/>
        </p:nvSpPr>
        <p:spPr>
          <a:xfrm>
            <a:off x="9067800" y="4165600"/>
            <a:ext cx="254000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fr-FR" sz="1600" b="1" dirty="0">
                <a:solidFill>
                  <a:srgbClr val="002250"/>
                </a:solidFill>
              </a:rPr>
              <a:t>Suivi et satisfaction</a:t>
            </a:r>
          </a:p>
        </p:txBody>
      </p:sp>
      <p:sp>
        <p:nvSpPr>
          <p:cNvPr id="220" name="Text"/>
          <p:cNvSpPr txBox="1"/>
          <p:nvPr/>
        </p:nvSpPr>
        <p:spPr>
          <a:xfrm>
            <a:off x="9067800" y="4800600"/>
            <a:ext cx="24892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</a:pPr>
            <a:r>
              <a:rPr lang="fr-FR" sz="1400" b="0" dirty="0">
                <a:solidFill>
                  <a:srgbClr val="2E3E5C"/>
                </a:solidFill>
              </a:rPr>
              <a:t>Tableau de bord mensuel, note client de 4,7 / 5.</a:t>
            </a:r>
          </a:p>
        </p:txBody>
      </p:sp>
      <p:cxnSp>
        <p:nvCxnSpPr>
          <p:cNvPr id="221" name="Line"/>
          <p:cNvCxnSpPr/>
          <p:nvPr/>
        </p:nvCxnSpPr>
        <p:spPr>
          <a:xfrm>
            <a:off x="8915400" y="3327400"/>
            <a:ext cx="0" cy="2489200"/>
          </a:xfrm>
          <a:prstGeom prst="line">
            <a:avLst/>
          </a:prstGeom>
          <a:ln w="9525">
            <a:solidFill>
              <a:srgbClr val="D9DCE3"/>
            </a:solidFill>
          </a:ln>
        </p:spPr>
      </p:cxnSp>
      <p:sp>
        <p:nvSpPr>
          <p:cNvPr id="222" name="Text"/>
          <p:cNvSpPr txBox="1"/>
          <p:nvPr/>
        </p:nvSpPr>
        <p:spPr>
          <a:xfrm>
            <a:off x="609600" y="5994400"/>
            <a:ext cx="7620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000" b="0" dirty="0">
                <a:solidFill>
                  <a:srgbClr val="5B6B8C"/>
                </a:solidFill>
              </a:rPr>
              <a:t>Données illustratives. Source : enquête de satisfaction Agence Borcelle, septembre 2026.</a:t>
            </a:r>
          </a:p>
        </p:txBody>
      </p:sp>
      <p:sp>
        <p:nvSpPr>
          <p:cNvPr id="223" name="Section tracker"/>
          <p:cNvSpPr txBox="1"/>
          <p:nvPr/>
        </p:nvSpPr>
        <p:spPr>
          <a:xfrm>
            <a:off x="609600" y="6299200"/>
            <a:ext cx="6350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fr-FR" sz="1000" b="1" dirty="0">
                <a:solidFill>
                  <a:srgbClr val="B38C77"/>
                </a:solidFill>
              </a:rPr>
              <a:t>05  </a:t>
            </a:r>
            <a:r>
              <a:rPr lang="fr-FR" sz="1000" b="1" cap="all" spc="100" dirty="0">
                <a:solidFill>
                  <a:srgbClr val="5B6B8C"/>
                </a:solidFill>
              </a:rPr>
              <a:t>Pourquoi nous choisir</a:t>
            </a:r>
          </a:p>
        </p:txBody>
      </p:sp>
      <p:sp>
        <p:nvSpPr>
          <p:cNvPr id="22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fr-FR"/>
              <a:t>12</a:t>
            </a:fld>
            <a:endParaRPr lang="fr-FR"/>
          </a:p>
        </p:txBody>
      </p:sp>
      <p:pic>
        <p:nvPicPr>
          <p:cNvPr id="225" name="Graphic 225" descr="Experti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900" y="3441700"/>
            <a:ext cx="330200" cy="330200"/>
          </a:xfrm>
          <a:prstGeom prst="rect">
            <a:avLst/>
          </a:prstGeom>
        </p:spPr>
      </p:pic>
      <p:pic>
        <p:nvPicPr>
          <p:cNvPr id="226" name="Graphic 226" descr="Sur mesu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3300" y="3441700"/>
            <a:ext cx="330200" cy="330200"/>
          </a:xfrm>
          <a:prstGeom prst="rect">
            <a:avLst/>
          </a:prstGeom>
        </p:spPr>
      </p:pic>
      <p:pic>
        <p:nvPicPr>
          <p:cNvPr id="227" name="Graphic 227" descr="Réactivité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2700" y="3441700"/>
            <a:ext cx="330200" cy="330200"/>
          </a:xfrm>
          <a:prstGeom prst="rect">
            <a:avLst/>
          </a:prstGeom>
        </p:spPr>
      </p:pic>
      <p:pic>
        <p:nvPicPr>
          <p:cNvPr id="228" name="Graphic 228" descr="Suiv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82100" y="3441700"/>
            <a:ext cx="3302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132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Photo" descr="L’équipe Borcelle"/>
          <p:cNvPicPr>
            <a:picLocks noChangeAspect="1"/>
          </p:cNvPicPr>
          <p:nvPr/>
        </p:nvPicPr>
        <p:blipFill>
          <a:blip r:embed="rId2"/>
          <a:srcRect l="20572" r="16831"/>
          <a:stretch>
            <a:fillRect/>
          </a:stretch>
        </p:blipFill>
        <p:spPr>
          <a:xfrm>
            <a:off x="0" y="0"/>
            <a:ext cx="10820400" cy="6858000"/>
          </a:xfrm>
          <a:prstGeom prst="rect">
            <a:avLst/>
          </a:prstGeom>
        </p:spPr>
      </p:pic>
      <p:sp>
        <p:nvSpPr>
          <p:cNvPr id="201" name="Shape"/>
          <p:cNvSpPr/>
          <p:nvPr/>
        </p:nvSpPr>
        <p:spPr>
          <a:xfrm>
            <a:off x="0" y="0"/>
            <a:ext cx="10820400" cy="6858000"/>
          </a:xfrm>
          <a:prstGeom prst="rect">
            <a:avLst/>
          </a:prstGeom>
          <a:solidFill>
            <a:srgbClr val="001A3D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2" name="Closing block"/>
          <p:cNvSpPr/>
          <p:nvPr/>
        </p:nvSpPr>
        <p:spPr>
          <a:xfrm>
            <a:off x="0" y="1905000"/>
            <a:ext cx="7112000" cy="3149600"/>
          </a:xfrm>
          <a:prstGeom prst="rect">
            <a:avLst/>
          </a:prstGeom>
          <a:solidFill>
            <a:srgbClr val="002250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3" name="Shape"/>
          <p:cNvSpPr/>
          <p:nvPr/>
        </p:nvSpPr>
        <p:spPr>
          <a:xfrm>
            <a:off x="7112000" y="1905000"/>
            <a:ext cx="127000" cy="31496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4" name="Side band"/>
          <p:cNvSpPr/>
          <p:nvPr/>
        </p:nvSpPr>
        <p:spPr>
          <a:xfrm>
            <a:off x="10820400" y="0"/>
            <a:ext cx="1371600" cy="6858000"/>
          </a:xfrm>
          <a:prstGeom prst="rect">
            <a:avLst/>
          </a:prstGeom>
          <a:solidFill>
            <a:srgbClr val="B38C77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05" name="Shape"/>
          <p:cNvSpPr/>
          <p:nvPr/>
        </p:nvSpPr>
        <p:spPr>
          <a:xfrm>
            <a:off x="11226800" y="431800"/>
            <a:ext cx="558800" cy="558800"/>
          </a:xfrm>
          <a:prstGeom prst="ellipse">
            <a:avLst/>
          </a:prstGeom>
          <a:noFill/>
          <a:ln w="19050">
            <a:solidFill>
              <a:srgbClr val="002250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fr-FR" sz="1800" b="1" dirty="0">
                <a:solidFill>
                  <a:srgbClr val="002250"/>
                </a:solidFill>
              </a:rPr>
              <a:t>B</a:t>
            </a:r>
          </a:p>
        </p:txBody>
      </p:sp>
      <p:cxnSp>
        <p:nvCxnSpPr>
          <p:cNvPr id="206" name="Line"/>
          <p:cNvCxnSpPr/>
          <p:nvPr/>
        </p:nvCxnSpPr>
        <p:spPr>
          <a:xfrm>
            <a:off x="11506200" y="1219200"/>
            <a:ext cx="0" cy="1905000"/>
          </a:xfrm>
          <a:prstGeom prst="line">
            <a:avLst/>
          </a:prstGeom>
          <a:ln w="12700">
            <a:solidFill>
              <a:srgbClr val="002250"/>
            </a:solidFill>
          </a:ln>
        </p:spPr>
      </p:cxnSp>
      <p:sp>
        <p:nvSpPr>
          <p:cNvPr id="207" name="Text"/>
          <p:cNvSpPr txBox="1"/>
          <p:nvPr/>
        </p:nvSpPr>
        <p:spPr>
          <a:xfrm>
            <a:off x="11023600" y="5969000"/>
            <a:ext cx="1016000" cy="50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fr-FR" sz="900" b="1" spc="200" dirty="0">
                <a:solidFill>
                  <a:srgbClr val="002250"/>
                </a:solidFill>
              </a:rPr>
              <a:t>AGENCE</a:t>
            </a:r>
          </a:p>
          <a:p>
            <a:pPr algn="ctr">
              <a:buNone/>
            </a:pPr>
            <a:r>
              <a:rPr lang="fr-FR" sz="900" b="1" spc="200" dirty="0">
                <a:solidFill>
                  <a:srgbClr val="002250"/>
                </a:solidFill>
              </a:rPr>
              <a:t>BORCELLE</a:t>
            </a:r>
          </a:p>
        </p:txBody>
      </p:sp>
      <p:sp>
        <p:nvSpPr>
          <p:cNvPr id="208" name="Text"/>
          <p:cNvSpPr txBox="1"/>
          <p:nvPr/>
        </p:nvSpPr>
        <p:spPr>
          <a:xfrm>
            <a:off x="609600" y="2133600"/>
            <a:ext cx="6096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fr-FR" sz="1000" b="1" spc="200" dirty="0">
                <a:solidFill>
                  <a:srgbClr val="B38C77"/>
                </a:solidFill>
              </a:rPr>
              <a:t>PROCHAINE ÉTAPE</a:t>
            </a:r>
          </a:p>
        </p:txBody>
      </p:sp>
      <p:sp>
        <p:nvSpPr>
          <p:cNvPr id="209" name="Text"/>
          <p:cNvSpPr txBox="1"/>
          <p:nvPr/>
        </p:nvSpPr>
        <p:spPr>
          <a:xfrm>
            <a:off x="609600" y="3759200"/>
            <a:ext cx="6096000" cy="812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fr-FR" sz="1500" b="0" dirty="0">
                <a:solidFill>
                  <a:srgbClr val="FFFFFF"/>
                </a:solidFill>
              </a:rPr>
              <a:t>Un atelier découverte de 2 h, offert : nous fixons ensemble vos objectifs chiffrés pour les 12 prochains mois.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660588C-C7E4-FE1A-AB84-833D69B3C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2387600"/>
            <a:ext cx="6350000" cy="1092200"/>
          </a:xfrm>
        </p:spPr>
        <p:txBody>
          <a:bodyPr/>
          <a:lstStyle/>
          <a:p>
            <a:r>
              <a:rPr lang="fr-FR" sz="3200" dirty="0"/>
              <a:t>Parlons de votre prochain projet.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44A86F3-DA11-342C-3A8B-9E7838025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4546600"/>
            <a:ext cx="6350000" cy="304800"/>
          </a:xfrm>
        </p:spPr>
        <p:txBody>
          <a:bodyPr/>
          <a:lstStyle/>
          <a:p>
            <a:pPr algn="l">
              <a:buNone/>
            </a:pPr>
            <a:r>
              <a:rPr lang="fr-FR" sz="1200" b="0" spc="50" dirty="0">
                <a:solidFill>
                  <a:srgbClr val="FFFFFF"/>
                </a:solidFill>
              </a:rPr>
              <a:t>contact@borcelle.fr  ·  04 72 00 00 00</a:t>
            </a:r>
          </a:p>
        </p:txBody>
      </p:sp>
    </p:spTree>
    <p:extLst>
      <p:ext uri="{BB962C8B-B14F-4D97-AF65-F5344CB8AC3E}">
        <p14:creationId xmlns:p14="http://schemas.microsoft.com/office/powerpoint/2010/main" val="353274982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 [1793025988079]">
  <a:themeElements>
    <a:clrScheme name="Borcelle">
      <a:dk1>
        <a:srgbClr val="002250"/>
      </a:dk1>
      <a:lt1>
        <a:srgbClr val="FFFFFF"/>
      </a:lt1>
      <a:dk2>
        <a:srgbClr val="233061"/>
      </a:dk2>
      <a:lt2>
        <a:srgbClr val="F3EFEB"/>
      </a:lt2>
      <a:accent1>
        <a:srgbClr val="B38C77"/>
      </a:accent1>
      <a:accent2>
        <a:srgbClr val="002250"/>
      </a:accent2>
      <a:accent3>
        <a:srgbClr val="838BA1"/>
      </a:accent3>
      <a:accent4>
        <a:srgbClr val="D9C7BB"/>
      </a:accent4>
      <a:accent5>
        <a:srgbClr val="5B6B8C"/>
      </a:accent5>
      <a:accent6>
        <a:srgbClr val="C9CED8"/>
      </a:accent6>
      <a:hlink>
        <a:srgbClr val="002250"/>
      </a:hlink>
      <a:folHlink>
        <a:srgbClr val="838BA1"/>
      </a:folHlink>
    </a:clrScheme>
    <a:fontScheme name="Borcell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 [1793025988079]">
  <a:themeElements>
    <a:clrScheme name="Borcelle">
      <a:dk1>
        <a:srgbClr val="002250"/>
      </a:dk1>
      <a:lt1>
        <a:srgbClr val="FFFFFF"/>
      </a:lt1>
      <a:dk2>
        <a:srgbClr val="233061"/>
      </a:dk2>
      <a:lt2>
        <a:srgbClr val="F3EFEB"/>
      </a:lt2>
      <a:accent1>
        <a:srgbClr val="B38C77"/>
      </a:accent1>
      <a:accent2>
        <a:srgbClr val="002250"/>
      </a:accent2>
      <a:accent3>
        <a:srgbClr val="5B6B8C"/>
      </a:accent3>
      <a:accent4>
        <a:srgbClr val="D9C7BB"/>
      </a:accent4>
      <a:accent5>
        <a:srgbClr val="5B6B8C"/>
      </a:accent5>
      <a:accent6>
        <a:srgbClr val="C9CED8"/>
      </a:accent6>
      <a:hlink>
        <a:srgbClr val="002250"/>
      </a:hlink>
      <a:folHlink>
        <a:srgbClr val="5B6B8C"/>
      </a:folHlink>
    </a:clrScheme>
    <a:fontScheme name="Borcell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hème Office [1793026233604]">
  <a:themeElements>
    <a:clrScheme name="Borcelle">
      <a:dk1>
        <a:srgbClr val="002250"/>
      </a:dk1>
      <a:lt1>
        <a:srgbClr val="FFFFFF"/>
      </a:lt1>
      <a:dk2>
        <a:srgbClr val="233061"/>
      </a:dk2>
      <a:lt2>
        <a:srgbClr val="F3EFEB"/>
      </a:lt2>
      <a:accent1>
        <a:srgbClr val="B38C77"/>
      </a:accent1>
      <a:accent2>
        <a:srgbClr val="002250"/>
      </a:accent2>
      <a:accent3>
        <a:srgbClr val="838BA1"/>
      </a:accent3>
      <a:accent4>
        <a:srgbClr val="D9C7BB"/>
      </a:accent4>
      <a:accent5>
        <a:srgbClr val="5B6B8C"/>
      </a:accent5>
      <a:accent6>
        <a:srgbClr val="C9CED8"/>
      </a:accent6>
      <a:hlink>
        <a:srgbClr val="002250"/>
      </a:hlink>
      <a:folHlink>
        <a:srgbClr val="838BA1"/>
      </a:folHlink>
    </a:clrScheme>
    <a:fontScheme name="Borcell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DCBCFB7-62F2-4FA2-B11D-F313810AC818}">
  <we:reference id="WA200010001" version="1.0.0.1" store="fr-fr" storeType="omex"/>
  <we:alternateReferences>
    <we:reference id="WA200010001" version="1.0.0.1" store="omex" storeType="omex"/>
  </we:alternateReferences>
  <we:properties>
    <we:property name="claude.fileId" value="&quot;80dd3df3-fa36-40ad-97c2-f8edabf26f2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4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Thème Office</vt:lpstr>
      <vt:lpstr>Thème Office [1793025988079]</vt:lpstr>
      <vt:lpstr>Thème Office [1793025988079]</vt:lpstr>
      <vt:lpstr>Thème Office [1793026233604]</vt:lpstr>
      <vt:lpstr>Faire grandir les marques qui le méritent.</vt:lpstr>
      <vt:lpstr>Sommaire</vt:lpstr>
      <vt:lpstr>Qui nous sommes.</vt:lpstr>
      <vt:lpstr>Depuis 2014, nous faisons grandir les PME de la région lyonnaise</vt:lpstr>
      <vt:lpstr>Nos services.</vt:lpstr>
      <vt:lpstr>Quatre expertises couvrent toute la chaîne, de la stratégie au suivi</vt:lpstr>
      <vt:lpstr>Notre équipe.</vt:lpstr>
      <vt:lpstr>Trois pôles, 24 experts et un référent unique par client</vt:lpstr>
      <vt:lpstr>Nos projets.</vt:lpstr>
      <vt:lpstr>Quatre projets récents, quatre résultats obtenus en moins d’un an</vt:lpstr>
      <vt:lpstr>Pourquoi nous choisir.</vt:lpstr>
      <vt:lpstr>Neuf clients sur dix renouvellent après un an, pour quatre raisons</vt:lpstr>
      <vt:lpstr>Parlons de votre prochain projet.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128</cp:revision>
  <dcterms:created xsi:type="dcterms:W3CDTF">2026-10-26T13:37:42Z</dcterms:created>
  <dcterms:modified xsi:type="dcterms:W3CDTF">2026-10-26T15:32:18Z</dcterms:modified>
</cp:coreProperties>
</file>